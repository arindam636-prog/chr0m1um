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a6b25f9ec84aef" /><Relationship Type="http://schemas.openxmlformats.org/officeDocument/2006/relationships/extended-properties" Target="/docProps/app.xml" Id="R75810ff2590f44dc" /><Relationship Type="http://schemas.openxmlformats.org/officeDocument/2006/relationships/officeDocument" Target="/ppt/presentation.xml" Id="R5ab2c30d19b24fb0"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75d1033755c249f6"/>
    <p:sldMasterId xmlns:r="http://schemas.openxmlformats.org/officeDocument/2006/relationships" id="2147483660" r:id="R6c8ba7cc246f4d57"/>
  </p:sldMasterIdLst>
  <p:notesMasterIdLst>
    <p:notesMasterId xmlns:r="http://schemas.openxmlformats.org/officeDocument/2006/relationships" r:id="R666346bc97664382"/>
  </p:notesMasterIdLst>
  <p:sldIdLst>
    <p:sldId xmlns:r="http://schemas.openxmlformats.org/officeDocument/2006/relationships" id="256" r:id="R902d021518554f06"/>
    <p:sldId xmlns:r="http://schemas.openxmlformats.org/officeDocument/2006/relationships" id="257" r:id="R6a2d0fae245e46b5"/>
    <p:sldId xmlns:r="http://schemas.openxmlformats.org/officeDocument/2006/relationships" id="258" r:id="Rb2fad498cbfd4bc4"/>
    <p:sldId xmlns:r="http://schemas.openxmlformats.org/officeDocument/2006/relationships" id="259" r:id="R2b92a05ac04c4d0b"/>
    <p:sldId xmlns:r="http://schemas.openxmlformats.org/officeDocument/2006/relationships" id="260" r:id="R8b4a35e8af7e4739"/>
    <p:sldId xmlns:r="http://schemas.openxmlformats.org/officeDocument/2006/relationships" id="261" r:id="Rf9e884280cb84808"/>
  </p:sldIdLst>
  <p:sldSz cx="9144000" cy="5143500"/>
  <p:notesSz cx="6858000" cy="9144000"/>
  <p:embeddedFontLst>
    <p:embeddedFont>
      <p:font typeface="Arial Narrow"/>
      <p:regular xmlns:r="http://schemas.openxmlformats.org/officeDocument/2006/relationships" r:id="R5913bd8e24ea451b"/>
      <p:bold xmlns:r="http://schemas.openxmlformats.org/officeDocument/2006/relationships" r:id="R8f406c944ca94871"/>
      <p:italic xmlns:r="http://schemas.openxmlformats.org/officeDocument/2006/relationships" r:id="R4fde486a30fc4b19"/>
      <p:boldItalic xmlns:r="http://schemas.openxmlformats.org/officeDocument/2006/relationships" r:id="R52e7be5efbfd4508"/>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0b7ee6d350f0463b" /><Relationship Type="http://schemas.openxmlformats.org/officeDocument/2006/relationships/slideMaster" Target="/ppt/slideMasters/slideMaster1.xml" Id="R75d1033755c249f6" /><Relationship Type="http://schemas.openxmlformats.org/officeDocument/2006/relationships/slideMaster" Target="/ppt/slideMasters/slideMaster2.xml" Id="R6c8ba7cc246f4d57" /><Relationship Type="http://schemas.openxmlformats.org/officeDocument/2006/relationships/notesMaster" Target="/ppt/notesMasters/notesMaster1.xml" Id="R666346bc97664382" /><Relationship Type="http://schemas.openxmlformats.org/officeDocument/2006/relationships/presProps" Target="/ppt/presProps.xml" Id="R0ccaef130a424c84" /><Relationship Type="http://schemas.openxmlformats.org/officeDocument/2006/relationships/viewProps" Target="/ppt/viewProps.xml" Id="R66ef6a19916e431b" /><Relationship Type="http://schemas.openxmlformats.org/officeDocument/2006/relationships/tableStyles" Target="/ppt/tableStyles.xml" Id="R27957c546f114d9c" /><Relationship Type="http://schemas.openxmlformats.org/officeDocument/2006/relationships/font" Target="/ppt/fonts/font.dat" Id="R5913bd8e24ea451b" /><Relationship Type="http://schemas.openxmlformats.org/officeDocument/2006/relationships/font" Target="/ppt/fonts/font2.dat" Id="R8f406c944ca94871" /><Relationship Type="http://schemas.openxmlformats.org/officeDocument/2006/relationships/font" Target="/ppt/fonts/font3.dat" Id="R4fde486a30fc4b19" /><Relationship Type="http://schemas.openxmlformats.org/officeDocument/2006/relationships/font" Target="/ppt/fonts/font4.dat" Id="R52e7be5efbfd4508" /><Relationship Type="http://schemas.openxmlformats.org/officeDocument/2006/relationships/slide" Target="/ppt/slides/slide1.xml" Id="R902d021518554f06" /><Relationship Type="http://schemas.openxmlformats.org/officeDocument/2006/relationships/slide" Target="/ppt/slides/slide2.xml" Id="R6a2d0fae245e46b5" /><Relationship Type="http://schemas.openxmlformats.org/officeDocument/2006/relationships/slide" Target="/ppt/slides/slide3.xml" Id="Rb2fad498cbfd4bc4" /><Relationship Type="http://schemas.openxmlformats.org/officeDocument/2006/relationships/slide" Target="/ppt/slides/slide4.xml" Id="R2b92a05ac04c4d0b" /><Relationship Type="http://schemas.openxmlformats.org/officeDocument/2006/relationships/slide" Target="/ppt/slides/slide5.xml" Id="R8b4a35e8af7e4739" /><Relationship Type="http://schemas.openxmlformats.org/officeDocument/2006/relationships/slide" Target="/ppt/slides/slide6.xml" Id="Rf9e884280cb848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6fd205db2eeb4d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59b5453ce24bd5" /><Relationship Type="http://schemas.openxmlformats.org/officeDocument/2006/relationships/notesMaster" Target="/ppt/notesMasters/notesMaster1.xml" Id="R19706e71fe9344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f18f3977644da4" /><Relationship Type="http://schemas.openxmlformats.org/officeDocument/2006/relationships/notesMaster" Target="/ppt/notesMasters/notesMaster1.xml" Id="R28fec820dfc949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a7190e7f9f457a" /><Relationship Type="http://schemas.openxmlformats.org/officeDocument/2006/relationships/notesMaster" Target="/ppt/notesMasters/notesMaster1.xml" Id="R0a5544e0d82048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fc1ab07d974b28" /><Relationship Type="http://schemas.openxmlformats.org/officeDocument/2006/relationships/notesMaster" Target="/ppt/notesMasters/notesMaster1.xml" Id="R5a061a3fcc5d45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ff4e4e873f4424" /><Relationship Type="http://schemas.openxmlformats.org/officeDocument/2006/relationships/notesMaster" Target="/ppt/notesMasters/notesMaster1.xml" Id="Rd2c6eca396254e4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07b7c2b7b3486e" /><Relationship Type="http://schemas.openxmlformats.org/officeDocument/2006/relationships/notesMaster" Target="/ppt/notesMasters/notesMaster1.xml" Id="R8891ab0630b746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Opening: Browser agents are useful only when users can trust what leaves their device.</a:t>
            </a:r>
            <a:endParaRPr/>
          </a:p>
          <a:p xmlns:a="http://schemas.openxmlformats.org/drawingml/2006/main">
            <a:pPr marL="0" lvl="0" indent="0" algn="l">
              <a:spcBef>
                <a:spcPts val="0"/>
              </a:spcBef>
              <a:spcAft>
                <a:spcPts val="0"/>
              </a:spcAft>
              <a:buNone/>
            </a:pPr>
            <a:r>
              <a:rPr sz="1200"/>
              <a:t>Introduce </a:t>
            </a:r>
            <a:r>
              <a:rPr sz="1200"/>
              <a:t>ContextShield</a:t>
            </a:r>
            <a:r>
              <a:rPr sz="1200"/>
              <a:t> as a privacy-preserving browser agent boundary built by Chr0m1um.</a:t>
            </a:r>
            <a:endParaRPr/>
          </a:p>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ContextShield combines on-device visual processing with a checked execution boundary. The first boundary limits what the planner receives. The second controls when private values may enter a webpage. The native table is an illustrative synthetic example derived from the current schema and demo profile, not a captured network request. Opaque handles are abbreviated; the local demo profile uses traveller@example.test. A handle does not grant authority to read the underlying value. The protected fill requires extension-UI consent scoped to the current destination, field, action and page. Approved webpages can read or transmit inserted data. These design claims do not establish complete privacy coverage or universal prompt-injection prevention.</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Contribution: integrating local visual/privacy processing with the same private-value release gate for model and local-controller proposals, plus separately verifiable event integrity. Comparative superiority over simpler agents remains to be measured.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rPr sz="1200"/>
              <a:t>Implementation evidence: https://github.com/Arindam636-prog/chr0m1um/blob/main/docs/RAILWAY-VALIDATION.md</a:t>
            </a:r>
            <a:endParaRPr/>
          </a:p>
          <a:p xmlns:a="http://schemas.openxmlformats.org/drawingml/2006/main">
            <a:pPr marL="0" lvl="0" indent="0" algn="l">
              <a:spcBef>
                <a:spcPts val="0"/>
              </a:spcBef>
              <a:spcAft>
                <a:spcPts val="0"/>
              </a:spcAft>
              <a:buNone/>
            </a:pPr>
            <a:r>
              <a:rPr sz="1200"/>
              <a:t>Demo scope: https://github.com/Arindam636-prog/chr0m1um/blob/main/docs/RAILWAY-DEMO.md</a:t>
            </a:r>
            <a:endParaRPr/>
          </a:p>
          <a:p xmlns:a="http://schemas.openxmlformats.org/drawingml/2006/main">
            <a:pPr marL="0" lvl="0" indent="0" algn="l">
              <a:spcBef>
                <a:spcPts val="0"/>
              </a:spcBef>
              <a:spcAft>
                <a:spcPts val="0"/>
              </a:spcAft>
              <a:buNone/>
            </a:pPr>
            <a:r>
              <a:rPr sz="1200"/>
              <a:t>Validation date: 18 September 2026.</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[5] Edoardo Debenedetti, Jie Zhang, Mislav Balunović, Luca Beurer-Kellner, Marc Fischer and Florian Tramèr. AgentDojo: A Dynamic Environment to Evaluate Prompt Injection Attacks and Defenses for LLM Agents. NeurIPS 2024, Datasets and Benchmarks Track. DOI:10.52202/079017-2636.</a:t>
            </a:r>
            <a:endParaRPr/>
          </a:p>
          <a:p xmlns:a="http://schemas.openxmlformats.org/drawingml/2006/main">
            <a:pPr marL="0" lvl="0" indent="0" algn="l">
              <a:spcBef>
                <a:spcPts val="0"/>
              </a:spcBef>
              <a:spcAft>
                <a:spcPts val="0"/>
              </a:spcAft>
              <a:buNone/>
            </a:pPr>
            <a:r>
              <a:rPr sz="1200"/>
              <a:t>https://proceedings.neurips.cc/paper_files/paper/2024/hash/97091a5177d8dc64b1da8bf3e1f6fb54-Abstract-Datasets_and_Benchmarks_Track.html</a:t>
            </a:r>
            <a:endParaRPr/>
          </a:p>
          <a:p xmlns:a="http://schemas.openxmlformats.org/drawingml/2006/main">
            <a:pPr marL="0" lvl="0" indent="0" algn="l">
              <a:spcBef>
                <a:spcPts val="0"/>
              </a:spcBef>
              <a:spcAft>
                <a:spcPts val="0"/>
              </a:spcAft>
              <a:buNone/>
            </a:pPr>
            <a:r>
              <a:rPr sz="1200"/>
              <a:t>Scope: Published evidence that untrusted tool output can redirect tool-using agents and that utility and security need joint evaluation. ContextShield has not run AgentDojo.</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[6] Qiusi Zhan, Zhixiang Liang, Zifan Ying and Daniel Kang. InjecAgent: Benchmarking Indirect Prompt Injections in Tool-Integrated Large Language Model Agents. Findings of ACL 2024, pp. 10471–10506. DOI:10.18653/v1/2024.findings-acl.624.</a:t>
            </a:r>
            <a:endParaRPr/>
          </a:p>
          <a:p xmlns:a="http://schemas.openxmlformats.org/drawingml/2006/main">
            <a:pPr marL="0" lvl="0" indent="0" algn="l">
              <a:spcBef>
                <a:spcPts val="0"/>
              </a:spcBef>
              <a:spcAft>
                <a:spcPts val="0"/>
              </a:spcAft>
              <a:buNone/>
            </a:pPr>
            <a:r>
              <a:rPr sz="1200"/>
              <a:t>https://aclanthology.org/2024.findings-acl.624/</a:t>
            </a:r>
            <a:endParaRPr/>
          </a:p>
          <a:p xmlns:a="http://schemas.openxmlformats.org/drawingml/2006/main">
            <a:pPr marL="0" lvl="0" indent="0" algn="l">
              <a:spcBef>
                <a:spcPts val="0"/>
              </a:spcBef>
              <a:spcAft>
                <a:spcPts val="0"/>
              </a:spcAft>
              <a:buNone/>
            </a:pPr>
            <a:r>
              <a:rPr sz="1200"/>
              <a:t>Scope: Supports the indirect-injection and exfiltration threat model. Its published attack results must not be represented as ContextShield results. ContextShield has not run InjecAgent.</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[7] Jerome H. Saltzer and Michael D. Schroeder. The Protection of Information in Computer Systems. Proceedings of the IEEE 63(9), pp. 1278–1308, 1975. DOI:10.1109/PROC.1975.9939.</a:t>
            </a:r>
            <a:endParaRPr/>
          </a:p>
          <a:p xmlns:a="http://schemas.openxmlformats.org/drawingml/2006/main">
            <a:pPr marL="0" lvl="0" indent="0" algn="l">
              <a:spcBef>
                <a:spcPts val="0"/>
              </a:spcBef>
              <a:spcAft>
                <a:spcPts val="0"/>
              </a:spcAft>
              <a:buNone/>
            </a:pPr>
            <a:r>
              <a:rPr sz="1200"/>
              <a:t>https://www.mit.edu/~Saltzer/publications/protection/index.html</a:t>
            </a:r>
            <a:endParaRPr/>
          </a:p>
          <a:p xmlns:a="http://schemas.openxmlformats.org/drawingml/2006/main">
            <a:pPr marL="0" lvl="0" indent="0" algn="l">
              <a:spcBef>
                <a:spcPts val="0"/>
              </a:spcBef>
              <a:spcAft>
                <a:spcPts val="0"/>
              </a:spcAft>
              <a:buNone/>
            </a:pPr>
            <a:r>
              <a:rPr sz="1200"/>
              <a:t>Scope: Foundational principles include fail-safe defaults, complete mediation and least privilege. The mapping to our one-use private-fill gate is our engineering interpretation, not a formal security proof from this paper.</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[8] Bruce Schneier and John Kelsey. Secure Audit Logs to Support Computer Forensics. ACM Transactions on Information and System Security, 1999. Author-hosted paper: https://www.schneier.com/wp-content/uploads/2016/02/paper-auditlogs.pdf.</a:t>
            </a:r>
            <a:endParaRPr/>
          </a:p>
          <a:p xmlns:a="http://schemas.openxmlformats.org/drawingml/2006/main">
            <a:pPr marL="0" lvl="0" indent="0" algn="l">
              <a:spcBef>
                <a:spcPts val="0"/>
              </a:spcBef>
              <a:spcAft>
                <a:spcPts val="0"/>
              </a:spcAft>
              <a:buNone/>
            </a:pPr>
            <a:r>
              <a:rPr sz="1200"/>
              <a:t>https://www.schneier.com/academic/archives/1999/05/secure_audit_logs_to.html</a:t>
            </a:r>
            <a:endParaRPr/>
          </a:p>
          <a:p xmlns:a="http://schemas.openxmlformats.org/drawingml/2006/main">
            <a:pPr marL="0" lvl="0" indent="0" algn="l">
              <a:spcBef>
                <a:spcPts val="0"/>
              </a:spcBef>
              <a:spcAft>
                <a:spcPts val="0"/>
              </a:spcAft>
              <a:buNone/>
            </a:pPr>
            <a:r>
              <a:rPr sz="1200"/>
              <a:t>Scope: Related work on detecting log modification and the importance of trust assumptions. Our SHA-256 chain and ephemeral ECDSA checkpoint do not implement this paper’s full forward-secure protocol, remote trust or compromise guarantees.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The vertical divider is the device/server boundary. Capture, perception, protection, authorization, execution, verification and the action ledger all run on the device. The only server step is Qwen planning. Sanitized context leaves the device and a typed proposed action returns. The gate rechecks the destination and requires one-use approval before resolving a private value. It binds consent to the run, tab, document, origin, target, field type, task purpose, complete action and observed state. Live checks happen before release and again before insertion.</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The source model assets are YOLOX face-only and PP-OCRv6 tiny, run through ONNX Runtime Web, plus local Rampart contextual PII. General visual UI understanding and detector accuracy are not established by the model-family references. Chrome was exercised; Firefox was built but not runtime-tested.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rPr sz="1200"/>
              <a:t>Railway-assisted mode uses Qwen for comparing sanitized fare buttons and a declared local adapter for other prepared screens. Both use this gate. Rehearsal is deterministic and DOM-only, with no Qwen, OCR or face inference. Full local visual privacy processing remains enabled in assisted mode.</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Audit records allowed, blocked and execution events at their actual boundaries, not only at the end. Web Crypto SHA-256 chains non-secret event records. An ephemeral ECDSA P-256 key signs the session/count/head checkpoint. The log is not a distributed blockchain and does not identify malicious prompts by itself. A separately trusted retained checkpoint is required to detect wholesale log replacement or truncation. An attacker controlling the extension/device is outside this guarantee.</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Additional implementation sources: extension/lib/security/privateFillGate.ts, extension/lib/security/actionLedger.ts, extension/lib/vault/secretVault.ts, extension/lib/actions/broker.ts, extension/public/models/README.md and extension/lib/agent/railwayRehearsal.ts in the local contextshield project.</a:t>
            </a:r>
            <a:endParaRPr/>
          </a:p>
          <a:p xmlns:a="http://schemas.openxmlformats.org/drawingml/2006/main">
            <a:r>
              <a:t/>
            </a:r>
          </a:p>
          <a:p xmlns:a="http://schemas.openxmlformats.org/drawingml/2006/main">
            <a:r>
              <a:t>Implementation evidence: https://github.com/Arindam636-prog/chr0m1um/blob/main/docs/RAILWAY-VALIDATION.md</a:t>
            </a:r>
          </a:p>
          <a:p xmlns:a="http://schemas.openxmlformats.org/drawingml/2006/main">
            <a:r>
              <a:t>Demo scope: https://github.com/Arindam636-prog/chr0m1um/blob/main/docs/RAILWAY-DEMO.md</a:t>
            </a:r>
          </a:p>
          <a:p xmlns:a="http://schemas.openxmlformats.org/drawingml/2006/main">
            <a:r>
              <a:t>Validation date: 18 September 2026.</a:t>
            </a:r>
          </a:p>
          <a:p xmlns:a="http://schemas.openxmlformats.org/drawingml/2006/main">
            <a:r>
              <a:t/>
            </a:r>
          </a:p>
          <a:p xmlns:a="http://schemas.openxmlformats.org/drawingml/2006/main">
            <a:r>
              <a:t>[1] Zheng Ge, Songtao Liu, Feng Wang, Zeming Li and Jian Sun. YOLOX: Exceeding YOLO Series in 2021. arXiv:2107.08430, 2021.</a:t>
            </a:r>
          </a:p>
          <a:p xmlns:a="http://schemas.openxmlformats.org/drawingml/2006/main">
            <a:r>
              <a:t>https://arxiv.org/abs/2107.08430</a:t>
            </a:r>
          </a:p>
          <a:p xmlns:a="http://schemas.openxmlformats.org/drawingml/2006/main">
            <a:r>
              <a:t>Scope: Architecture-family reference. The paper reports general object detection, not privacy protection or our face-checkpoint accuracy.</a:t>
            </a:r>
          </a:p>
          <a:p xmlns:a="http://schemas.openxmlformats.org/drawingml/2006/main">
            <a:r>
              <a:t/>
            </a:r>
          </a:p>
          <a:p xmlns:a="http://schemas.openxmlformats.org/drawingml/2006/main">
            <a:r>
              <a:t>[2] Yuning Du et al. PP-OCR: A Practical Ultra Lightweight OCR System. arXiv:2009.09941, 2020.</a:t>
            </a:r>
          </a:p>
          <a:p xmlns:a="http://schemas.openxmlformats.org/drawingml/2006/main">
            <a:r>
              <a:t>https://arxiv.org/abs/2009.09941</a:t>
            </a:r>
          </a:p>
          <a:p xmlns:a="http://schemas.openxmlformats.org/drawingml/2006/main">
            <a:r>
              <a:t>Scope: Historical OCR-family reference, not the source of the shipped PP-OCRv6 benchmark or model weights. The current pinned v6 assets and hashes are documented separately in the local model README.</a:t>
            </a:r>
          </a:p>
          <a:p xmlns:a="http://schemas.openxmlformats.org/drawingml/2006/main">
            <a:r>
              <a:t/>
            </a:r>
          </a:p>
          <a:p xmlns:a="http://schemas.openxmlformats.org/drawingml/2006/main">
            <a:r>
              <a:t>[3] Shuai Bai et al. Qwen3-VL Technical Report. arXiv:2511.21631, 2025.</a:t>
            </a:r>
          </a:p>
          <a:p xmlns:a="http://schemas.openxmlformats.org/drawingml/2006/main">
            <a:r>
              <a:t>https://arxiv.org/abs/2511.21631</a:t>
            </a:r>
          </a:p>
          <a:p xmlns:a="http://schemas.openxmlformats.org/drawingml/2006/main">
            <a:r>
              <a:t>Scope: Background on the model family, not evidence that Qwen enforces our privacy policy or completes our railway task autonomously.</a:t>
            </a:r>
          </a:p>
          <a:p xmlns:a="http://schemas.openxmlformats.org/drawingml/2006/main">
            <a:r>
              <a:t/>
            </a:r>
          </a:p>
          <a:p xmlns:a="http://schemas.openxmlformats.org/drawingml/2006/main">
            <a:r>
              <a:t>[7] Jerome H. Saltzer and Michael D. Schroeder. The Protection of Information in Computer Systems. Proceedings of the IEEE 63(9), pp. 1278–1308, 1975. DOI:10.1109/PROC.1975.9939.</a:t>
            </a:r>
          </a:p>
          <a:p xmlns:a="http://schemas.openxmlformats.org/drawingml/2006/main">
            <a:r>
              <a:t>https://www.mit.edu/~Saltzer/publications/protection/index.html</a:t>
            </a:r>
          </a:p>
          <a:p xmlns:a="http://schemas.openxmlformats.org/drawingml/2006/main">
            <a:r>
              <a:t>Scope: Foundational principles include fail-safe defaults, complete mediation and least privilege. The mapping to our one-use private-fill gate is our engineering interpretation, not a formal security proof from this paper.</a:t>
            </a:r>
          </a:p>
          <a:p xmlns:a="http://schemas.openxmlformats.org/drawingml/2006/main">
            <a:r>
              <a:t/>
            </a:r>
          </a:p>
          <a:p xmlns:a="http://schemas.openxmlformats.org/drawingml/2006/main">
            <a:r>
              <a:t>[8] Bruce Schneier and John Kelsey. Secure Audit Logs to Support Computer Forensics. ACM Transactions on Information and System Security, 1999. Author-hosted paper: https://www.schneier.com/wp-content/uploads/2016/02/paper-auditlogs.pdf.</a:t>
            </a:r>
          </a:p>
          <a:p xmlns:a="http://schemas.openxmlformats.org/drawingml/2006/main">
            <a:r>
              <a:t>https://www.schneier.com/academic/archives/1999/05/secure_audit_logs_to.html</a:t>
            </a:r>
          </a:p>
          <a:p xmlns:a="http://schemas.openxmlformats.org/drawingml/2006/main">
            <a:r>
              <a:t>Scope: Related work on detecting log modification and the importance of trust assumptions. Our SHA-256 chain and ephemeral ECDSA checkpoint do not implement this paper’s full forward-secure protocol, remote trust or compromise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The feasibility claims are supported by the dated local v1.5 validation report. The table is an evaluation plan and intentionally contains no invented result. Scope the held-out set before tuning and retain its annotations separately. Use the same browser, model version, hardware and task budget for each baseline. Compare DOM-only observations with full local perception on visual tasks as well as ordinary pages. For PII, count false positives and false negatives with fixed definitions. For redaction, measure undetected sensitive regions separately from mask rendering and quantify useful content retained. Report incremental memory and CPU over the browser-only baseline, plus cold and warm inference. For task latency report median and p95 with sample size, completion rate, failure counts, and the treatment of human consent time. Do not mix deterministic rehearsal durations with model-assisted task latency.</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Security evaluation additionally needs attack-success rates and benign-task acceptance, not merely blocked attack counts. VisualWebArena, AgentDojo and InjecAgent are candidate external evaluations; none has been run on this product.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rPr sz="1200"/>
              <a:t>Remaining product work includes dependency advisories (the existing validation records four high-severity entries whose browser reachability is unestablished), Firefox runtime acceptance, worker suspension, unseen-site behavior, full egress capture and independently retained ledger checkpoints. Consent discloses data to the approved site; the site must itself be trusted. The demo is not a production deployment.</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Implementation evidence: https://github.com/Arindam636-prog/chr0m1um/blob/main/docs/RAILWAY-VALIDATION.md</a:t>
            </a:r>
            <a:endParaRPr/>
          </a:p>
          <a:p xmlns:a="http://schemas.openxmlformats.org/drawingml/2006/main">
            <a:pPr marL="0" lvl="0" indent="0" algn="l">
              <a:spcBef>
                <a:spcPts val="0"/>
              </a:spcBef>
              <a:spcAft>
                <a:spcPts val="0"/>
              </a:spcAft>
              <a:buNone/>
            </a:pPr>
            <a:r>
              <a:rPr sz="1200"/>
              <a:t>Demo scope: https://github.com/Arindam636-prog/chr0m1um/blob/main/docs/RAILWAY-DEMO.md</a:t>
            </a:r>
            <a:endParaRPr/>
          </a:p>
          <a:p xmlns:a="http://schemas.openxmlformats.org/drawingml/2006/main">
            <a:pPr marL="0" lvl="0" indent="0" algn="l">
              <a:spcBef>
                <a:spcPts val="0"/>
              </a:spcBef>
              <a:spcAft>
                <a:spcPts val="0"/>
              </a:spcAft>
              <a:buNone/>
            </a:pPr>
            <a:r>
              <a:rPr sz="1200"/>
              <a:t>Validation date: 18 September 2026.</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[4] Jing Yu Koh et al. VisualWebArena: Evaluating Multimodal Agents on Realistic Visual Web Tasks. ACL 2024, pp. 881–905. DOI:10.18653/v1/2024.acl-long.50.</a:t>
            </a:r>
            <a:endParaRPr/>
          </a:p>
          <a:p xmlns:a="http://schemas.openxmlformats.org/drawingml/2006/main">
            <a:pPr marL="0" lvl="0" indent="0" algn="l">
              <a:spcBef>
                <a:spcPts val="0"/>
              </a:spcBef>
              <a:spcAft>
                <a:spcPts val="0"/>
              </a:spcAft>
              <a:buNone/>
            </a:pPr>
            <a:r>
              <a:rPr sz="1200"/>
              <a:t>https://aclanthology.org/2024.acl-long.50/</a:t>
            </a:r>
            <a:endParaRPr/>
          </a:p>
          <a:p xmlns:a="http://schemas.openxmlformats.org/drawingml/2006/main">
            <a:pPr marL="0" lvl="0" indent="0" algn="l">
              <a:spcBef>
                <a:spcPts val="0"/>
              </a:spcBef>
              <a:spcAft>
                <a:spcPts val="0"/>
              </a:spcAft>
              <a:buNone/>
            </a:pPr>
            <a:r>
              <a:rPr sz="1200"/>
              <a:t>Scope: Provides motivation for multimodal observation and a future external evaluation framework. ContextShield has not run this benchmark.</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[5] Edoardo Debenedetti, Jie Zhang, Mislav Balunović, Luca Beurer-Kellner, Marc Fischer and Florian Tramèr. AgentDojo: A Dynamic Environment to Evaluate Prompt Injection Attacks and Defenses for LLM Agents. NeurIPS 2024, Datasets and Benchmarks Track. DOI:10.52202/079017-2636.</a:t>
            </a:r>
            <a:endParaRPr/>
          </a:p>
          <a:p xmlns:a="http://schemas.openxmlformats.org/drawingml/2006/main">
            <a:pPr marL="0" lvl="0" indent="0" algn="l">
              <a:spcBef>
                <a:spcPts val="0"/>
              </a:spcBef>
              <a:spcAft>
                <a:spcPts val="0"/>
              </a:spcAft>
              <a:buNone/>
            </a:pPr>
            <a:r>
              <a:rPr sz="1200"/>
              <a:t>https://proceedings.neurips.cc/paper_files/paper/2024/hash/97091a5177d8dc64b1da8bf3e1f6fb54-Abstract-Datasets_and_Benchmarks_Track.html</a:t>
            </a:r>
            <a:endParaRPr/>
          </a:p>
          <a:p xmlns:a="http://schemas.openxmlformats.org/drawingml/2006/main">
            <a:pPr marL="0" lvl="0" indent="0" algn="l">
              <a:spcBef>
                <a:spcPts val="0"/>
              </a:spcBef>
              <a:spcAft>
                <a:spcPts val="0"/>
              </a:spcAft>
              <a:buNone/>
            </a:pPr>
            <a:r>
              <a:rPr sz="1200"/>
              <a:t>Scope: Published evidence that untrusted tool output can redirect tool-using agents and that utility and security need joint evaluation. ContextShield has not run AgentDojo.</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[6] Qiusi Zhan, Zhixiang Liang, Zifan Ying and Daniel Kang. InjecAgent: Benchmarking Indirect Prompt Injections in Tool-Integrated Large Language Model Agents. Findings of ACL 2024, pp. 10471–10506. DOI:10.18653/v1/2024.findings-acl.624.</a:t>
            </a:r>
            <a:endParaRPr/>
          </a:p>
          <a:p xmlns:a="http://schemas.openxmlformats.org/drawingml/2006/main">
            <a:pPr marL="0" lvl="0" indent="0" algn="l">
              <a:spcBef>
                <a:spcPts val="0"/>
              </a:spcBef>
              <a:spcAft>
                <a:spcPts val="0"/>
              </a:spcAft>
              <a:buNone/>
            </a:pPr>
            <a:r>
              <a:rPr sz="1200"/>
              <a:t>https://aclanthology.org/2024.findings-acl.624/</a:t>
            </a:r>
            <a:endParaRPr/>
          </a:p>
          <a:p xmlns:a="http://schemas.openxmlformats.org/drawingml/2006/main">
            <a:pPr marL="0" lvl="0" indent="0" algn="l">
              <a:spcBef>
                <a:spcPts val="0"/>
              </a:spcBef>
              <a:spcAft>
                <a:spcPts val="0"/>
              </a:spcAft>
              <a:buNone/>
            </a:pPr>
            <a:r>
              <a:rPr sz="1200"/>
              <a:t>Scope: Supports the indirect-injection and exfiltration threat model. Its published attack results must not be represented as ContextShield results. ContextShield has not run InjecAgent.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Reported outcomes come from the local ContextShield 1.5.0 validation dated 18 September 2026, not from a fresh test run during this presentation revision. Ninety-six unit tests (4 shared, 92 extension), 19 backend tests and eight Chrome scenarios were recorded as passing. The eight comprise six core browser cases plus two railway mode runs. They are software checks, not product accuracy estimates.</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Railway assisted test: packaged MV3 extension, real local Qwen service, correct cheapest morning fare, at least four approvals, final ticket heading, signed ledger verification and rejection of a modified copy. Qwen selects the fare; the declared local adapter handles other prepared screens. Rehearsal test: deterministic DOM-only controller, zero planner context requests, same authorization and evidence checks. Tests automatically answered consent prompts using synthetic values; execution durations are not human task-latency benchmarks. Failed exploratory Qwen trials were not counted as successful tasks.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rPr sz="1200"/>
              <a:t>The hostile action regression injects a schema-valid TYPE_HANDLE proposing a password handle for an unrelated textarea. It fails with PRIVACY_ASSERTION_FAILED, offers no approval for the mismatched field, leaves the field empty, omits the synthetic password from captured planner bodies, and records BLOCKED. This demonstrates the tested boundary case, not resistance to all possible prompt injections. The ledger test modifies a copy and verifies that it cannot match the trusted original checkpoint. Credentials are excluded from event fields. The exported key is not independently trusted merely because it is in the same file.</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The ticket screenshot is an actual manually traversed local interface captured on 19 September 2026, using fictional details, and serves as a product illustration. It is not itself proof of the automated test. The sandbox is not affiliated with IRCTC and makes no real booking or payment. Independent egress audit, model quality, runtime memory and held-out task/attack evaluation remain open.</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Demonstration sequence: complete an assisted sandbox journey with explicit approvals, explain the tested hostile-action rejection separately, then verify a ledger and edit a copy. Do not present the model-free rehearsal as live Qwen performance.</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Implementation evidence: https://github.com/Arindam636-prog/chr0m1um/blob/main/docs/RAILWAY-VALIDATION.md</a:t>
            </a:r>
            <a:endParaRPr/>
          </a:p>
          <a:p xmlns:a="http://schemas.openxmlformats.org/drawingml/2006/main">
            <a:pPr marL="0" lvl="0" indent="0" algn="l">
              <a:spcBef>
                <a:spcPts val="0"/>
              </a:spcBef>
              <a:spcAft>
                <a:spcPts val="0"/>
              </a:spcAft>
              <a:buNone/>
            </a:pPr>
            <a:r>
              <a:rPr sz="1200"/>
              <a:t>Demo scope: https://github.com/Arindam636-prog/chr0m1um/blob/main/docs/RAILWAY-DEMO.md</a:t>
            </a:r>
            <a:endParaRPr/>
          </a:p>
          <a:p xmlns:a="http://schemas.openxmlformats.org/drawingml/2006/main">
            <a:pPr marL="0" lvl="0" indent="0" algn="l">
              <a:spcBef>
                <a:spcPts val="0"/>
              </a:spcBef>
              <a:spcAft>
                <a:spcPts val="0"/>
              </a:spcAft>
              <a:buNone/>
            </a:pPr>
            <a:r>
              <a:rPr sz="1200"/>
              <a:t>Validation date: 18 September 2026.</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[4] Jing Yu Koh et al. VisualWebArena: Evaluating Multimodal Agents on Realistic Visual Web Tasks. ACL 2024, pp. 881–905. DOI:10.18653/v1/2024.acl-long.50.</a:t>
            </a:r>
            <a:endParaRPr/>
          </a:p>
          <a:p xmlns:a="http://schemas.openxmlformats.org/drawingml/2006/main">
            <a:pPr marL="0" lvl="0" indent="0" algn="l">
              <a:spcBef>
                <a:spcPts val="0"/>
              </a:spcBef>
              <a:spcAft>
                <a:spcPts val="0"/>
              </a:spcAft>
              <a:buNone/>
            </a:pPr>
            <a:r>
              <a:rPr sz="1200"/>
              <a:t>https://aclanthology.org/2024.acl-long.50/</a:t>
            </a:r>
            <a:endParaRPr/>
          </a:p>
          <a:p xmlns:a="http://schemas.openxmlformats.org/drawingml/2006/main">
            <a:pPr marL="0" lvl="0" indent="0" algn="l">
              <a:spcBef>
                <a:spcPts val="0"/>
              </a:spcBef>
              <a:spcAft>
                <a:spcPts val="0"/>
              </a:spcAft>
              <a:buNone/>
            </a:pPr>
            <a:r>
              <a:rPr sz="1200"/>
              <a:t>Scope: Provides motivation for multimodal observation and a future external evaluation framework. ContextShield has not run this benchmark.</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[5] Edoardo Debenedetti, Jie Zhang, Mislav Balunović, Luca Beurer-Kellner, Marc Fischer and Florian Tramèr. AgentDojo: A Dynamic Environment to Evaluate Prompt Injection Attacks and Defenses for LLM Agents. NeurIPS 2024, Datasets and Benchmarks Track. DOI:10.52202/079017-2636.</a:t>
            </a:r>
            <a:endParaRPr/>
          </a:p>
          <a:p xmlns:a="http://schemas.openxmlformats.org/drawingml/2006/main">
            <a:pPr marL="0" lvl="0" indent="0" algn="l">
              <a:spcBef>
                <a:spcPts val="0"/>
              </a:spcBef>
              <a:spcAft>
                <a:spcPts val="0"/>
              </a:spcAft>
              <a:buNone/>
            </a:pPr>
            <a:r>
              <a:rPr sz="1200"/>
              <a:t>https://proceedings.neurips.cc/paper_files/paper/2024/hash/97091a5177d8dc64b1da8bf3e1f6fb54-Abstract-Datasets_and_Benchmarks_Track.html</a:t>
            </a:r>
            <a:endParaRPr/>
          </a:p>
          <a:p xmlns:a="http://schemas.openxmlformats.org/drawingml/2006/main">
            <a:pPr marL="0" lvl="0" indent="0" algn="l">
              <a:spcBef>
                <a:spcPts val="0"/>
              </a:spcBef>
              <a:spcAft>
                <a:spcPts val="0"/>
              </a:spcAft>
              <a:buNone/>
            </a:pPr>
            <a:r>
              <a:rPr sz="1200"/>
              <a:t>Scope: Published evidence that untrusted tool output can redirect tool-using agents and that utility and security need joint evaluation. ContextShield has not run AgentDojo.</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[6] Qiusi Zhan, Zhixiang Liang, Zifan Ying and Daniel Kang. InjecAgent: Benchmarking Indirect Prompt Injections in Tool-Integrated Large Language Model Agents. Findings of ACL 2024, pp. 10471–10506. DOI:10.18653/v1/2024.findings-acl.624.</a:t>
            </a:r>
            <a:endParaRPr/>
          </a:p>
          <a:p xmlns:a="http://schemas.openxmlformats.org/drawingml/2006/main">
            <a:pPr marL="0" lvl="0" indent="0" algn="l">
              <a:spcBef>
                <a:spcPts val="0"/>
              </a:spcBef>
              <a:spcAft>
                <a:spcPts val="0"/>
              </a:spcAft>
              <a:buNone/>
            </a:pPr>
            <a:r>
              <a:rPr sz="1200"/>
              <a:t>https://aclanthology.org/2024.findings-acl.624/</a:t>
            </a:r>
            <a:endParaRPr/>
          </a:p>
          <a:p xmlns:a="http://schemas.openxmlformats.org/drawingml/2006/main">
            <a:pPr marL="0" lvl="0" indent="0" algn="l">
              <a:spcBef>
                <a:spcPts val="0"/>
              </a:spcBef>
              <a:spcAft>
                <a:spcPts val="0"/>
              </a:spcAft>
              <a:buNone/>
            </a:pPr>
            <a:r>
              <a:rPr sz="1200"/>
              <a:t>Scope: Supports the indirect-injection and exfiltration threat model. Its published attack results must not be represented as ContextShield results. ContextShield has not run InjecAgent.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RESEARCH PAPERS AND TECHNICAL REPORTS</a:t>
            </a:r>
            <a:endParaRPr/>
          </a:p>
          <a:p xmlns:a="http://schemas.openxmlformats.org/drawingml/2006/main">
            <a:pPr marL="0" lvl="0" indent="0" algn="l">
              <a:spcBef>
                <a:spcPts val="0"/>
              </a:spcBef>
              <a:spcAft>
                <a:spcPts val="0"/>
              </a:spcAft>
              <a:buNone/>
            </a:pPr>
            <a:r>
              <a:rPr sz="1200"/>
              <a:t>[1] Zheng Ge, Songtao Liu, Feng Wang, Zeming Li and Jian Sun. YOLOX: Exceeding YOLO Series in 2021. arXiv:2107.08430, 2021.</a:t>
            </a:r>
            <a:endParaRPr/>
          </a:p>
          <a:p xmlns:a="http://schemas.openxmlformats.org/drawingml/2006/main">
            <a:pPr marL="0" lvl="0" indent="0" algn="l">
              <a:spcBef>
                <a:spcPts val="0"/>
              </a:spcBef>
              <a:spcAft>
                <a:spcPts val="0"/>
              </a:spcAft>
              <a:buNone/>
            </a:pPr>
            <a:r>
              <a:rPr sz="1200"/>
              <a:t>https://arxiv.org/abs/2107.08430</a:t>
            </a:r>
            <a:endParaRPr/>
          </a:p>
          <a:p xmlns:a="http://schemas.openxmlformats.org/drawingml/2006/main">
            <a:pPr marL="0" lvl="0" indent="0" algn="l">
              <a:spcBef>
                <a:spcPts val="0"/>
              </a:spcBef>
              <a:spcAft>
                <a:spcPts val="0"/>
              </a:spcAft>
              <a:buNone/>
            </a:pPr>
            <a:r>
              <a:t>Scope: Architecture-family reference. The paper reports general object detection, not privacy protection or our face-checkpoint accuracy.</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[2] Yuning Du et al. PP-OCR: A Practical Ultra Lightweight OCR System. arXiv:2009.09941, 2020.</a:t>
            </a:r>
            <a:endParaRPr/>
          </a:p>
          <a:p xmlns:a="http://schemas.openxmlformats.org/drawingml/2006/main">
            <a:pPr marL="0" lvl="0" indent="0" algn="l">
              <a:spcBef>
                <a:spcPts val="0"/>
              </a:spcBef>
              <a:spcAft>
                <a:spcPts val="0"/>
              </a:spcAft>
              <a:buNone/>
            </a:pPr>
            <a:r>
              <a:rPr sz="1200"/>
              <a:t>https://arxiv.org/abs/2009.09941</a:t>
            </a:r>
            <a:endParaRPr/>
          </a:p>
          <a:p xmlns:a="http://schemas.openxmlformats.org/drawingml/2006/main">
            <a:pPr marL="0" lvl="0" indent="0" algn="l">
              <a:spcBef>
                <a:spcPts val="0"/>
              </a:spcBef>
              <a:spcAft>
                <a:spcPts val="0"/>
              </a:spcAft>
              <a:buNone/>
            </a:pPr>
            <a:r>
              <a:rPr sz="1200"/>
              <a:t>Scope: Historical OCR-family reference, not the source of the shipped PP-OCRv6 benchmark or model weights. The current pinned v6 assets and hashes are documented separately in the local model README.</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[3] Shuai Bai et al. Qwen3-VL Technical Report. arXiv:2511.21631, 2025.</a:t>
            </a:r>
            <a:endParaRPr/>
          </a:p>
          <a:p xmlns:a="http://schemas.openxmlformats.org/drawingml/2006/main">
            <a:pPr marL="0" lvl="0" indent="0" algn="l">
              <a:spcBef>
                <a:spcPts val="0"/>
              </a:spcBef>
              <a:spcAft>
                <a:spcPts val="0"/>
              </a:spcAft>
              <a:buNone/>
            </a:pPr>
            <a:r>
              <a:rPr sz="1200"/>
              <a:t>https://arxiv.org/abs/2511.21631</a:t>
            </a:r>
            <a:endParaRPr/>
          </a:p>
          <a:p xmlns:a="http://schemas.openxmlformats.org/drawingml/2006/main">
            <a:pPr marL="0" lvl="0" indent="0" algn="l">
              <a:spcBef>
                <a:spcPts val="0"/>
              </a:spcBef>
              <a:spcAft>
                <a:spcPts val="0"/>
              </a:spcAft>
              <a:buNone/>
            </a:pPr>
            <a:r>
              <a:rPr sz="1200"/>
              <a:t>Scope: Background on the model family, not evidence that Qwen enforces our privacy policy or completes our railway task autonomously.</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[4] Jing Yu Koh et al. VisualWebArena: Evaluating Multimodal Agents on Realistic Visual Web Tasks. ACL 2024, pp. 881–905. DOI:10.18653/v1/2024.acl-long.50.</a:t>
            </a:r>
            <a:endParaRPr/>
          </a:p>
          <a:p xmlns:a="http://schemas.openxmlformats.org/drawingml/2006/main">
            <a:pPr marL="0" lvl="0" indent="0" algn="l">
              <a:spcBef>
                <a:spcPts val="0"/>
              </a:spcBef>
              <a:spcAft>
                <a:spcPts val="0"/>
              </a:spcAft>
              <a:buNone/>
            </a:pPr>
            <a:r>
              <a:rPr sz="1200"/>
              <a:t>https://aclanthology.org/2024.acl-long.50/</a:t>
            </a:r>
            <a:endParaRPr/>
          </a:p>
          <a:p xmlns:a="http://schemas.openxmlformats.org/drawingml/2006/main">
            <a:pPr marL="0" lvl="0" indent="0" algn="l">
              <a:spcBef>
                <a:spcPts val="0"/>
              </a:spcBef>
              <a:spcAft>
                <a:spcPts val="0"/>
              </a:spcAft>
              <a:buNone/>
            </a:pPr>
            <a:r>
              <a:rPr sz="1200"/>
              <a:t>Scope: Provides motivation for multimodal observation and a future external evaluation framework. ContextShield has not run this benchmark.</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[5] Edoardo Debenedetti, Jie Zhang, Mislav Balunović, Luca Beurer-Kellner, Marc Fischer and Florian Tramèr. AgentDojo: A Dynamic Environment to Evaluate Prompt Injection Attacks and Defenses for LLM Agents. NeurIPS 2024, Datasets and Benchmarks Track. DOI:10.52202/079017-2636.</a:t>
            </a:r>
            <a:endParaRPr/>
          </a:p>
          <a:p xmlns:a="http://schemas.openxmlformats.org/drawingml/2006/main">
            <a:pPr marL="0" lvl="0" indent="0" algn="l">
              <a:spcBef>
                <a:spcPts val="0"/>
              </a:spcBef>
              <a:spcAft>
                <a:spcPts val="0"/>
              </a:spcAft>
              <a:buNone/>
            </a:pPr>
            <a:r>
              <a:rPr sz="1200"/>
              <a:t>https://proceedings.neurips.cc/paper_files/paper/2024/hash/97091a5177d8dc64b1da8bf3e1f6fb54-Abstract-Datasets_and_Benchmarks_Track.html</a:t>
            </a:r>
            <a:endParaRPr/>
          </a:p>
          <a:p xmlns:a="http://schemas.openxmlformats.org/drawingml/2006/main">
            <a:pPr marL="0" lvl="0" indent="0" algn="l">
              <a:spcBef>
                <a:spcPts val="0"/>
              </a:spcBef>
              <a:spcAft>
                <a:spcPts val="0"/>
              </a:spcAft>
              <a:buNone/>
            </a:pPr>
            <a:r>
              <a:rPr sz="1200"/>
              <a:t>Scope: Published evidence that untrusted tool output can redirect tool-using agents and that utility and security need joint evaluation. ContextShield has not run AgentDojo.</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[6] Qiusi Zhan, Zhixiang Liang, Zifan Ying and Daniel Kang. InjecAgent: Benchmarking Indirect Prompt Injections in Tool-Integrated Large Language Model Agents. Findings of ACL 2024, pp. 10471–10506. DOI:10.18653/v1/2024.findings-acl.624.</a:t>
            </a:r>
            <a:endParaRPr/>
          </a:p>
          <a:p xmlns:a="http://schemas.openxmlformats.org/drawingml/2006/main">
            <a:pPr marL="0" lvl="0" indent="0" algn="l">
              <a:spcBef>
                <a:spcPts val="0"/>
              </a:spcBef>
              <a:spcAft>
                <a:spcPts val="0"/>
              </a:spcAft>
              <a:buNone/>
            </a:pPr>
            <a:r>
              <a:rPr sz="1200"/>
              <a:t>https://aclanthology.org/2024.findings-acl.624/</a:t>
            </a:r>
            <a:endParaRPr/>
          </a:p>
          <a:p xmlns:a="http://schemas.openxmlformats.org/drawingml/2006/main">
            <a:pPr marL="0" lvl="0" indent="0" algn="l">
              <a:spcBef>
                <a:spcPts val="0"/>
              </a:spcBef>
              <a:spcAft>
                <a:spcPts val="0"/>
              </a:spcAft>
              <a:buNone/>
            </a:pPr>
            <a:r>
              <a:rPr sz="1200"/>
              <a:t>Scope: Supports the indirect-injection and exfiltration threat model. Its published attack results must not be represented as ContextShield results. ContextShield has not run InjecAgent.</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[7] Jerome H. Saltzer and Michael D. Schroeder. The Protection of Information in Computer Systems. Proceedings of the IEEE 63(9), pp. 1278–1308, 1975. DOI:10.1109/PROC.1975.9939.</a:t>
            </a:r>
            <a:endParaRPr/>
          </a:p>
          <a:p xmlns:a="http://schemas.openxmlformats.org/drawingml/2006/main">
            <a:pPr marL="0" lvl="0" indent="0" algn="l">
              <a:spcBef>
                <a:spcPts val="0"/>
              </a:spcBef>
              <a:spcAft>
                <a:spcPts val="0"/>
              </a:spcAft>
              <a:buNone/>
            </a:pPr>
            <a:r>
              <a:rPr sz="1200"/>
              <a:t>https://www.mit.edu/~Saltzer/publications/protection/index.html</a:t>
            </a:r>
            <a:endParaRPr/>
          </a:p>
          <a:p xmlns:a="http://schemas.openxmlformats.org/drawingml/2006/main">
            <a:pPr marL="0" lvl="0" indent="0" algn="l">
              <a:spcBef>
                <a:spcPts val="0"/>
              </a:spcBef>
              <a:spcAft>
                <a:spcPts val="0"/>
              </a:spcAft>
              <a:buNone/>
            </a:pPr>
            <a:r>
              <a:rPr sz="1200"/>
              <a:t>Scope: Foundational principles include fail-safe defaults, complete mediation and least privilege. The mapping to our one-use private-fill gate is our engineering interpretation, not a formal security proof from this paper.</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[8] Bruce Schneier and John Kelsey. Secure Audit Logs to Support Computer Forensics. ACM Transactions on Information and System Security, 1999. Author-hosted paper: https://www.schneier.com/wp-content/uploads/2016/02/paper-auditlogs.pdf.</a:t>
            </a:r>
            <a:endParaRPr/>
          </a:p>
          <a:p xmlns:a="http://schemas.openxmlformats.org/drawingml/2006/main">
            <a:pPr marL="0" lvl="0" indent="0" algn="l">
              <a:spcBef>
                <a:spcPts val="0"/>
              </a:spcBef>
              <a:spcAft>
                <a:spcPts val="0"/>
              </a:spcAft>
              <a:buNone/>
            </a:pPr>
            <a:r>
              <a:rPr sz="1200"/>
              <a:t>https://www.schneier.com/academic/archives/1999/05/secure_audit_logs_to.html</a:t>
            </a:r>
            <a:endParaRPr/>
          </a:p>
          <a:p xmlns:a="http://schemas.openxmlformats.org/drawingml/2006/main">
            <a:pPr marL="0" lvl="0" indent="0" algn="l">
              <a:spcBef>
                <a:spcPts val="0"/>
              </a:spcBef>
              <a:spcAft>
                <a:spcPts val="0"/>
              </a:spcAft>
              <a:buNone/>
            </a:pPr>
            <a:r>
              <a:rPr sz="1200"/>
              <a:t>Scope: Related work on detecting log modification and the importance of trust assumptions. Our SHA-256 chain and ephemeral ECDSA checkpoint do not implement this paper’s full forward-secure protocol, remote trust or compromise guarantees.</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Research informs the architecture and future evaluation. No published benchmark score has been adopted as a ContextShield result. References [1–3] are model technical reports; [4–8] are peer-reviewed conference/journal publications. The deployed PP-OCRv6 files and the face-only YOLOX checkpoint are documented in extension/public/models/README.md and require their own evaluation.</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Publication: the current v1.5 source, railway runbook and validation report accompany this deck in https://github.com/Arindam636-prog/chr0m1um. The application and model services run locally. Public source availability does not mean the demo is hosted online. No demo video has been published as part of this update.</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Implementation evidence: https://github.com/Arindam636-prog/chr0m1um/blob/main/docs/RAILWAY-VALIDATION.md</a:t>
            </a:r>
            <a:endParaRPr/>
          </a:p>
          <a:p xmlns:a="http://schemas.openxmlformats.org/drawingml/2006/main">
            <a:pPr marL="0" lvl="0" indent="0" algn="l">
              <a:spcBef>
                <a:spcPts val="0"/>
              </a:spcBef>
              <a:spcAft>
                <a:spcPts val="0"/>
              </a:spcAft>
              <a:buNone/>
            </a:pPr>
            <a:r>
              <a:rPr sz="1200"/>
              <a:t>Demo scope: https://github.com/Arindam636-prog/chr0m1um/blob/main/docs/RAILWAY-DEMO.md</a:t>
            </a:r>
            <a:endParaRPr/>
          </a:p>
          <a:p xmlns:a="http://schemas.openxmlformats.org/drawingml/2006/main">
            <a:pPr marL="0" lvl="0" indent="0" algn="l">
              <a:spcBef>
                <a:spcPts val="0"/>
              </a:spcBef>
              <a:spcAft>
                <a:spcPts val="0"/>
              </a:spcAft>
              <a:buNone/>
            </a:pPr>
            <a:r>
              <a:rPr sz="1200"/>
              <a:t>Validation date: 18 September 2026.</a:t>
            </a:r>
            <a:endParaRPr/>
          </a:p>
          <a:p xmlns:a="http://schemas.openxmlformats.org/drawingml/2006/main">
            <a:pPr marL="0" lvl="0" indent="0" algn="l">
              <a:spcBef>
                <a:spcPts val="0"/>
              </a:spcBef>
              <a:spcAft>
                <a:spcPts val="0"/>
              </a:spcAft>
              <a:buNone/>
            </a:pPr>
            <a:r>
              <a:rPr sz="1200"/>
              <a:t/>
            </a:r>
            <a:endParaRPr/>
          </a:p>
          <a:p xmlns:a="http://schemas.openxmlformats.org/drawingml/2006/main">
            <a:pPr marL="0" lvl="0" indent="0" algn="l">
              <a:spcBef>
                <a:spcPts val="0"/>
              </a:spcBef>
              <a:spcAft>
                <a:spcPts val="0"/>
              </a:spcAft>
              <a:buNone/>
            </a:pPr>
            <a:r>
              <a:rPr sz="1200"/>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2a859fa778432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883efb1cb174ec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4acf2746dc9424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fe4eb068a0749f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6bc4eb3ea494d1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34279f355f74ca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596d94ef86045a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15f4921e2dd485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636eb007f254cf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71b6db1793f4af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4a1fbadf33e46a3"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5de0db91b8984a8b"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4BCF7592-306B-4002-8A95-91DBADB97BBB}"/>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a:endParaRPr/>
          </a:p>
        </p:txBody>
      </p:sp>
      <p:sp>
        <p:nvSpPr>
          <p:cNvPr id="11" name="Google Shape;11;p2">
            <a:extLst xmlns:a="http://schemas.openxmlformats.org/drawingml/2006/main">
              <a:ext uri="{FF2B5EF4-FFF2-40B4-BE49-F238E27FC236}">
                <a16:creationId xmlns:a16="http://schemas.microsoft.com/office/drawing/2014/main" id="{12962A17-C359-4567-A1F3-65FBE05AE6C3}"/>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a:endParaRPr/>
          </a:p>
        </p:txBody>
      </p:sp>
      <p:sp>
        <p:nvSpPr>
          <p:cNvPr id="12" name="Google Shape;12;p2">
            <a:extLst xmlns:a="http://schemas.openxmlformats.org/drawingml/2006/main">
              <a:ext uri="{FF2B5EF4-FFF2-40B4-BE49-F238E27FC236}">
                <a16:creationId xmlns:a16="http://schemas.microsoft.com/office/drawing/2014/main" id="{39656E16-6D27-4DAD-8765-19415511589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5AA9C648-E1A2-4545-A5F9-2D22D549F216}"/>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a:endParaRPr/>
          </a:p>
        </p:txBody>
      </p:sp>
      <p:sp>
        <p:nvSpPr>
          <p:cNvPr id="15" name="Google Shape;15;p3">
            <a:extLst xmlns:a="http://schemas.openxmlformats.org/drawingml/2006/main">
              <a:ext uri="{FF2B5EF4-FFF2-40B4-BE49-F238E27FC236}">
                <a16:creationId xmlns:a16="http://schemas.microsoft.com/office/drawing/2014/main" id="{97C73652-6920-4DD3-B51C-B910B774ADB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5736F37F-A390-495F-8CE6-5AE551F50C73}"/>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a:endParaRPr/>
          </a:p>
        </p:txBody>
      </p:sp>
      <p:sp>
        <p:nvSpPr>
          <p:cNvPr id="18" name="Google Shape;18;p4">
            <a:extLst xmlns:a="http://schemas.openxmlformats.org/drawingml/2006/main">
              <a:ext uri="{FF2B5EF4-FFF2-40B4-BE49-F238E27FC236}">
                <a16:creationId xmlns:a16="http://schemas.microsoft.com/office/drawing/2014/main" id="{468451DE-9C16-4168-B3AF-AA41456E18C9}"/>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a:endParaRPr/>
          </a:p>
        </p:txBody>
      </p:sp>
      <p:sp>
        <p:nvSpPr>
          <p:cNvPr id="19" name="Google Shape;19;p4">
            <a:extLst xmlns:a="http://schemas.openxmlformats.org/drawingml/2006/main">
              <a:ext uri="{FF2B5EF4-FFF2-40B4-BE49-F238E27FC236}">
                <a16:creationId xmlns:a16="http://schemas.microsoft.com/office/drawing/2014/main" id="{B18ADED1-DF81-4EDB-86FC-4D6D48CC1AF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024B5C2A-3891-4F56-A34E-E087AEA602FB}"/>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a:endParaRPr/>
          </a:p>
        </p:txBody>
      </p:sp>
      <p:sp>
        <p:nvSpPr>
          <p:cNvPr id="22" name="Google Shape;22;p5">
            <a:extLst xmlns:a="http://schemas.openxmlformats.org/drawingml/2006/main">
              <a:ext uri="{FF2B5EF4-FFF2-40B4-BE49-F238E27FC236}">
                <a16:creationId xmlns:a16="http://schemas.microsoft.com/office/drawing/2014/main" id="{AA3FA2E1-A4C4-48C0-B1D8-0BDCFC620EF5}"/>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a:endParaRPr/>
          </a:p>
        </p:txBody>
      </p:sp>
      <p:sp>
        <p:nvSpPr>
          <p:cNvPr id="23" name="Google Shape;23;p5">
            <a:extLst xmlns:a="http://schemas.openxmlformats.org/drawingml/2006/main">
              <a:ext uri="{FF2B5EF4-FFF2-40B4-BE49-F238E27FC236}">
                <a16:creationId xmlns:a16="http://schemas.microsoft.com/office/drawing/2014/main" id="{CF912C9F-1DD4-42DB-A934-5761861D94DA}"/>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a:endParaRPr/>
          </a:p>
        </p:txBody>
      </p:sp>
      <p:sp>
        <p:nvSpPr>
          <p:cNvPr id="24" name="Google Shape;24;p5">
            <a:extLst xmlns:a="http://schemas.openxmlformats.org/drawingml/2006/main">
              <a:ext uri="{FF2B5EF4-FFF2-40B4-BE49-F238E27FC236}">
                <a16:creationId xmlns:a16="http://schemas.microsoft.com/office/drawing/2014/main" id="{79DB75BF-F1D0-4757-8F91-51B56DCF8D0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469CB798-EAE7-4DEC-8FE3-0F3366456FF2}"/>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a:endParaRPr/>
          </a:p>
        </p:txBody>
      </p:sp>
      <p:sp>
        <p:nvSpPr>
          <p:cNvPr id="27" name="Google Shape;27;p6">
            <a:extLst xmlns:a="http://schemas.openxmlformats.org/drawingml/2006/main">
              <a:ext uri="{FF2B5EF4-FFF2-40B4-BE49-F238E27FC236}">
                <a16:creationId xmlns:a16="http://schemas.microsoft.com/office/drawing/2014/main" id="{CC5EA3CF-3A33-4129-80B1-1B50356A919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CE17977D-C55D-4ADE-B65A-E0CCE55388C8}"/>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a:endParaRPr/>
          </a:p>
        </p:txBody>
      </p:sp>
      <p:sp>
        <p:nvSpPr>
          <p:cNvPr id="30" name="Google Shape;30;p7">
            <a:extLst xmlns:a="http://schemas.openxmlformats.org/drawingml/2006/main">
              <a:ext uri="{FF2B5EF4-FFF2-40B4-BE49-F238E27FC236}">
                <a16:creationId xmlns:a16="http://schemas.microsoft.com/office/drawing/2014/main" id="{D0022A8B-1AB7-4016-8F63-FD0878E32D4E}"/>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a:endParaRPr/>
          </a:p>
        </p:txBody>
      </p:sp>
      <p:sp>
        <p:nvSpPr>
          <p:cNvPr id="31" name="Google Shape;31;p7">
            <a:extLst xmlns:a="http://schemas.openxmlformats.org/drawingml/2006/main">
              <a:ext uri="{FF2B5EF4-FFF2-40B4-BE49-F238E27FC236}">
                <a16:creationId xmlns:a16="http://schemas.microsoft.com/office/drawing/2014/main" id="{4686EBAB-A8E0-4C57-8D8B-A7765FDE23E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01D9F44A-5D94-4B79-B948-7911A9031A26}"/>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a:endParaRPr/>
          </a:p>
        </p:txBody>
      </p:sp>
      <p:sp>
        <p:nvSpPr>
          <p:cNvPr id="34" name="Google Shape;34;p8">
            <a:extLst xmlns:a="http://schemas.openxmlformats.org/drawingml/2006/main">
              <a:ext uri="{FF2B5EF4-FFF2-40B4-BE49-F238E27FC236}">
                <a16:creationId xmlns:a16="http://schemas.microsoft.com/office/drawing/2014/main" id="{BADC61BA-2E01-4B55-B8B9-9E623F0DDC8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CB3A021D-EB0F-43AD-BBB8-6CD5669B8FEB}"/>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37" name="Google Shape;37;p9">
            <a:extLst xmlns:a="http://schemas.openxmlformats.org/drawingml/2006/main">
              <a:ext uri="{FF2B5EF4-FFF2-40B4-BE49-F238E27FC236}">
                <a16:creationId xmlns:a16="http://schemas.microsoft.com/office/drawing/2014/main" id="{C9CAC032-8B27-40B1-B17C-B811580FF077}"/>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a:endParaRPr/>
          </a:p>
        </p:txBody>
      </p:sp>
      <p:sp>
        <p:nvSpPr>
          <p:cNvPr id="38" name="Google Shape;38;p9">
            <a:extLst xmlns:a="http://schemas.openxmlformats.org/drawingml/2006/main">
              <a:ext uri="{FF2B5EF4-FFF2-40B4-BE49-F238E27FC236}">
                <a16:creationId xmlns:a16="http://schemas.microsoft.com/office/drawing/2014/main" id="{1CA4ED9F-F350-44A1-BDAF-44AF3E054DBB}"/>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a:endParaRPr/>
          </a:p>
        </p:txBody>
      </p:sp>
      <p:sp>
        <p:nvSpPr>
          <p:cNvPr id="39" name="Google Shape;39;p9">
            <a:extLst xmlns:a="http://schemas.openxmlformats.org/drawingml/2006/main">
              <a:ext uri="{FF2B5EF4-FFF2-40B4-BE49-F238E27FC236}">
                <a16:creationId xmlns:a16="http://schemas.microsoft.com/office/drawing/2014/main" id="{153DFAED-84BC-4908-ADFF-A72710C22DB4}"/>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a:endParaRPr/>
          </a:p>
        </p:txBody>
      </p:sp>
      <p:sp>
        <p:nvSpPr>
          <p:cNvPr id="40" name="Google Shape;40;p9">
            <a:extLst xmlns:a="http://schemas.openxmlformats.org/drawingml/2006/main">
              <a:ext uri="{FF2B5EF4-FFF2-40B4-BE49-F238E27FC236}">
                <a16:creationId xmlns:a16="http://schemas.microsoft.com/office/drawing/2014/main" id="{2B342840-400F-4874-8320-B44506F31DC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5CEEAB2F-3193-4E83-85BD-E4A750AE7BB6}"/>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a:endParaRPr/>
          </a:p>
        </p:txBody>
      </p:sp>
      <p:sp>
        <p:nvSpPr>
          <p:cNvPr id="43" name="Google Shape;43;p10">
            <a:extLst xmlns:a="http://schemas.openxmlformats.org/drawingml/2006/main">
              <a:ext uri="{FF2B5EF4-FFF2-40B4-BE49-F238E27FC236}">
                <a16:creationId xmlns:a16="http://schemas.microsoft.com/office/drawing/2014/main" id="{566EB842-E292-412A-94AC-67AD1F17F26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2DF9E053-86C4-4648-8844-7BDA0FD5144C}"/>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CD3DD917-9F99-454E-9AA2-5E6964FF27B3}"/>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a:endParaRPr/>
          </a:p>
        </p:txBody>
      </p:sp>
      <p:sp>
        <p:nvSpPr>
          <p:cNvPr id="47" name="Google Shape;47;p11">
            <a:extLst xmlns:a="http://schemas.openxmlformats.org/drawingml/2006/main">
              <a:ext uri="{FF2B5EF4-FFF2-40B4-BE49-F238E27FC236}">
                <a16:creationId xmlns:a16="http://schemas.microsoft.com/office/drawing/2014/main" id="{671F256B-EF98-412D-9F30-BE0E89BF8C8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CB8E0429-447A-4386-8250-9D4FCDF1090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d3f212065148f3" /><Relationship Type="http://schemas.openxmlformats.org/officeDocument/2006/relationships/slideLayout" Target="/ppt/slideLayouts/slideLayout1.xml" Id="Ra11982134d5d4a5e" /><Relationship Type="http://schemas.openxmlformats.org/officeDocument/2006/relationships/slideLayout" Target="/ppt/slideLayouts/slideLayout2.xml" Id="Rdfdc9d5497c143a3" /><Relationship Type="http://schemas.openxmlformats.org/officeDocument/2006/relationships/slideLayout" Target="/ppt/slideLayouts/slideLayout3.xml" Id="R3cc11a12a8984690" /><Relationship Type="http://schemas.openxmlformats.org/officeDocument/2006/relationships/slideLayout" Target="/ppt/slideLayouts/slideLayout4.xml" Id="R771320f6163a420d" /><Relationship Type="http://schemas.openxmlformats.org/officeDocument/2006/relationships/slideLayout" Target="/ppt/slideLayouts/slideLayout5.xml" Id="Rf942b78956174ba7" /><Relationship Type="http://schemas.openxmlformats.org/officeDocument/2006/relationships/slideLayout" Target="/ppt/slideLayouts/slideLayout6.xml" Id="Rc45c1d781e9c4252" /><Relationship Type="http://schemas.openxmlformats.org/officeDocument/2006/relationships/slideLayout" Target="/ppt/slideLayouts/slideLayout7.xml" Id="Rbf0fadb10a6d4b8f" /><Relationship Type="http://schemas.openxmlformats.org/officeDocument/2006/relationships/slideLayout" Target="/ppt/slideLayouts/slideLayout8.xml" Id="R7d06577743334d3d" /><Relationship Type="http://schemas.openxmlformats.org/officeDocument/2006/relationships/slideLayout" Target="/ppt/slideLayouts/slideLayout9.xml" Id="Rdbd44ca3b6da41fe" /><Relationship Type="http://schemas.openxmlformats.org/officeDocument/2006/relationships/slideLayout" Target="/ppt/slideLayouts/slideLayout10.xml" Id="Red5d8d1cdca0468b" /><Relationship Type="http://schemas.openxmlformats.org/officeDocument/2006/relationships/slideLayout" Target="/ppt/slideLayouts/slideLayout11.xml" Id="R6120085842fa47a9"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dd31e9f0fdf24137" /><Relationship Type="http://schemas.openxmlformats.org/officeDocument/2006/relationships/slideLayout" Target="/ppt/slideLayouts/slideLayout12.xml" Id="Rde25a766d5e04136"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9B24F61E-9951-428B-BBC2-81C4DFA2E04A}"/>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a:endParaRPr/>
          </a:p>
        </p:txBody>
      </p:sp>
      <p:sp>
        <p:nvSpPr>
          <p:cNvPr id="7" name="Google Shape;7;p1">
            <a:extLst xmlns:a="http://schemas.openxmlformats.org/drawingml/2006/main">
              <a:ext uri="{FF2B5EF4-FFF2-40B4-BE49-F238E27FC236}">
                <a16:creationId xmlns:a16="http://schemas.microsoft.com/office/drawing/2014/main" id="{B52FB16F-5665-4188-BD28-14ED15F1CDE7}"/>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a:endParaRPr/>
          </a:p>
        </p:txBody>
      </p:sp>
      <p:sp>
        <p:nvSpPr>
          <p:cNvPr id="8" name="Google Shape;8;p1">
            <a:extLst xmlns:a="http://schemas.openxmlformats.org/drawingml/2006/main">
              <a:ext uri="{FF2B5EF4-FFF2-40B4-BE49-F238E27FC236}">
                <a16:creationId xmlns:a16="http://schemas.microsoft.com/office/drawing/2014/main" id="{39F386D1-759A-4179-AF3C-31212E9AE14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11982134d5d4a5e"/>
    <p:sldLayoutId xmlns:r="http://schemas.openxmlformats.org/officeDocument/2006/relationships" id="2147483650" r:id="Rdfdc9d5497c143a3"/>
    <p:sldLayoutId xmlns:r="http://schemas.openxmlformats.org/officeDocument/2006/relationships" id="2147483651" r:id="R3cc11a12a8984690"/>
    <p:sldLayoutId xmlns:r="http://schemas.openxmlformats.org/officeDocument/2006/relationships" id="2147483652" r:id="R771320f6163a420d"/>
    <p:sldLayoutId xmlns:r="http://schemas.openxmlformats.org/officeDocument/2006/relationships" id="2147483653" r:id="Rf942b78956174ba7"/>
    <p:sldLayoutId xmlns:r="http://schemas.openxmlformats.org/officeDocument/2006/relationships" id="2147483654" r:id="Rc45c1d781e9c4252"/>
    <p:sldLayoutId xmlns:r="http://schemas.openxmlformats.org/officeDocument/2006/relationships" id="2147483655" r:id="Rbf0fadb10a6d4b8f"/>
    <p:sldLayoutId xmlns:r="http://schemas.openxmlformats.org/officeDocument/2006/relationships" id="2147483656" r:id="R7d06577743334d3d"/>
    <p:sldLayoutId xmlns:r="http://schemas.openxmlformats.org/officeDocument/2006/relationships" id="2147483657" r:id="Rdbd44ca3b6da41fe"/>
    <p:sldLayoutId xmlns:r="http://schemas.openxmlformats.org/officeDocument/2006/relationships" id="2147483658" r:id="Red5d8d1cdca0468b"/>
    <p:sldLayoutId xmlns:r="http://schemas.openxmlformats.org/officeDocument/2006/relationships" id="2147483659" r:id="R6120085842fa47a9"/>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61" r:id="Rde25a766d5e04136"/>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32ae51ea89c6467e" /><Relationship Type="http://schemas.openxmlformats.org/officeDocument/2006/relationships/image" Target="/ppt/media/image.png" Id="R6ac7411772294dd3" /><Relationship Type="http://schemas.openxmlformats.org/officeDocument/2006/relationships/image" Target="/ppt/media/image2.png" Id="Rab924dcaefef4e6c" /><Relationship Type="http://schemas.openxmlformats.org/officeDocument/2006/relationships/image" Target="/ppt/media/image3.png" Id="Rcacbe28a2c524710" /><Relationship Type="http://schemas.openxmlformats.org/officeDocument/2006/relationships/notesSlide" Target="/ppt/notesSlides/notesSlide1.xml" Id="R4b16f29cc80146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2.xml" Id="Re73ea4ba6d9745c7" /><Relationship Type="http://schemas.openxmlformats.org/officeDocument/2006/relationships/image" Target="/ppt/media/image4.png" Id="R17d5e6c7855d41b8" /><Relationship Type="http://schemas.openxmlformats.org/officeDocument/2006/relationships/hyperlink" Target="https://proceedings.neurips.cc/paper_files/paper/2024/hash/97091a5177d8dc64b1da8bf3e1f6fb54-Abstract-Datasets_and_Benchmarks_Track.html" TargetMode="External" Id="R4326235acada4bb1" /><Relationship Type="http://schemas.openxmlformats.org/officeDocument/2006/relationships/hyperlink" Target="https://aclanthology.org/2024.findings-acl.624/" TargetMode="External" Id="Ra71fb07107254f49" /><Relationship Type="http://schemas.openxmlformats.org/officeDocument/2006/relationships/notesSlide" Target="/ppt/notesSlides/notesSlide2.xml" Id="R4709e04b5fb045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2.xml" Id="R96f7e11401584c1f" /><Relationship Type="http://schemas.openxmlformats.org/officeDocument/2006/relationships/image" Target="/ppt/media/image4.png" Id="R24caea347c234c49" /><Relationship Type="http://schemas.openxmlformats.org/officeDocument/2006/relationships/image" Target="/ppt/media/image5.png" Id="R5b137303910e4da8" /><Relationship Type="http://schemas.openxmlformats.org/officeDocument/2006/relationships/image" Target="/ppt/media/image6.png" Id="R9165d498c3134574" /><Relationship Type="http://schemas.openxmlformats.org/officeDocument/2006/relationships/image" Target="/ppt/media/image7.png" Id="Re88ae1265d9c4b39" /><Relationship Type="http://schemas.openxmlformats.org/officeDocument/2006/relationships/image" Target="/ppt/media/image8.png" Id="R2cf9d6b3141b446f" /><Relationship Type="http://schemas.openxmlformats.org/officeDocument/2006/relationships/image" Target="/ppt/media/image9.png" Id="R6bac7cf8d2ea477c" /><Relationship Type="http://schemas.openxmlformats.org/officeDocument/2006/relationships/image" Target="/ppt/media/image10.png" Id="Rf3981ee07fef4bb3" /><Relationship Type="http://schemas.openxmlformats.org/officeDocument/2006/relationships/image" Target="/ppt/media/image11.png" Id="R0f1bc2926f0b47d6" /><Relationship Type="http://schemas.openxmlformats.org/officeDocument/2006/relationships/image" Target="/ppt/media/image12.png" Id="R970c88a269e841e1" /><Relationship Type="http://schemas.openxmlformats.org/officeDocument/2006/relationships/image" Target="/ppt/media/image13.png" Id="R0b599acf159d4ca4" /><Relationship Type="http://schemas.openxmlformats.org/officeDocument/2006/relationships/image" Target="/ppt/media/image14.png" Id="R594a28e5ac5f404e" /><Relationship Type="http://schemas.openxmlformats.org/officeDocument/2006/relationships/hyperlink" Target="https://arxiv.org/abs/2107.08430" TargetMode="External" Id="Rbccea331cbd34708" /><Relationship Type="http://schemas.openxmlformats.org/officeDocument/2006/relationships/hyperlink" Target="https://arxiv.org/abs/2009.09941" TargetMode="External" Id="Rbbcdbd655499447c" /><Relationship Type="http://schemas.openxmlformats.org/officeDocument/2006/relationships/hyperlink" Target="https://arxiv.org/abs/2511.21631" TargetMode="External" Id="R27634505e0d2471c" /><Relationship Type="http://schemas.openxmlformats.org/officeDocument/2006/relationships/hyperlink" Target="https://www.mit.edu/~Saltzer/publications/protection/index.html" TargetMode="External" Id="R1618a141e1b44671" /><Relationship Type="http://schemas.openxmlformats.org/officeDocument/2006/relationships/hyperlink" Target="https://www.schneier.com/academic/archives/1999/05/secure_audit_logs_to.html" TargetMode="External" Id="R576b94dabb214774" /><Relationship Type="http://schemas.openxmlformats.org/officeDocument/2006/relationships/image" Target="/ppt/media/image15.png" Id="R897e568829a649fa" /><Relationship Type="http://schemas.openxmlformats.org/officeDocument/2006/relationships/image" Target="/ppt/media/image16.png" Id="R3027d286238e4231" /><Relationship Type="http://schemas.openxmlformats.org/officeDocument/2006/relationships/image" Target="/ppt/media/image17.png" Id="R56bfb7df77384f5b" /><Relationship Type="http://schemas.openxmlformats.org/officeDocument/2006/relationships/image" Target="/ppt/media/image18.png" Id="R41a0d10effc5403f" /><Relationship Type="http://schemas.openxmlformats.org/officeDocument/2006/relationships/image" Target="/ppt/media/image19.png" Id="R5755e72c5ca249f4" /><Relationship Type="http://schemas.openxmlformats.org/officeDocument/2006/relationships/image" Target="/ppt/media/image20.png" Id="R5c2be2a51376428e" /><Relationship Type="http://schemas.openxmlformats.org/officeDocument/2006/relationships/image" Target="/ppt/media/image21.png" Id="R596c802787964426" /><Relationship Type="http://schemas.openxmlformats.org/officeDocument/2006/relationships/image" Target="/ppt/media/image22.png" Id="R4b22421067b44ef5" /><Relationship Type="http://schemas.openxmlformats.org/officeDocument/2006/relationships/image" Target="/ppt/media/image23.png" Id="R436ae8cca43147e1" /><Relationship Type="http://schemas.openxmlformats.org/officeDocument/2006/relationships/image" Target="/ppt/media/image24.png" Id="R7d22a59cde1e4104" /><Relationship Type="http://schemas.openxmlformats.org/officeDocument/2006/relationships/image" Target="/ppt/media/image25.png" Id="R3f67226407384594" /><Relationship Type="http://schemas.openxmlformats.org/officeDocument/2006/relationships/image" Target="/ppt/media/image26.png" Id="R6ba3a127ac0d4757" /><Relationship Type="http://schemas.openxmlformats.org/officeDocument/2006/relationships/image" Target="/ppt/media/image27.png" Id="R4af875fc9acb4190" /><Relationship Type="http://schemas.openxmlformats.org/officeDocument/2006/relationships/notesSlide" Target="/ppt/notesSlides/notesSlide3.xml" Id="R1145958934de4b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2.xml" Id="R7d3a201436554034" /><Relationship Type="http://schemas.openxmlformats.org/officeDocument/2006/relationships/image" Target="/ppt/media/image4.png" Id="Ra5f47396d01446c3" /><Relationship Type="http://schemas.openxmlformats.org/officeDocument/2006/relationships/hyperlink" Target="https://aclanthology.org/2024.acl-long.50/" TargetMode="External" Id="Ra6de4428c15a4e2e" /><Relationship Type="http://schemas.openxmlformats.org/officeDocument/2006/relationships/notesSlide" Target="/ppt/notesSlides/notesSlide4.xml" Id="Rf9405b714c4047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2.xml" Id="Rff91cda76f664dab" /><Relationship Type="http://schemas.openxmlformats.org/officeDocument/2006/relationships/image" Target="/ppt/media/image4.png" Id="R7b64bfad167f4e14" /><Relationship Type="http://schemas.openxmlformats.org/officeDocument/2006/relationships/image" Target="/ppt/media/image.jpeg" Id="R20b2799057324b49" /><Relationship Type="http://schemas.openxmlformats.org/officeDocument/2006/relationships/notesSlide" Target="/ppt/notesSlides/notesSlide5.xml" Id="R1fa85be1f6b149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2.xml" Id="R64c96af35d33480f" /><Relationship Type="http://schemas.openxmlformats.org/officeDocument/2006/relationships/image" Target="/ppt/media/image4.png" Id="Rfc2814ef2aa84a73" /><Relationship Type="http://schemas.openxmlformats.org/officeDocument/2006/relationships/hyperlink" Target="https://arxiv.org/abs/2107.08430" TargetMode="External" Id="R55381e7e01d242c3" /><Relationship Type="http://schemas.openxmlformats.org/officeDocument/2006/relationships/hyperlink" Target="https://arxiv.org/abs/2009.09941" TargetMode="External" Id="R563c9bd37f0e4915" /><Relationship Type="http://schemas.openxmlformats.org/officeDocument/2006/relationships/hyperlink" Target="https://arxiv.org/abs/2511.21631" TargetMode="External" Id="R535aef2f0df04b47" /><Relationship Type="http://schemas.openxmlformats.org/officeDocument/2006/relationships/hyperlink" Target="https://aclanthology.org/2024.acl-long.50/" TargetMode="External" Id="Rc6191ee8cdff4841" /><Relationship Type="http://schemas.openxmlformats.org/officeDocument/2006/relationships/hyperlink" Target="https://proceedings.neurips.cc/paper_files/paper/2024/hash/97091a5177d8dc64b1da8bf3e1f6fb54-Abstract-Datasets_and_Benchmarks_Track.html" TargetMode="External" Id="Rb8f0a738757b485c" /><Relationship Type="http://schemas.openxmlformats.org/officeDocument/2006/relationships/hyperlink" Target="https://aclanthology.org/2024.findings-acl.624/" TargetMode="External" Id="Re4d4524dfaa6433a" /><Relationship Type="http://schemas.openxmlformats.org/officeDocument/2006/relationships/hyperlink" Target="https://www.mit.edu/~Saltzer/publications/protection/index.html" TargetMode="External" Id="Rd07c8c73e13c449a" /><Relationship Type="http://schemas.openxmlformats.org/officeDocument/2006/relationships/hyperlink" Target="https://www.schneier.com/academic/archives/1999/05/secure_audit_logs_to.html" TargetMode="External" Id="R4d2d5bc4c9ee48a6" /><Relationship Type="http://schemas.openxmlformats.org/officeDocument/2006/relationships/hyperlink" Target="https://github.com/Arindam636-prog/chr0m1um" TargetMode="External" Id="R2e17b2cc55f84140" /><Relationship Type="http://schemas.openxmlformats.org/officeDocument/2006/relationships/hyperlink" Target="https://github.com/Arindam636-prog/chr0m1um/blob/main/docs/RAILWAY-VALIDATION.md" TargetMode="External" Id="R4fc058cb0ebf457c" /><Relationship Type="http://schemas.openxmlformats.org/officeDocument/2006/relationships/hyperlink" Target="https://github.com/Arindam636-prog/chr0m1um/blob/main/docs/RAILWAY-DEMO.md" TargetMode="External" Id="R3aa0370771dc417f" /><Relationship Type="http://schemas.openxmlformats.org/officeDocument/2006/relationships/notesSlide" Target="/ppt/notesSlides/notesSlide6.xml" Id="R830396bd38e9406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5" name="Google Shape;57;p15"/>
          <p:cNvPicPr>
            <a:picLocks xmlns:a="http://schemas.openxmlformats.org/drawingml/2006/main" noChangeAspect="1"/>
          </p:cNvPicPr>
          <p:nvPr/>
        </p:nvPicPr>
        <p:blipFill rotWithShape="1">
          <a:blip xmlns:r="http://schemas.openxmlformats.org/officeDocument/2006/relationships" xmlns:a="http://schemas.openxmlformats.org/drawingml/2006/main" r:embed="R6ac7411772294dd3">
            <a:alphaModFix/>
          </a:blip>
          <a:srcRect xmlns:a="http://schemas.openxmlformats.org/drawingml/2006/main" l="0" t="0" r="0" b="8361"/>
          <a:stretch xmlns:a="http://schemas.openxmlformats.org/drawingml/2006/main"/>
        </p:blipFill>
        <p:spPr>
          <a:xfrm xmlns:a="http://schemas.openxmlformats.org/drawingml/2006/main">
            <a:off x="0" y="210979"/>
            <a:ext cx="9144000" cy="4713446"/>
          </a:xfrm>
          <a:prstGeom xmlns:a="http://schemas.openxmlformats.org/drawingml/2006/main" prst="rect">
            <a:avLst/>
          </a:prstGeom>
          <a:ln xmlns:a="http://schemas.openxmlformats.org/drawingml/2006/main">
            <a:noFill/>
          </a:ln>
        </p:spPr>
      </p:pic>
      <p:pic>
        <p:nvPicPr>
          <p:cNvPr id="16" name="Picture 2"/>
          <p:cNvPicPr>
            <a:picLocks xmlns:a="http://schemas.openxmlformats.org/drawingml/2006/main" noChangeAspect="1"/>
          </p:cNvPicPr>
          <p:nvPr/>
        </p:nvPicPr>
        <p:blipFill>
          <a:blip xmlns:r="http://schemas.openxmlformats.org/officeDocument/2006/relationships" xmlns:a="http://schemas.openxmlformats.org/drawingml/2006/main" r:embed="Rab924dcaefef4e6c"/>
          <a:stretch xmlns:a="http://schemas.openxmlformats.org/drawingml/2006/main">
            <a:fillRect l="0" t="0" r="0" b="0"/>
          </a:stretch>
        </p:blipFill>
        <p:spPr>
          <a:xfrm xmlns:a="http://schemas.openxmlformats.org/drawingml/2006/main">
            <a:off x="1227015" y="3910884"/>
            <a:ext cx="1697404" cy="629854"/>
          </a:xfrm>
          <a:prstGeom xmlns:a="http://schemas.openxmlformats.org/drawingml/2006/main" prst="rect">
            <a:avLst/>
          </a:prstGeom>
        </p:spPr>
      </p:pic>
      <p:pic>
        <p:nvPicPr>
          <p:cNvPr id="17" name="Picture 3"/>
          <p:cNvPicPr>
            <a:picLocks xmlns:a="http://schemas.openxmlformats.org/drawingml/2006/main" noChangeAspect="1"/>
          </p:cNvPicPr>
          <p:nvPr/>
        </p:nvPicPr>
        <p:blipFill>
          <a:blip xmlns:r="http://schemas.openxmlformats.org/officeDocument/2006/relationships" xmlns:a="http://schemas.openxmlformats.org/drawingml/2006/main" r:embed="Rcacbe28a2c524710"/>
          <a:stretch xmlns:a="http://schemas.openxmlformats.org/drawingml/2006/main">
            <a:fillRect l="0" t="0" r="0" b="0"/>
          </a:stretch>
        </p:blipFill>
        <p:spPr>
          <a:xfrm xmlns:a="http://schemas.openxmlformats.org/drawingml/2006/main">
            <a:off x="2786467" y="1232451"/>
            <a:ext cx="2824286" cy="481661"/>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B190059C-8A8B-F295-5353-59C1C3279088}"/>
              </a:ext>
            </a:extLst>
          </p:cNvPr>
          <p:cNvSpPr>
            <a:spLocks xmlns:a="http://schemas.openxmlformats.org/drawingml/2006/main" noGrp="1"/>
          </p:cNvSpPr>
          <p:nvPr/>
        </p:nvSpPr>
        <p:spPr>
          <a:xfrm xmlns:a="http://schemas.openxmlformats.org/drawingml/2006/main">
            <a:off x="2786467" y="1288615"/>
            <a:ext cx="1591922"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1">
                <a:solidFill>
                  <a:srgbClr val="007500"/>
                </a:solidFill>
              </a:rPr>
              <a:t>SIH26171</a:t>
            </a:r>
          </a:p>
        </p:txBody>
      </p:sp>
      <p:sp>
        <p:nvSpPr>
          <p:cNvPr id="9" name="Cover footer within slide">
            <a:extLst xmlns:a="http://schemas.openxmlformats.org/drawingml/2006/main">
              <a:ext uri="{FF2B5EF4-FFF2-40B4-BE49-F238E27FC236}">
                <a16:creationId xmlns:a16="http://schemas.microsoft.com/office/drawing/2014/main" id="{87D16E1E-2D80-499E-965B-38E48DA21674}"/>
              </a:ext>
            </a:extLst>
          </p:cNvPr>
          <p:cNvSpPr>
            <a:spLocks xmlns:a="http://schemas.openxmlformats.org/drawingml/2006/main" noGrp="1"/>
          </p:cNvSpPr>
          <p:nvPr/>
        </p:nvSpPr>
        <p:spPr>
          <a:xfrm xmlns:a="http://schemas.openxmlformats.org/drawingml/2006/main">
            <a:off x="0" y="4924425"/>
            <a:ext cx="9144000" cy="219075"/>
          </a:xfrm>
          <a:prstGeom xmlns:a="http://schemas.openxmlformats.org/drawingml/2006/main" prst="rect">
            <a:avLst/>
          </a:prstGeom>
          <a:solidFill xmlns:a="http://schemas.openxmlformats.org/drawingml/2006/main">
            <a:srgbClr val="087ABD"/>
          </a:solidFill>
          <a:ln xmlns:a="http://schemas.openxmlformats.org/drawingml/2006/main" w="0">
            <a:solidFill>
              <a:srgbClr val="087ABD"/>
            </a:solidFill>
          </a:ln>
        </p:spPr>
      </p:sp>
      <p:sp>
        <p:nvSpPr>
          <p:cNvPr id="10" name="Cover team footer">
            <a:extLst xmlns:a="http://schemas.openxmlformats.org/drawingml/2006/main">
              <a:ext uri="{FF2B5EF4-FFF2-40B4-BE49-F238E27FC236}">
                <a16:creationId xmlns:a16="http://schemas.microsoft.com/office/drawing/2014/main" id="{00DE3291-1421-4424-AA80-7424DDA8E78A}"/>
              </a:ext>
            </a:extLst>
          </p:cNvPr>
          <p:cNvSpPr>
            <a:spLocks xmlns:a="http://schemas.openxmlformats.org/drawingml/2006/main" noGrp="1"/>
          </p:cNvSpPr>
          <p:nvPr/>
        </p:nvSpPr>
        <p:spPr>
          <a:xfrm xmlns:a="http://schemas.openxmlformats.org/drawingml/2006/main">
            <a:off x="3048000" y="4933950"/>
            <a:ext cx="3048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p xmlns:a="http://schemas.openxmlformats.org/drawingml/2006/main">
            <a:pPr algn="ctr">
              <a:buNone/>
              <a:defRPr sz="1200" b="1">
                <a:solidFill>
                  <a:srgbClr val="FFFFFF"/>
                </a:solidFill>
                <a:latin typeface="Arial Narrow"/>
                <a:ea typeface="Arial Narrow"/>
                <a:cs typeface="Arial Narrow"/>
              </a:defRPr>
            </a:pPr>
            <a:r>
              <a:rPr sz="1200" b="1">
                <a:solidFill>
                  <a:srgbClr val="FFFFFF"/>
                </a:solidFill>
                <a:latin typeface="Arial Narrow"/>
                <a:ea typeface="Arial Narrow"/>
                <a:cs typeface="Arial Narrow"/>
              </a:rPr>
              <a:t>@chr0m1um</a:t>
            </a:r>
          </a:p>
        </p:txBody>
      </p:sp>
      <p:sp>
        <p:nvSpPr>
          <p:cNvPr id="11" name="Cover page number">
            <a:extLst xmlns:a="http://schemas.openxmlformats.org/drawingml/2006/main">
              <a:ext uri="{FF2B5EF4-FFF2-40B4-BE49-F238E27FC236}">
                <a16:creationId xmlns:a16="http://schemas.microsoft.com/office/drawing/2014/main" id="{A8BCE971-D94C-4453-AB10-02AE12D04ABA}"/>
              </a:ext>
            </a:extLst>
          </p:cNvPr>
          <p:cNvSpPr>
            <a:spLocks xmlns:a="http://schemas.openxmlformats.org/drawingml/2006/main" noGrp="1"/>
          </p:cNvSpPr>
          <p:nvPr/>
        </p:nvSpPr>
        <p:spPr>
          <a:xfrm xmlns:a="http://schemas.openxmlformats.org/drawingml/2006/main">
            <a:off x="8829675" y="4933950"/>
            <a:ext cx="190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p xmlns:a="http://schemas.openxmlformats.org/drawingml/2006/main">
            <a:pPr algn="ctr">
              <a:buNone/>
              <a:defRPr sz="1200" b="1">
                <a:solidFill>
                  <a:srgbClr val="FFFFFF"/>
                </a:solidFill>
                <a:latin typeface="Arial Narrow"/>
                <a:ea typeface="Arial Narrow"/>
                <a:cs typeface="Arial Narrow"/>
              </a:defRPr>
            </a:pPr>
            <a:r>
              <a:rPr sz="1200" b="1">
                <a:solidFill>
                  <a:srgbClr val="FFFFFF"/>
                </a:solidFill>
                <a:latin typeface="Arial Narrow"/>
                <a:ea typeface="Arial Narrow"/>
                <a:cs typeface="Arial Narrow"/>
              </a:rPr>
              <a:t>1</a:t>
            </a:r>
          </a:p>
        </p:txBody>
      </p:sp>
    </p:spTree>
    <p:extLst>
      <p:ext uri="{BB962C8B-B14F-4D97-AF65-F5344CB8AC3E}">
        <p14:creationId xmlns:p14="http://schemas.microsoft.com/office/powerpoint/2010/main" val="21361175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 name="Google Shape;63;p16">
            <a:extLst xmlns:a="http://schemas.openxmlformats.org/drawingml/2006/main">
              <a:ext uri="{FF2B5EF4-FFF2-40B4-BE49-F238E27FC236}">
                <a16:creationId xmlns:a16="http://schemas.microsoft.com/office/drawing/2014/main" id="{B1A0EA8C-C675-41DD-AFDE-D6CB9F1FCC23}"/>
              </a:ext>
            </a:extLst>
          </p:cNvPr>
          <p:cNvSpPr>
            <a:spLocks xmlns:a="http://schemas.openxmlformats.org/drawingml/2006/main" noGrp="1"/>
          </p:cNvSpPr>
          <p:nvPr/>
        </p:nvSpPr>
        <p:spPr>
          <a:xfrm xmlns:a="http://schemas.openxmlformats.org/drawingml/2006/main">
            <a:off x="171450" y="100013"/>
            <a:ext cx="314325" cy="3143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pic>
        <p:nvPicPr>
          <p:cNvPr id="111" name="Google Shape;65;p16"/>
          <p:cNvPicPr>
            <a:picLocks xmlns:a="http://schemas.openxmlformats.org/drawingml/2006/main" noChangeAspect="1"/>
          </p:cNvPicPr>
          <p:nvPr/>
        </p:nvPicPr>
        <p:blipFill rotWithShape="1">
          <a:blip xmlns:r="http://schemas.openxmlformats.org/officeDocument/2006/relationships" xmlns:a="http://schemas.openxmlformats.org/drawingml/2006/main" r:embed="R17d5e6c7855d41b8">
            <a:alphaModFix/>
          </a:blip>
          <a:srcRect xmlns:a="http://schemas.openxmlformats.org/drawingml/2006/main" l="0" t="0" r="0" b="0"/>
          <a:stretch xmlns:a="http://schemas.openxmlformats.org/drawingml/2006/main"/>
        </p:blipFill>
        <p:spPr>
          <a:xfrm xmlns:a="http://schemas.openxmlformats.org/drawingml/2006/main">
            <a:off x="7537042" y="35719"/>
            <a:ext cx="1342253" cy="628650"/>
          </a:xfrm>
          <a:prstGeom xmlns:a="http://schemas.openxmlformats.org/drawingml/2006/main" prst="rect">
            <a:avLst/>
          </a:prstGeom>
          <a:ln xmlns:a="http://schemas.openxmlformats.org/drawingml/2006/main">
            <a:noFill/>
          </a:ln>
        </p:spPr>
      </p:pic>
      <p:sp>
        <p:nvSpPr>
          <p:cNvPr id="66" name="Google Shape;66;p16">
            <a:extLst xmlns:a="http://schemas.openxmlformats.org/drawingml/2006/main">
              <a:ext uri="{FF2B5EF4-FFF2-40B4-BE49-F238E27FC236}">
                <a16:creationId xmlns:a16="http://schemas.microsoft.com/office/drawing/2014/main" id="{ADB4AC88-FDF9-4EAE-BC4D-4A26F68EAA2E}"/>
              </a:ext>
            </a:extLst>
          </p:cNvPr>
          <p:cNvSpPr>
            <a:spLocks xmlns:a="http://schemas.openxmlformats.org/drawingml/2006/main" noGrp="1"/>
          </p:cNvSpPr>
          <p:nvPr/>
        </p:nvSpPr>
        <p:spPr>
          <a:xfrm xmlns:a="http://schemas.openxmlformats.org/drawingml/2006/main">
            <a:off x="1464469" y="121444"/>
            <a:ext cx="5929313" cy="3857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4300" tIns="0" rIns="14300" bIns="0" anchor="ctr">
            <a:noAutofit/>
          </a:bodyPr>
          <a:lstStyle xmlns:a="http://schemas.openxmlformats.org/drawingml/2006/main"/>
          <a:p xmlns:a="http://schemas.openxmlformats.org/drawingml/2006/main">
            <a:pPr marL="0" marR="0" lvl="0" indent="0" algn="ctr">
              <a:lnSpc>
                <a:spcPct val="102000"/>
              </a:lnSpc>
              <a:spcBef>
                <a:spcPts val="0"/>
              </a:spcBef>
              <a:spcAft>
                <a:spcPts val="0"/>
              </a:spcAft>
              <a:buClr>
                <a:srgbClr val="050505"/>
              </a:buClr>
              <a:buSzPts val="2200"/>
              <a:buFont typeface="Arial Narrow"/>
              <a:buNone/>
            </a:pPr>
            <a:r>
              <a:rPr sz="2200" b="1" i="0">
                <a:solidFill>
                  <a:srgbClr val="050505"/>
                </a:solidFill>
                <a:latin typeface="Arial Narrow"/>
                <a:ea typeface="Arial Narrow"/>
                <a:cs typeface="Arial Narrow"/>
              </a:rPr>
              <a:t>CONTEXT SHIELD</a:t>
            </a:r>
            <a:endParaRPr sz="1100"/>
          </a:p>
        </p:txBody>
      </p:sp>
      <p:sp>
        <p:nvSpPr>
          <p:cNvPr id="67" name="Google Shape;67;p16">
            <a:extLst xmlns:a="http://schemas.openxmlformats.org/drawingml/2006/main">
              <a:ext uri="{FF2B5EF4-FFF2-40B4-BE49-F238E27FC236}">
                <a16:creationId xmlns:a16="http://schemas.microsoft.com/office/drawing/2014/main" id="{E9922B17-5C44-4658-A223-756BE1B368B1}"/>
              </a:ext>
            </a:extLst>
          </p:cNvPr>
          <p:cNvSpPr>
            <a:spLocks xmlns:a="http://schemas.openxmlformats.org/drawingml/2006/main" noGrp="1"/>
          </p:cNvSpPr>
          <p:nvPr/>
        </p:nvSpPr>
        <p:spPr>
          <a:xfrm xmlns:a="http://schemas.openxmlformats.org/drawingml/2006/main">
            <a:off x="0" y="4764881"/>
            <a:ext cx="9144000" cy="378619"/>
          </a:xfrm>
          <a:prstGeom xmlns:a="http://schemas.openxmlformats.org/drawingml/2006/main" prst="rect">
            <a:avLst/>
          </a:prstGeom>
          <a:solidFill xmlns:a="http://schemas.openxmlformats.org/drawingml/2006/main">
            <a:srgbClr val="087ABD"/>
          </a:solidFill>
          <a:ln xmlns:a="http://schemas.openxmlformats.org/drawingml/2006/main" w="9525" cmpd="sng">
            <a:solidFill>
              <a:srgbClr val="087ABD"/>
            </a:solidFill>
            <a:prstDash val="solid"/>
            <a:headEnd type="none" w="sm" len="sm"/>
            <a:tailEnd type="none" w="sm" len="sm"/>
          </a:ln>
        </p:spPr>
        <p:txBody>
          <a:bodyPr xmlns:a="http://schemas.openxmlformats.org/drawingml/2006/main" spcFirstLastPara="1" wrap="square" lIns="68575" tIns="34275" rIns="68575" bIns="34275" anchor="t">
            <a:noAutofit/>
          </a:bodyPr>
          <a:lstStyle xmlns:a="http://schemas.openxmlformats.org/drawingml/2006/main"/>
          <a:p xmlns:a="http://schemas.openxmlformats.org/drawingml/2006/main">
            <a:pPr marL="0" marR="0" lvl="0" indent="0" algn="l">
              <a:spcBef>
                <a:spcPts val="0"/>
              </a:spcBef>
              <a:spcAft>
                <a:spcPts val="0"/>
              </a:spcAft>
              <a:buNone/>
            </a:pPr>
            <a:endParaRPr sz="1400">
              <a:solidFill>
                <a:schemeClr val="dk1"/>
              </a:solidFill>
              <a:latin typeface="Calibri"/>
              <a:ea typeface="Calibri"/>
              <a:cs typeface="Calibri"/>
            </a:endParaRPr>
          </a:p>
        </p:txBody>
      </p:sp>
      <p:sp>
        <p:nvSpPr>
          <p:cNvPr id="68" name="Google Shape;68;p16">
            <a:extLst xmlns:a="http://schemas.openxmlformats.org/drawingml/2006/main">
              <a:ext uri="{FF2B5EF4-FFF2-40B4-BE49-F238E27FC236}">
                <a16:creationId xmlns:a16="http://schemas.microsoft.com/office/drawing/2014/main" id="{8453AC87-698B-49EB-B52E-4A06BF03C2B2}"/>
              </a:ext>
            </a:extLst>
          </p:cNvPr>
          <p:cNvSpPr>
            <a:spLocks xmlns:a="http://schemas.openxmlformats.org/drawingml/2006/main" noGrp="1"/>
          </p:cNvSpPr>
          <p:nvPr/>
        </p:nvSpPr>
        <p:spPr>
          <a:xfrm xmlns:a="http://schemas.openxmlformats.org/drawingml/2006/main">
            <a:off x="3157538" y="4786313"/>
            <a:ext cx="2828925" cy="3143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2000"/>
              </a:lnSpc>
              <a:spcBef>
                <a:spcPts val="0"/>
              </a:spcBef>
              <a:spcAft>
                <a:spcPts val="0"/>
              </a:spcAft>
              <a:buClr>
                <a:srgbClr val="FFFFFF"/>
              </a:buClr>
              <a:buSzPts val="1700"/>
              <a:buFont typeface="Arial Narrow"/>
              <a:buNone/>
            </a:pPr>
            <a:r>
              <a:rPr sz="1700" b="1" i="0">
                <a:solidFill>
                  <a:srgbClr val="FFFFFF"/>
                </a:solidFill>
                <a:latin typeface="Arial Narrow"/>
                <a:ea typeface="Arial Narrow"/>
                <a:cs typeface="Arial Narrow"/>
              </a:rPr>
              <a:t>@chr0m1um</a:t>
            </a:r>
            <a:endParaRPr sz="1100"/>
          </a:p>
        </p:txBody>
      </p:sp>
      <p:sp>
        <p:nvSpPr>
          <p:cNvPr id="69" name="Google Shape;69;p16">
            <a:extLst xmlns:a="http://schemas.openxmlformats.org/drawingml/2006/main">
              <a:ext uri="{FF2B5EF4-FFF2-40B4-BE49-F238E27FC236}">
                <a16:creationId xmlns:a16="http://schemas.microsoft.com/office/drawing/2014/main" id="{BAE52C7D-5F16-426A-9EB4-FA345F6679CA}"/>
              </a:ext>
            </a:extLst>
          </p:cNvPr>
          <p:cNvSpPr>
            <a:spLocks xmlns:a="http://schemas.openxmlformats.org/drawingml/2006/main" noGrp="1"/>
          </p:cNvSpPr>
          <p:nvPr/>
        </p:nvSpPr>
        <p:spPr>
          <a:xfrm xmlns:a="http://schemas.openxmlformats.org/drawingml/2006/main">
            <a:off x="8708231" y="4779169"/>
            <a:ext cx="300038" cy="32146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2000"/>
              </a:lnSpc>
              <a:spcBef>
                <a:spcPts val="0"/>
              </a:spcBef>
              <a:spcAft>
                <a:spcPts val="0"/>
              </a:spcAft>
              <a:buClr>
                <a:srgbClr val="FFFFFF"/>
              </a:buClr>
              <a:buSzPts val="1500"/>
              <a:buFont typeface="Arial Narrow"/>
              <a:buNone/>
            </a:pPr>
            <a:r>
              <a:rPr sz="1500" b="1" i="0">
                <a:solidFill>
                  <a:srgbClr val="FFFFFF"/>
                </a:solidFill>
                <a:latin typeface="Arial Narrow"/>
                <a:ea typeface="Arial Narrow"/>
                <a:cs typeface="Arial Narrow"/>
              </a:rPr>
              <a:t>2</a:t>
            </a:r>
            <a:endParaRPr sz="1100"/>
          </a:p>
        </p:txBody>
      </p:sp>
      <p:sp>
        <p:nvSpPr>
          <p:cNvPr id="70" name="Google Shape;70;p16">
            <a:extLst xmlns:a="http://schemas.openxmlformats.org/drawingml/2006/main">
              <a:ext uri="{FF2B5EF4-FFF2-40B4-BE49-F238E27FC236}">
                <a16:creationId xmlns:a16="http://schemas.microsoft.com/office/drawing/2014/main" id="{D5A5E3C9-E159-489A-86D5-0EEA03B1A073}"/>
              </a:ext>
            </a:extLst>
          </p:cNvPr>
          <p:cNvSpPr>
            <a:spLocks xmlns:a="http://schemas.openxmlformats.org/drawingml/2006/main" noGrp="1"/>
          </p:cNvSpPr>
          <p:nvPr/>
        </p:nvSpPr>
        <p:spPr>
          <a:xfrm xmlns:a="http://schemas.openxmlformats.org/drawingml/2006/main">
            <a:off x="952500" y="495300"/>
            <a:ext cx="6477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6000"/>
              </a:lnSpc>
              <a:spcBef>
                <a:spcPts val="0"/>
              </a:spcBef>
              <a:spcAft>
                <a:spcPts val="0"/>
              </a:spcAft>
              <a:buClr>
                <a:srgbClr val="64748B"/>
              </a:buClr>
              <a:buSzPts val="800"/>
              <a:buFont typeface="Arial"/>
              <a:buNone/>
              <a:defRPr sz="900" b="0" i="0">
                <a:solidFill>
                  <a:srgbClr val="64748B"/>
                </a:solidFill>
                <a:latin typeface="Arial"/>
                <a:ea typeface="Arial"/>
                <a:cs typeface="Arial"/>
              </a:defRPr>
            </a:pPr>
            <a:r>
              <a:rPr sz="900" b="0" i="0">
                <a:solidFill>
                  <a:srgbClr val="64748B"/>
                </a:solidFill>
                <a:latin typeface="Arial"/>
                <a:ea typeface="Arial"/>
                <a:cs typeface="Arial"/>
              </a:rPr>
              <a:t>Browser assistance with local perception and explicit control</a:t>
            </a:r>
            <a:endParaRPr sz="1100"/>
          </a:p>
        </p:txBody>
      </p:sp>
      <p:sp>
        <p:nvSpPr>
          <p:cNvPr id="97" name="Problem heading">
            <a:extLst xmlns:a="http://schemas.openxmlformats.org/drawingml/2006/main">
              <a:ext uri="{FF2B5EF4-FFF2-40B4-BE49-F238E27FC236}">
                <a16:creationId xmlns:a16="http://schemas.microsoft.com/office/drawing/2014/main" id="{4B532667-B47C-4182-A262-DEE126E0B0F2}"/>
              </a:ext>
            </a:extLst>
          </p:cNvPr>
          <p:cNvSpPr>
            <a:spLocks xmlns:a="http://schemas.openxmlformats.org/drawingml/2006/main" noGrp="1"/>
          </p:cNvSpPr>
          <p:nvPr/>
        </p:nvSpPr>
        <p:spPr>
          <a:xfrm xmlns:a="http://schemas.openxmlformats.org/drawingml/2006/main">
            <a:off x="285750" y="847725"/>
            <a:ext cx="3238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900" b="1" i="0">
                <a:solidFill>
                  <a:srgbClr val="17964B"/>
                </a:solidFill>
                <a:latin typeface="Arial"/>
                <a:ea typeface="Arial"/>
                <a:cs typeface="Arial"/>
              </a:defRPr>
            </a:pPr>
            <a:r>
              <a:rPr sz="900" b="1" i="0">
                <a:solidFill>
                  <a:srgbClr val="17964B"/>
                </a:solidFill>
                <a:latin typeface="Arial"/>
                <a:ea typeface="Arial"/>
                <a:cs typeface="Arial"/>
              </a:rPr>
              <a:t>THE PROBLEM</a:t>
            </a:r>
          </a:p>
        </p:txBody>
      </p:sp>
      <p:sp>
        <p:nvSpPr>
          <p:cNvPr id="98" name="Core problem">
            <a:extLst xmlns:a="http://schemas.openxmlformats.org/drawingml/2006/main">
              <a:ext uri="{FF2B5EF4-FFF2-40B4-BE49-F238E27FC236}">
                <a16:creationId xmlns:a16="http://schemas.microsoft.com/office/drawing/2014/main" id="{E402C3B1-CF90-42C8-9659-AE5BF485C008}"/>
              </a:ext>
            </a:extLst>
          </p:cNvPr>
          <p:cNvSpPr>
            <a:spLocks xmlns:a="http://schemas.openxmlformats.org/drawingml/2006/main" noGrp="1"/>
          </p:cNvSpPr>
          <p:nvPr/>
        </p:nvSpPr>
        <p:spPr>
          <a:xfrm xmlns:a="http://schemas.openxmlformats.org/drawingml/2006/main">
            <a:off x="285750" y="1114425"/>
            <a:ext cx="3476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75" b="1" i="0">
                <a:solidFill>
                  <a:srgbClr val="102C22"/>
                </a:solidFill>
                <a:latin typeface="Arial"/>
                <a:ea typeface="Arial"/>
                <a:cs typeface="Arial"/>
              </a:defRPr>
            </a:pPr>
            <a:r>
              <a:rPr sz="1875" b="1" i="0">
                <a:solidFill>
                  <a:srgbClr val="102C22"/>
                </a:solidFill>
                <a:latin typeface="Arial"/>
                <a:ea typeface="Arial"/>
                <a:cs typeface="Arial"/>
              </a:rPr>
              <a:t>Useful context can expose</a:t>
            </a:r>
          </a:p>
          <a:p xmlns:a="http://schemas.openxmlformats.org/drawingml/2006/main">
            <a:pPr algn="l">
              <a:lnSpc>
                <a:spcPct val="106000"/>
              </a:lnSpc>
              <a:buNone/>
              <a:defRPr sz="1875" b="1" i="0">
                <a:solidFill>
                  <a:srgbClr val="102C22"/>
                </a:solidFill>
                <a:latin typeface="Arial"/>
                <a:ea typeface="Arial"/>
                <a:cs typeface="Arial"/>
              </a:defRPr>
            </a:pPr>
            <a:r>
              <a:rPr sz="1875" b="1" i="0">
                <a:solidFill>
                  <a:srgbClr val="102C22"/>
                </a:solidFill>
                <a:latin typeface="Arial"/>
                <a:ea typeface="Arial"/>
                <a:cs typeface="Arial"/>
              </a:rPr>
              <a:t>private information.</a:t>
            </a:r>
          </a:p>
        </p:txBody>
      </p:sp>
      <p:sp>
        <p:nvSpPr>
          <p:cNvPr id="99" name="Threat and need">
            <a:extLst xmlns:a="http://schemas.openxmlformats.org/drawingml/2006/main">
              <a:ext uri="{FF2B5EF4-FFF2-40B4-BE49-F238E27FC236}">
                <a16:creationId xmlns:a16="http://schemas.microsoft.com/office/drawing/2014/main" id="{947DDE25-B7A0-45D9-A9F0-FAB90E0782C0}"/>
              </a:ext>
            </a:extLst>
          </p:cNvPr>
          <p:cNvSpPr>
            <a:spLocks xmlns:a="http://schemas.openxmlformats.org/drawingml/2006/main" noGrp="1"/>
          </p:cNvSpPr>
          <p:nvPr/>
        </p:nvSpPr>
        <p:spPr>
          <a:xfrm xmlns:a="http://schemas.openxmlformats.org/drawingml/2006/main">
            <a:off x="285750" y="1847850"/>
            <a:ext cx="3371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125" b="0" i="0">
                <a:solidFill>
                  <a:srgbClr val="334155"/>
                </a:solidFill>
                <a:latin typeface="Arial"/>
                <a:ea typeface="Arial"/>
                <a:cs typeface="Arial"/>
              </a:defRPr>
            </a:pPr>
            <a:r>
              <a:rPr sz="1125" b="0" i="0">
                <a:solidFill>
                  <a:srgbClr val="334155"/>
                </a:solidFill>
                <a:latin typeface="Arial"/>
                <a:ea typeface="Arial"/>
                <a:cs typeface="Arial"/>
              </a:rPr>
              <a:t>Raw screens may contain identities and credentials. Untrusted page content can also redirect an agent’s actions [</a:t>
            </a:r>
            <a:r>
              <a:rPr sz="1125" b="0" i="0">
                <a:solidFill>
                  <a:srgbClr val="334155"/>
                </a:solidFill>
                <a:latin typeface="Arial"/>
                <a:ea typeface="Arial"/>
                <a:cs typeface="Arial"/>
                <a:hlinkClick xmlns:r="http://schemas.openxmlformats.org/officeDocument/2006/relationships" r:id="R4326235acada4bb1"/>
              </a:rPr>
              <a:t>5</a:t>
            </a:r>
            <a:r>
              <a:rPr sz="1125" b="0" i="0">
                <a:solidFill>
                  <a:srgbClr val="334155"/>
                </a:solidFill>
                <a:latin typeface="Arial"/>
                <a:ea typeface="Arial"/>
                <a:cs typeface="Arial"/>
              </a:rPr>
              <a:t>,</a:t>
            </a:r>
            <a:r>
              <a:rPr sz="1125" b="0" i="0">
                <a:solidFill>
                  <a:srgbClr val="334155"/>
                </a:solidFill>
                <a:latin typeface="Arial"/>
                <a:ea typeface="Arial"/>
                <a:cs typeface="Arial"/>
                <a:hlinkClick xmlns:r="http://schemas.openxmlformats.org/officeDocument/2006/relationships" r:id="Ra71fb07107254f49"/>
              </a:rPr>
              <a:t>6</a:t>
            </a:r>
            <a:r>
              <a:rPr sz="1125" b="0" i="0">
                <a:solidFill>
                  <a:srgbClr val="334155"/>
                </a:solidFill>
                <a:latin typeface="Arial"/>
                <a:ea typeface="Arial"/>
                <a:cs typeface="Arial"/>
              </a:rPr>
              <a:t>].</a:t>
            </a:r>
          </a:p>
        </p:txBody>
      </p:sp>
      <p:sp>
        <p:nvSpPr>
          <p:cNvPr id="100" name="Approach heading">
            <a:extLst xmlns:a="http://schemas.openxmlformats.org/drawingml/2006/main">
              <a:ext uri="{FF2B5EF4-FFF2-40B4-BE49-F238E27FC236}">
                <a16:creationId xmlns:a16="http://schemas.microsoft.com/office/drawing/2014/main" id="{3D53750B-E3F8-4AA2-857A-4CD72CB69BE7}"/>
              </a:ext>
            </a:extLst>
          </p:cNvPr>
          <p:cNvSpPr>
            <a:spLocks xmlns:a="http://schemas.openxmlformats.org/drawingml/2006/main" noGrp="1"/>
          </p:cNvSpPr>
          <p:nvPr/>
        </p:nvSpPr>
        <p:spPr>
          <a:xfrm xmlns:a="http://schemas.openxmlformats.org/drawingml/2006/main">
            <a:off x="285750" y="276225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900" b="1" i="0">
                <a:solidFill>
                  <a:srgbClr val="087ABD"/>
                </a:solidFill>
                <a:latin typeface="Arial"/>
                <a:ea typeface="Arial"/>
                <a:cs typeface="Arial"/>
              </a:defRPr>
            </a:pPr>
            <a:r>
              <a:rPr sz="900" b="1" i="0">
                <a:solidFill>
                  <a:srgbClr val="087ABD"/>
                </a:solidFill>
                <a:latin typeface="Arial"/>
                <a:ea typeface="Arial"/>
                <a:cs typeface="Arial"/>
              </a:rPr>
              <a:t>OUR APPROACH</a:t>
            </a:r>
          </a:p>
        </p:txBody>
      </p:sp>
      <p:sp>
        <p:nvSpPr>
          <p:cNvPr id="101" name="Approach">
            <a:extLst xmlns:a="http://schemas.openxmlformats.org/drawingml/2006/main">
              <a:ext uri="{FF2B5EF4-FFF2-40B4-BE49-F238E27FC236}">
                <a16:creationId xmlns:a16="http://schemas.microsoft.com/office/drawing/2014/main" id="{8437A028-3B15-4C56-97D2-149638725184}"/>
              </a:ext>
            </a:extLst>
          </p:cNvPr>
          <p:cNvSpPr>
            <a:spLocks xmlns:a="http://schemas.openxmlformats.org/drawingml/2006/main" noGrp="1"/>
          </p:cNvSpPr>
          <p:nvPr/>
        </p:nvSpPr>
        <p:spPr>
          <a:xfrm xmlns:a="http://schemas.openxmlformats.org/drawingml/2006/main">
            <a:off x="285750" y="3009900"/>
            <a:ext cx="3381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i="0">
                <a:solidFill>
                  <a:srgbClr val="334155"/>
                </a:solidFill>
                <a:latin typeface="Arial"/>
                <a:ea typeface="Arial"/>
                <a:cs typeface="Arial"/>
              </a:defRPr>
            </a:pPr>
            <a:r>
              <a:rPr sz="1200" b="0" i="0">
                <a:solidFill>
                  <a:srgbClr val="334155"/>
                </a:solidFill>
                <a:latin typeface="Arial"/>
                <a:ea typeface="Arial"/>
                <a:cs typeface="Arial"/>
              </a:rPr>
              <a:t>Read the screen locally.</a:t>
            </a:r>
          </a:p>
          <a:p xmlns:a="http://schemas.openxmlformats.org/drawingml/2006/main">
            <a:pPr algn="l">
              <a:lnSpc>
                <a:spcPct val="116000"/>
              </a:lnSpc>
              <a:buNone/>
              <a:defRPr sz="1200" b="0" i="0">
                <a:solidFill>
                  <a:srgbClr val="334155"/>
                </a:solidFill>
                <a:latin typeface="Arial"/>
                <a:ea typeface="Arial"/>
                <a:cs typeface="Arial"/>
              </a:defRPr>
            </a:pPr>
            <a:r>
              <a:rPr sz="1200" b="0" i="0">
                <a:solidFill>
                  <a:srgbClr val="334155"/>
                </a:solidFill>
                <a:latin typeface="Arial"/>
                <a:ea typeface="Arial"/>
                <a:cs typeface="Arial"/>
              </a:rPr>
              <a:t>Send sanitized context for planning.</a:t>
            </a:r>
          </a:p>
          <a:p xmlns:a="http://schemas.openxmlformats.org/drawingml/2006/main">
            <a:pPr algn="l">
              <a:lnSpc>
                <a:spcPct val="116000"/>
              </a:lnSpc>
              <a:buNone/>
              <a:defRPr sz="1200" b="0" i="0">
                <a:solidFill>
                  <a:srgbClr val="334155"/>
                </a:solidFill>
                <a:latin typeface="Arial"/>
                <a:ea typeface="Arial"/>
                <a:cs typeface="Arial"/>
              </a:defRPr>
            </a:pPr>
            <a:r>
              <a:rPr sz="1200" b="0" i="0">
                <a:solidFill>
                  <a:srgbClr val="334155"/>
                </a:solidFill>
                <a:latin typeface="Arial"/>
                <a:ea typeface="Arial"/>
                <a:cs typeface="Arial"/>
              </a:rPr>
              <a:t>Check permission before private actions.</a:t>
            </a:r>
          </a:p>
        </p:txBody>
      </p:sp>
      <p:sp>
        <p:nvSpPr>
          <p:cNvPr id="102" name="Approach separator">
            <a:extLst xmlns:a="http://schemas.openxmlformats.org/drawingml/2006/main">
              <a:ext uri="{FF2B5EF4-FFF2-40B4-BE49-F238E27FC236}">
                <a16:creationId xmlns:a16="http://schemas.microsoft.com/office/drawing/2014/main" id="{B60CF223-4E40-46A3-B6AC-B59D2DEF704B}"/>
              </a:ext>
            </a:extLst>
          </p:cNvPr>
          <p:cNvSpPr>
            <a:spLocks xmlns:a="http://schemas.openxmlformats.org/drawingml/2006/main" noGrp="1"/>
          </p:cNvSpPr>
          <p:nvPr/>
        </p:nvSpPr>
        <p:spPr>
          <a:xfrm xmlns:a="http://schemas.openxmlformats.org/drawingml/2006/main">
            <a:off x="285750" y="3905250"/>
            <a:ext cx="3381375" cy="0"/>
          </a:xfrm>
          <a:prstGeom xmlns:a="http://schemas.openxmlformats.org/drawingml/2006/main" prst="line">
            <a:avLst/>
          </a:prstGeom>
          <a:noFill xmlns:a="http://schemas.openxmlformats.org/drawingml/2006/main"/>
          <a:ln xmlns:a="http://schemas.openxmlformats.org/drawingml/2006/main" w="9525">
            <a:solidFill>
              <a:srgbClr val="C4D4DE"/>
            </a:solidFill>
            <a:prstDash val="solid"/>
          </a:ln>
        </p:spPr>
      </p:sp>
      <p:sp>
        <p:nvSpPr>
          <p:cNvPr id="103" name="Core contribution">
            <a:extLst xmlns:a="http://schemas.openxmlformats.org/drawingml/2006/main">
              <a:ext uri="{FF2B5EF4-FFF2-40B4-BE49-F238E27FC236}">
                <a16:creationId xmlns:a16="http://schemas.microsoft.com/office/drawing/2014/main" id="{CC522103-275A-4DF2-A0A8-DC616D33ACBD}"/>
              </a:ext>
            </a:extLst>
          </p:cNvPr>
          <p:cNvSpPr>
            <a:spLocks xmlns:a="http://schemas.openxmlformats.org/drawingml/2006/main" noGrp="1"/>
          </p:cNvSpPr>
          <p:nvPr/>
        </p:nvSpPr>
        <p:spPr>
          <a:xfrm xmlns:a="http://schemas.openxmlformats.org/drawingml/2006/main">
            <a:off x="285750" y="4057650"/>
            <a:ext cx="3381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125" b="1" i="0">
                <a:solidFill>
                  <a:srgbClr val="123B5D"/>
                </a:solidFill>
                <a:latin typeface="Arial"/>
                <a:ea typeface="Arial"/>
                <a:cs typeface="Arial"/>
              </a:defRPr>
            </a:pPr>
            <a:r>
              <a:rPr sz="1125" b="1" i="0">
                <a:solidFill>
                  <a:srgbClr val="123B5D"/>
                </a:solidFill>
                <a:latin typeface="Arial"/>
                <a:ea typeface="Arial"/>
                <a:cs typeface="Arial"/>
              </a:rPr>
              <a:t>Every private fill needs one-use approval for an exact destination and field.</a:t>
            </a:r>
          </a:p>
        </p:txBody>
      </p:sp>
      <p:sp>
        <p:nvSpPr>
          <p:cNvPr id="104" name="Example heading">
            <a:extLst xmlns:a="http://schemas.openxmlformats.org/drawingml/2006/main">
              <a:ext uri="{FF2B5EF4-FFF2-40B4-BE49-F238E27FC236}">
                <a16:creationId xmlns:a16="http://schemas.microsoft.com/office/drawing/2014/main" id="{92B38D27-894A-4C4E-90F1-6FEFCBDD7B90}"/>
              </a:ext>
            </a:extLst>
          </p:cNvPr>
          <p:cNvSpPr>
            <a:spLocks xmlns:a="http://schemas.openxmlformats.org/drawingml/2006/main" noGrp="1"/>
          </p:cNvSpPr>
          <p:nvPr/>
        </p:nvSpPr>
        <p:spPr>
          <a:xfrm xmlns:a="http://schemas.openxmlformats.org/drawingml/2006/main">
            <a:off x="4048125" y="847725"/>
            <a:ext cx="481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200" b="1" i="0">
                <a:solidFill>
                  <a:srgbClr val="123B5D"/>
                </a:solidFill>
                <a:latin typeface="Arial"/>
                <a:ea typeface="Arial"/>
                <a:cs typeface="Arial"/>
              </a:defRPr>
            </a:pPr>
            <a:r>
              <a:rPr sz="1200" b="1" i="0">
                <a:solidFill>
                  <a:srgbClr val="123B5D"/>
                </a:solidFill>
                <a:latin typeface="Arial"/>
                <a:ea typeface="Arial"/>
                <a:cs typeface="Arial"/>
              </a:rPr>
              <a:t>THE PRIVACY BOUNDARY</a:t>
            </a:r>
          </a:p>
        </p:txBody>
      </p:sp>
      <p:graphicFrame>
        <p:nvGraphicFramePr>
          <p:cNvPr id="125" name=""/>
          <p:cNvGraphicFramePr/>
          <p:nvPr/>
        </p:nvGraphicFramePr>
        <p:xfrm>
          <a:off xmlns:a="http://schemas.openxmlformats.org/drawingml/2006/main" x="4048125" y="1200150"/>
          <a:ext xmlns:a="http://schemas.openxmlformats.org/drawingml/2006/main" cx="4810125" cy="2533650"/>
        </p:xfrm>
        <a:graphic xmlns:a="http://schemas.openxmlformats.org/drawingml/2006/main">
          <a:graphicData uri="http://schemas.openxmlformats.org/drawingml/2006/table">
            <a:tbl>
              <a:tblPr firstRow="0" bandRow="0"/>
              <a:tblGrid>
                <a:gridCol w="2428875"/>
                <a:gridCol w="2381250"/>
              </a:tblGrid>
              <a:tr h="361950">
                <a:tc>
                  <a:txBody>
                    <a:bodyPr wrap="square" lIns="95250" tIns="66675" rIns="95250" bIns="66675">
                      <a:noAutofit/>
                    </a:bodyPr>
                    <a:lstStyle/>
                    <a:p>
                      <a:pPr algn="l">
                        <a:lnSpc>
                          <a:spcPct val="106000"/>
                        </a:lnSpc>
                        <a:buNone/>
                      </a:pPr>
                      <a:r>
                        <a:rPr sz="1050" b="1">
                          <a:solidFill>
                            <a:srgbClr val="FFFFFF"/>
                          </a:solidFill>
                          <a:latin typeface="Arial"/>
                          <a:ea typeface="Arial"/>
                          <a:cs typeface="Arial"/>
                        </a:rPr>
                        <a:t>ON DEVICE</a:t>
                      </a:r>
                    </a:p>
                  </a:txBody>
                  <a:tcPr marL="91440" marR="91440" marT="45720" marB="45720" anchor="ctr">
                    <a:solidFill>
                      <a:srgbClr val="123B5D"/>
                    </a:solidFill>
                  </a:tcPr>
                </a:tc>
                <a:tc>
                  <a:txBody>
                    <a:bodyPr wrap="square" lIns="95250" tIns="66675" rIns="95250" bIns="66675">
                      <a:noAutofit/>
                    </a:bodyPr>
                    <a:lstStyle/>
                    <a:p>
                      <a:pPr algn="l">
                        <a:lnSpc>
                          <a:spcPct val="106000"/>
                        </a:lnSpc>
                        <a:buNone/>
                      </a:pPr>
                      <a:r>
                        <a:rPr sz="1050" b="1">
                          <a:solidFill>
                            <a:srgbClr val="FFFFFF"/>
                          </a:solidFill>
                          <a:latin typeface="Arial"/>
                          <a:ea typeface="Arial"/>
                          <a:cs typeface="Arial"/>
                        </a:rPr>
                        <a:t>PLANNER CONTEXT</a:t>
                      </a:r>
                    </a:p>
                  </a:txBody>
                  <a:tcPr marL="91440" marR="91440" marT="45720" marB="45720" anchor="ctr">
                    <a:solidFill>
                      <a:srgbClr val="17964B"/>
                    </a:solidFill>
                  </a:tcPr>
                </a:tc>
              </a:tr>
              <a:tr h="581025">
                <a:tc>
                  <a:txBody>
                    <a:bodyPr wrap="square" lIns="95250" tIns="66675" rIns="95250" bIns="66675">
                      <a:noAutofit/>
                    </a:bodyPr>
                    <a:lstStyle/>
                    <a:p>
                      <a:pPr algn="l">
                        <a:lnSpc>
                          <a:spcPct val="106000"/>
                        </a:lnSpc>
                        <a:buNone/>
                      </a:pPr>
                      <a:r>
                        <a:rPr sz="1050" b="0">
                          <a:solidFill>
                            <a:srgbClr val="334155"/>
                          </a:solidFill>
                          <a:latin typeface="Arial"/>
                          <a:ea typeface="Arial"/>
                          <a:cs typeface="Arial"/>
                        </a:rPr>
                        <a:t>Email in the local vault</a:t>
                      </a:r>
                    </a:p>
                    <a:p>
                      <a:pPr algn="l">
                        <a:lnSpc>
                          <a:spcPct val="106000"/>
                        </a:lnSpc>
                        <a:buNone/>
                      </a:pPr>
                      <a:r>
                        <a:rPr sz="1050" b="0">
                          <a:solidFill>
                            <a:srgbClr val="334155"/>
                          </a:solidFill>
                          <a:latin typeface="Arial"/>
                          <a:ea typeface="Arial"/>
                          <a:cs typeface="Arial"/>
                        </a:rPr>
                        <a:t>traveller@example.test</a:t>
                      </a:r>
                    </a:p>
                  </a:txBody>
                  <a:tcPr marL="91440" marR="91440" marT="45720" marB="45720" anchor="ctr">
                    <a:solidFill>
                      <a:srgbClr val="FFFFFF"/>
                    </a:solidFill>
                  </a:tcPr>
                </a:tc>
                <a:tc>
                  <a:txBody>
                    <a:bodyPr wrap="square" lIns="95250" tIns="66675" rIns="95250" bIns="66675">
                      <a:noAutofit/>
                    </a:bodyPr>
                    <a:lstStyle/>
                    <a:p>
                      <a:pPr algn="l">
                        <a:lnSpc>
                          <a:spcPct val="106000"/>
                        </a:lnSpc>
                        <a:buNone/>
                      </a:pPr>
                      <a:r>
                        <a:rPr sz="1050" b="0">
                          <a:solidFill>
                            <a:srgbClr val="334155"/>
                          </a:solidFill>
                          <a:latin typeface="Arial"/>
                          <a:ea typeface="Arial"/>
                          <a:cs typeface="Arial"/>
                        </a:rPr>
                        <a:t>Opaque reference</a:t>
                      </a:r>
                    </a:p>
                    <a:p>
                      <a:pPr algn="l">
                        <a:lnSpc>
                          <a:spcPct val="106000"/>
                        </a:lnSpc>
                        <a:buNone/>
                      </a:pPr>
                      <a:r>
                        <a:rPr sz="1050" b="0">
                          <a:solidFill>
                            <a:srgbClr val="334155"/>
                          </a:solidFill>
                          <a:latin typeface="Arial"/>
                          <a:ea typeface="Arial"/>
                          <a:cs typeface="Arial"/>
                        </a:rPr>
                        <a:t>LOCAL_EMAIL_…</a:t>
                      </a:r>
                    </a:p>
                  </a:txBody>
                  <a:tcPr marL="91440" marR="91440" marT="45720" marB="45720" anchor="ctr">
                    <a:solidFill>
                      <a:srgbClr val="FFFFFF"/>
                    </a:solidFill>
                  </a:tcPr>
                </a:tc>
              </a:tr>
              <a:tr h="542925">
                <a:tc>
                  <a:txBody>
                    <a:bodyPr wrap="square" lIns="95250" tIns="66675" rIns="95250" bIns="66675">
                      <a:noAutofit/>
                    </a:bodyPr>
                    <a:lstStyle/>
                    <a:p>
                      <a:pPr algn="l">
                        <a:lnSpc>
                          <a:spcPct val="106000"/>
                        </a:lnSpc>
                        <a:buNone/>
                      </a:pPr>
                      <a:r>
                        <a:rPr sz="1050" b="0">
                          <a:solidFill>
                            <a:srgbClr val="334155"/>
                          </a:solidFill>
                          <a:latin typeface="Arial"/>
                          <a:ea typeface="Arial"/>
                          <a:cs typeface="Arial"/>
                        </a:rPr>
                        <a:t>Detected sensitive</a:t>
                      </a:r>
                    </a:p>
                    <a:p>
                      <a:pPr algn="l">
                        <a:lnSpc>
                          <a:spcPct val="106000"/>
                        </a:lnSpc>
                        <a:buNone/>
                      </a:pPr>
                      <a:r>
                        <a:rPr sz="1050" b="0">
                          <a:solidFill>
                            <a:srgbClr val="334155"/>
                          </a:solidFill>
                          <a:latin typeface="Arial"/>
                          <a:ea typeface="Arial"/>
                          <a:cs typeface="Arial"/>
                        </a:rPr>
                        <a:t>text or face pixels</a:t>
                      </a:r>
                    </a:p>
                  </a:txBody>
                  <a:tcPr marL="91440" marR="91440" marT="45720" marB="45720" anchor="ctr">
                    <a:solidFill>
                      <a:srgbClr val="F4F8FA"/>
                    </a:solidFill>
                  </a:tcPr>
                </a:tc>
                <a:tc>
                  <a:txBody>
                    <a:bodyPr wrap="square" lIns="95250" tIns="66675" rIns="95250" bIns="66675">
                      <a:noAutofit/>
                    </a:bodyPr>
                    <a:lstStyle/>
                    <a:p>
                      <a:pPr algn="l">
                        <a:lnSpc>
                          <a:spcPct val="106000"/>
                        </a:lnSpc>
                        <a:buNone/>
                      </a:pPr>
                      <a:r>
                        <a:rPr sz="1050" b="0">
                          <a:solidFill>
                            <a:srgbClr val="334155"/>
                          </a:solidFill>
                          <a:latin typeface="Arial"/>
                          <a:ea typeface="Arial"/>
                          <a:cs typeface="Arial"/>
                        </a:rPr>
                        <a:t>Masked or omitted</a:t>
                      </a:r>
                    </a:p>
                  </a:txBody>
                  <a:tcPr marL="91440" marR="91440" marT="45720" marB="45720" anchor="ctr">
                    <a:solidFill>
                      <a:srgbClr val="F4F8FA"/>
                    </a:solidFill>
                  </a:tcPr>
                </a:tc>
              </a:tr>
              <a:tr h="523875">
                <a:tc>
                  <a:txBody>
                    <a:bodyPr wrap="square" lIns="95250" tIns="66675" rIns="95250" bIns="66675">
                      <a:noAutofit/>
                    </a:bodyPr>
                    <a:lstStyle/>
                    <a:p>
                      <a:pPr algn="l">
                        <a:lnSpc>
                          <a:spcPct val="106000"/>
                        </a:lnSpc>
                        <a:buNone/>
                      </a:pPr>
                      <a:r>
                        <a:rPr sz="1050" b="0">
                          <a:solidFill>
                            <a:srgbClr val="334155"/>
                          </a:solidFill>
                          <a:latin typeface="Arial"/>
                          <a:ea typeface="Arial"/>
                          <a:cs typeface="Arial"/>
                        </a:rPr>
                        <a:t>Useful fares and controls</a:t>
                      </a:r>
                    </a:p>
                  </a:txBody>
                  <a:tcPr marL="91440" marR="91440" marT="45720" marB="45720" anchor="ctr">
                    <a:solidFill>
                      <a:srgbClr val="FFFFFF"/>
                    </a:solidFill>
                  </a:tcPr>
                </a:tc>
                <a:tc>
                  <a:txBody>
                    <a:bodyPr wrap="square" lIns="95250" tIns="66675" rIns="95250" bIns="66675">
                      <a:noAutofit/>
                    </a:bodyPr>
                    <a:lstStyle/>
                    <a:p>
                      <a:pPr algn="l">
                        <a:lnSpc>
                          <a:spcPct val="106000"/>
                        </a:lnSpc>
                        <a:buNone/>
                      </a:pPr>
                      <a:r>
                        <a:rPr sz="1050" b="0">
                          <a:solidFill>
                            <a:srgbClr val="334155"/>
                          </a:solidFill>
                          <a:latin typeface="Arial"/>
                          <a:ea typeface="Arial"/>
                          <a:cs typeface="Arial"/>
                        </a:rPr>
                        <a:t>Safe labels + element IDs</a:t>
                      </a:r>
                    </a:p>
                  </a:txBody>
                  <a:tcPr marL="91440" marR="91440" marT="45720" marB="45720" anchor="ctr">
                    <a:solidFill>
                      <a:srgbClr val="FFFFFF"/>
                    </a:solidFill>
                  </a:tcPr>
                </a:tc>
              </a:tr>
              <a:tr h="523875">
                <a:tc>
                  <a:txBody>
                    <a:bodyPr wrap="square" lIns="95250" tIns="66675" rIns="95250" bIns="66675">
                      <a:noAutofit/>
                    </a:bodyPr>
                    <a:lstStyle/>
                    <a:p>
                      <a:pPr algn="l">
                        <a:lnSpc>
                          <a:spcPct val="106000"/>
                        </a:lnSpc>
                        <a:buNone/>
                      </a:pPr>
                      <a:r>
                        <a:rPr sz="1050" b="0">
                          <a:solidFill>
                            <a:srgbClr val="334155"/>
                          </a:solidFill>
                          <a:latin typeface="Arial"/>
                          <a:ea typeface="Arial"/>
                          <a:cs typeface="Arial"/>
                        </a:rPr>
                        <a:t>Raw credentials / cookies</a:t>
                      </a:r>
                    </a:p>
                  </a:txBody>
                  <a:tcPr marL="91440" marR="91440" marT="45720" marB="45720" anchor="ctr">
                    <a:solidFill>
                      <a:srgbClr val="F4F8FA"/>
                    </a:solidFill>
                  </a:tcPr>
                </a:tc>
                <a:tc>
                  <a:txBody>
                    <a:bodyPr wrap="square" lIns="95250" tIns="66675" rIns="95250" bIns="66675">
                      <a:noAutofit/>
                    </a:bodyPr>
                    <a:lstStyle/>
                    <a:p>
                      <a:pPr algn="l">
                        <a:lnSpc>
                          <a:spcPct val="106000"/>
                        </a:lnSpc>
                        <a:buNone/>
                      </a:pPr>
                      <a:r>
                        <a:rPr sz="1050" b="0">
                          <a:solidFill>
                            <a:srgbClr val="334155"/>
                          </a:solidFill>
                          <a:latin typeface="Arial"/>
                          <a:ea typeface="Arial"/>
                          <a:cs typeface="Arial"/>
                        </a:rPr>
                        <a:t>Excluded from context</a:t>
                      </a:r>
                    </a:p>
                  </a:txBody>
                  <a:tcPr marL="91440" marR="91440" marT="45720" marB="45720" anchor="ctr">
                    <a:solidFill>
                      <a:srgbClr val="F4F8FA"/>
                    </a:solidFill>
                  </a:tcPr>
                </a:tc>
              </a:tr>
            </a:tbl>
          </a:graphicData>
        </a:graphic>
      </p:graphicFrame>
      <p:sp>
        <p:nvSpPr>
          <p:cNvPr id="106" name="Example disclosure">
            <a:extLst xmlns:a="http://schemas.openxmlformats.org/drawingml/2006/main">
              <a:ext uri="{FF2B5EF4-FFF2-40B4-BE49-F238E27FC236}">
                <a16:creationId xmlns:a16="http://schemas.microsoft.com/office/drawing/2014/main" id="{DEBDA662-C07A-4C85-BD12-CC8FC1F1B311}"/>
              </a:ext>
            </a:extLst>
          </p:cNvPr>
          <p:cNvSpPr>
            <a:spLocks xmlns:a="http://schemas.openxmlformats.org/drawingml/2006/main" noGrp="1"/>
          </p:cNvSpPr>
          <p:nvPr/>
        </p:nvSpPr>
        <p:spPr>
          <a:xfrm xmlns:a="http://schemas.openxmlformats.org/drawingml/2006/main">
            <a:off x="4048125" y="3876675"/>
            <a:ext cx="4810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848" b="0" i="0">
                <a:solidFill>
                  <a:srgbClr val="64748B"/>
                </a:solidFill>
                <a:latin typeface="Arial"/>
                <a:ea typeface="Arial"/>
                <a:cs typeface="Arial"/>
              </a:defRPr>
            </a:pPr>
            <a:r>
              <a:rPr sz="848" b="0" i="0">
                <a:solidFill>
                  <a:srgbClr val="64748B"/>
                </a:solidFill>
                <a:latin typeface="Arial"/>
                <a:ea typeface="Arial"/>
                <a:cs typeface="Arial"/>
              </a:rPr>
              <a:t>Illustrative example with synthetic data and abbreviated handles.</a:t>
            </a:r>
          </a:p>
          <a:p xmlns:a="http://schemas.openxmlformats.org/drawingml/2006/main">
            <a:pPr algn="l">
              <a:lnSpc>
                <a:spcPct val="106000"/>
              </a:lnSpc>
              <a:buNone/>
              <a:defRPr sz="848" b="0" i="0">
                <a:solidFill>
                  <a:srgbClr val="64748B"/>
                </a:solidFill>
                <a:latin typeface="Arial"/>
                <a:ea typeface="Arial"/>
                <a:cs typeface="Arial"/>
              </a:defRPr>
            </a:pPr>
            <a:r>
              <a:rPr sz="848" b="0" i="0">
                <a:solidFill>
                  <a:srgbClr val="64748B"/>
                </a:solidFill>
                <a:latin typeface="Arial"/>
                <a:ea typeface="Arial"/>
                <a:cs typeface="Arial"/>
              </a:rPr>
              <a:t>This explains the design, not an observed network trace.</a:t>
            </a:r>
          </a:p>
        </p:txBody>
      </p:sp>
      <p:sp>
        <p:nvSpPr>
          <p:cNvPr id="107" name="Approval disclosure">
            <a:extLst xmlns:a="http://schemas.openxmlformats.org/drawingml/2006/main">
              <a:ext uri="{FF2B5EF4-FFF2-40B4-BE49-F238E27FC236}">
                <a16:creationId xmlns:a16="http://schemas.microsoft.com/office/drawing/2014/main" id="{61AAFC4D-B9BF-4A6A-BF57-55B6DE1F72DA}"/>
              </a:ext>
            </a:extLst>
          </p:cNvPr>
          <p:cNvSpPr>
            <a:spLocks xmlns:a="http://schemas.openxmlformats.org/drawingml/2006/main" noGrp="1"/>
          </p:cNvSpPr>
          <p:nvPr/>
        </p:nvSpPr>
        <p:spPr>
          <a:xfrm xmlns:a="http://schemas.openxmlformats.org/drawingml/2006/main">
            <a:off x="4048125" y="4314825"/>
            <a:ext cx="4810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900" b="0" i="0">
                <a:solidFill>
                  <a:srgbClr val="334155"/>
                </a:solidFill>
                <a:latin typeface="Arial"/>
                <a:ea typeface="Arial"/>
                <a:cs typeface="Arial"/>
              </a:defRPr>
            </a:pPr>
            <a:r>
              <a:rPr sz="900" b="0" i="0">
                <a:solidFill>
                  <a:srgbClr val="334155"/>
                </a:solidFill>
                <a:latin typeface="Arial"/>
                <a:ea typeface="Arial"/>
                <a:cs typeface="Arial"/>
              </a:rPr>
              <a:t>Approval releases a value only to the named webpage.</a:t>
            </a:r>
          </a:p>
          <a:p xmlns:a="http://schemas.openxmlformats.org/drawingml/2006/main">
            <a:pPr algn="l">
              <a:lnSpc>
                <a:spcPct val="106000"/>
              </a:lnSpc>
              <a:buNone/>
              <a:defRPr sz="900" b="0" i="0">
                <a:solidFill>
                  <a:srgbClr val="334155"/>
                </a:solidFill>
                <a:latin typeface="Arial"/>
                <a:ea typeface="Arial"/>
                <a:cs typeface="Arial"/>
              </a:defRPr>
            </a:pPr>
            <a:r>
              <a:rPr sz="900" b="0" i="0">
                <a:solidFill>
                  <a:srgbClr val="334155"/>
                </a:solidFill>
                <a:latin typeface="Arial"/>
                <a:ea typeface="Arial"/>
                <a:cs typeface="Arial"/>
              </a:rPr>
              <a:t>That webpage can then read it.</a:t>
            </a:r>
          </a:p>
        </p:txBody>
      </p:sp>
    </p:spTree>
    <p:extLst>
      <p:ext uri="{BB962C8B-B14F-4D97-AF65-F5344CB8AC3E}">
        <p14:creationId xmlns:p14="http://schemas.microsoft.com/office/powerpoint/2010/main" val="185062115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Google Shape;101;p17">
            <a:extLst xmlns:a="http://schemas.openxmlformats.org/drawingml/2006/main">
              <a:ext uri="{FF2B5EF4-FFF2-40B4-BE49-F238E27FC236}">
                <a16:creationId xmlns:a16="http://schemas.microsoft.com/office/drawing/2014/main" id="{9E175C4F-744B-40F4-AE92-6E55C3BD4280}"/>
              </a:ext>
            </a:extLst>
          </p:cNvPr>
          <p:cNvSpPr>
            <a:spLocks xmlns:a="http://schemas.openxmlformats.org/drawingml/2006/main" noGrp="1"/>
          </p:cNvSpPr>
          <p:nvPr/>
        </p:nvSpPr>
        <p:spPr>
          <a:xfrm xmlns:a="http://schemas.openxmlformats.org/drawingml/2006/main">
            <a:off x="171450" y="100013"/>
            <a:ext cx="314325" cy="3143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pic>
        <p:nvPicPr>
          <p:cNvPr id="629" name="Google Shape;103;p17"/>
          <p:cNvPicPr>
            <a:picLocks xmlns:a="http://schemas.openxmlformats.org/drawingml/2006/main" noChangeAspect="1"/>
          </p:cNvPicPr>
          <p:nvPr/>
        </p:nvPicPr>
        <p:blipFill rotWithShape="1">
          <a:blip xmlns:r="http://schemas.openxmlformats.org/officeDocument/2006/relationships" xmlns:a="http://schemas.openxmlformats.org/drawingml/2006/main" r:embed="R24caea347c234c49">
            <a:alphaModFix/>
          </a:blip>
          <a:srcRect xmlns:a="http://schemas.openxmlformats.org/drawingml/2006/main" l="0" t="0" r="0" b="0"/>
          <a:stretch xmlns:a="http://schemas.openxmlformats.org/drawingml/2006/main"/>
        </p:blipFill>
        <p:spPr>
          <a:xfrm xmlns:a="http://schemas.openxmlformats.org/drawingml/2006/main">
            <a:off x="7537042" y="35719"/>
            <a:ext cx="1342253" cy="628650"/>
          </a:xfrm>
          <a:prstGeom xmlns:a="http://schemas.openxmlformats.org/drawingml/2006/main" prst="rect">
            <a:avLst/>
          </a:prstGeom>
          <a:ln xmlns:a="http://schemas.openxmlformats.org/drawingml/2006/main">
            <a:noFill/>
          </a:ln>
        </p:spPr>
      </p:pic>
      <p:sp>
        <p:nvSpPr>
          <p:cNvPr id="104" name="Google Shape;104;p17">
            <a:extLst xmlns:a="http://schemas.openxmlformats.org/drawingml/2006/main">
              <a:ext uri="{FF2B5EF4-FFF2-40B4-BE49-F238E27FC236}">
                <a16:creationId xmlns:a16="http://schemas.microsoft.com/office/drawing/2014/main" id="{5A3CE9C7-A8E8-4F11-8591-F138DBE11698}"/>
              </a:ext>
            </a:extLst>
          </p:cNvPr>
          <p:cNvSpPr>
            <a:spLocks xmlns:a="http://schemas.openxmlformats.org/drawingml/2006/main" noGrp="1"/>
          </p:cNvSpPr>
          <p:nvPr/>
        </p:nvSpPr>
        <p:spPr>
          <a:xfrm xmlns:a="http://schemas.openxmlformats.org/drawingml/2006/main">
            <a:off x="1464469" y="121444"/>
            <a:ext cx="5929313" cy="3857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4300" tIns="0" rIns="14300" bIns="0" anchor="ctr">
            <a:noAutofit/>
          </a:bodyPr>
          <a:lstStyle xmlns:a="http://schemas.openxmlformats.org/drawingml/2006/main"/>
          <a:p xmlns:a="http://schemas.openxmlformats.org/drawingml/2006/main">
            <a:pPr marL="0" marR="0" lvl="0" indent="0" algn="ctr">
              <a:lnSpc>
                <a:spcPct val="102000"/>
              </a:lnSpc>
              <a:spcBef>
                <a:spcPts val="0"/>
              </a:spcBef>
              <a:spcAft>
                <a:spcPts val="0"/>
              </a:spcAft>
              <a:buClr>
                <a:srgbClr val="050505"/>
              </a:buClr>
              <a:buSzPts val="2200"/>
              <a:buFont typeface="Arial Narrow"/>
              <a:buNone/>
            </a:pPr>
            <a:r>
              <a:rPr sz="2200" b="1" i="0">
                <a:solidFill>
                  <a:srgbClr val="050505"/>
                </a:solidFill>
                <a:latin typeface="Arial Narrow"/>
                <a:ea typeface="Arial Narrow"/>
                <a:cs typeface="Arial Narrow"/>
              </a:rPr>
              <a:t>TECHNICAL APPROACH</a:t>
            </a:r>
            <a:endParaRPr sz="1100"/>
          </a:p>
        </p:txBody>
      </p:sp>
      <p:sp>
        <p:nvSpPr>
          <p:cNvPr id="105" name="Google Shape;105;p17">
            <a:extLst xmlns:a="http://schemas.openxmlformats.org/drawingml/2006/main">
              <a:ext uri="{FF2B5EF4-FFF2-40B4-BE49-F238E27FC236}">
                <a16:creationId xmlns:a16="http://schemas.microsoft.com/office/drawing/2014/main" id="{8A200A0A-3C6E-47F3-9F70-D11FD346E0BE}"/>
              </a:ext>
            </a:extLst>
          </p:cNvPr>
          <p:cNvSpPr>
            <a:spLocks xmlns:a="http://schemas.openxmlformats.org/drawingml/2006/main" noGrp="1"/>
          </p:cNvSpPr>
          <p:nvPr/>
        </p:nvSpPr>
        <p:spPr>
          <a:xfrm xmlns:a="http://schemas.openxmlformats.org/drawingml/2006/main">
            <a:off x="0" y="4764881"/>
            <a:ext cx="9144000" cy="378619"/>
          </a:xfrm>
          <a:prstGeom xmlns:a="http://schemas.openxmlformats.org/drawingml/2006/main" prst="rect">
            <a:avLst/>
          </a:prstGeom>
          <a:solidFill xmlns:a="http://schemas.openxmlformats.org/drawingml/2006/main">
            <a:srgbClr val="087ABD"/>
          </a:solidFill>
          <a:ln xmlns:a="http://schemas.openxmlformats.org/drawingml/2006/main" w="9525" cmpd="sng">
            <a:solidFill>
              <a:srgbClr val="087ABD"/>
            </a:solidFill>
            <a:prstDash val="solid"/>
            <a:headEnd type="none" w="sm" len="sm"/>
            <a:tailEnd type="none" w="sm" len="sm"/>
          </a:ln>
        </p:spPr>
        <p:txBody>
          <a:bodyPr xmlns:a="http://schemas.openxmlformats.org/drawingml/2006/main" spcFirstLastPara="1" wrap="square" lIns="68575" tIns="34275" rIns="68575" bIns="34275" anchor="t">
            <a:noAutofit/>
          </a:bodyPr>
          <a:lstStyle xmlns:a="http://schemas.openxmlformats.org/drawingml/2006/main"/>
          <a:p xmlns:a="http://schemas.openxmlformats.org/drawingml/2006/main">
            <a:pPr marL="0" marR="0" lvl="0" indent="0" algn="l">
              <a:spcBef>
                <a:spcPts val="0"/>
              </a:spcBef>
              <a:spcAft>
                <a:spcPts val="0"/>
              </a:spcAft>
              <a:buNone/>
            </a:pPr>
            <a:endParaRPr sz="1400">
              <a:solidFill>
                <a:schemeClr val="dk1"/>
              </a:solidFill>
              <a:latin typeface="Calibri"/>
              <a:ea typeface="Calibri"/>
              <a:cs typeface="Calibri"/>
            </a:endParaRPr>
          </a:p>
        </p:txBody>
      </p:sp>
      <p:sp>
        <p:nvSpPr>
          <p:cNvPr id="106" name="Google Shape;106;p17">
            <a:extLst xmlns:a="http://schemas.openxmlformats.org/drawingml/2006/main">
              <a:ext uri="{FF2B5EF4-FFF2-40B4-BE49-F238E27FC236}">
                <a16:creationId xmlns:a16="http://schemas.microsoft.com/office/drawing/2014/main" id="{31AF0179-D38D-474F-8C08-7AE7E74E0C26}"/>
              </a:ext>
            </a:extLst>
          </p:cNvPr>
          <p:cNvSpPr>
            <a:spLocks xmlns:a="http://schemas.openxmlformats.org/drawingml/2006/main" noGrp="1"/>
          </p:cNvSpPr>
          <p:nvPr/>
        </p:nvSpPr>
        <p:spPr>
          <a:xfrm xmlns:a="http://schemas.openxmlformats.org/drawingml/2006/main">
            <a:off x="3157538" y="4786313"/>
            <a:ext cx="2828925" cy="3143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2000"/>
              </a:lnSpc>
              <a:spcBef>
                <a:spcPts val="0"/>
              </a:spcBef>
              <a:spcAft>
                <a:spcPts val="0"/>
              </a:spcAft>
              <a:buClr>
                <a:srgbClr val="FFFFFF"/>
              </a:buClr>
              <a:buSzPts val="1700"/>
              <a:buFont typeface="Arial Narrow"/>
              <a:buNone/>
            </a:pPr>
            <a:r>
              <a:rPr sz="1700" b="1" i="0">
                <a:solidFill>
                  <a:srgbClr val="FFFFFF"/>
                </a:solidFill>
                <a:latin typeface="Arial Narrow"/>
                <a:ea typeface="Arial Narrow"/>
                <a:cs typeface="Arial Narrow"/>
              </a:rPr>
              <a:t>@chr0m1um</a:t>
            </a:r>
            <a:endParaRPr sz="1100"/>
          </a:p>
        </p:txBody>
      </p:sp>
      <p:sp>
        <p:nvSpPr>
          <p:cNvPr id="107" name="Google Shape;107;p17">
            <a:extLst xmlns:a="http://schemas.openxmlformats.org/drawingml/2006/main">
              <a:ext uri="{FF2B5EF4-FFF2-40B4-BE49-F238E27FC236}">
                <a16:creationId xmlns:a16="http://schemas.microsoft.com/office/drawing/2014/main" id="{EC2393F9-38D9-4A5C-B92F-149AB6F72833}"/>
              </a:ext>
            </a:extLst>
          </p:cNvPr>
          <p:cNvSpPr>
            <a:spLocks xmlns:a="http://schemas.openxmlformats.org/drawingml/2006/main" noGrp="1"/>
          </p:cNvSpPr>
          <p:nvPr/>
        </p:nvSpPr>
        <p:spPr>
          <a:xfrm xmlns:a="http://schemas.openxmlformats.org/drawingml/2006/main">
            <a:off x="8708231" y="4779169"/>
            <a:ext cx="300038" cy="32146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2000"/>
              </a:lnSpc>
              <a:spcBef>
                <a:spcPts val="0"/>
              </a:spcBef>
              <a:spcAft>
                <a:spcPts val="0"/>
              </a:spcAft>
              <a:buClr>
                <a:srgbClr val="FFFFFF"/>
              </a:buClr>
              <a:buSzPts val="1500"/>
              <a:buFont typeface="Arial Narrow"/>
              <a:buNone/>
            </a:pPr>
            <a:r>
              <a:rPr sz="1500" b="1" i="0">
                <a:solidFill>
                  <a:srgbClr val="FFFFFF"/>
                </a:solidFill>
                <a:latin typeface="Arial Narrow"/>
                <a:ea typeface="Arial Narrow"/>
                <a:cs typeface="Arial Narrow"/>
              </a:rPr>
              <a:t>3</a:t>
            </a:r>
            <a:endParaRPr sz="1100"/>
          </a:p>
        </p:txBody>
      </p:sp>
      <p:sp>
        <p:nvSpPr>
          <p:cNvPr id="155" name="Google Shape;155;p17">
            <a:extLst xmlns:a="http://schemas.openxmlformats.org/drawingml/2006/main">
              <a:ext uri="{FF2B5EF4-FFF2-40B4-BE49-F238E27FC236}">
                <a16:creationId xmlns:a16="http://schemas.microsoft.com/office/drawing/2014/main" id="{B558FC00-F281-418F-BD1D-98C90FDEFA79}"/>
              </a:ext>
            </a:extLst>
          </p:cNvPr>
          <p:cNvSpPr>
            <a:spLocks xmlns:a="http://schemas.openxmlformats.org/drawingml/2006/main" noGrp="1"/>
          </p:cNvSpPr>
          <p:nvPr/>
        </p:nvSpPr>
        <p:spPr>
          <a:xfrm xmlns:a="http://schemas.openxmlformats.org/drawingml/2006/main">
            <a:off x="285750" y="4000500"/>
            <a:ext cx="8572500" cy="619125"/>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11425" cmpd="sng">
            <a:solidFill>
              <a:srgbClr val="B8C8D2"/>
            </a:solidFill>
            <a:prstDash val="solid"/>
            <a:headEnd type="none" w="sm" len="sm"/>
            <a:tailEnd type="none" w="sm" len="sm"/>
          </a:ln>
        </p:spPr>
        <p:txBody>
          <a:bodyPr xmlns:a="http://schemas.openxmlformats.org/drawingml/2006/main" spcFirstLastPara="1" wrap="square" lIns="68575" tIns="34275" rIns="68575" bIns="34275" anchor="t">
            <a:noAutofit/>
          </a:bodyPr>
          <a:lstStyle xmlns:a="http://schemas.openxmlformats.org/drawingml/2006/main"/>
          <a:p xmlns:a="http://schemas.openxmlformats.org/drawingml/2006/main">
            <a:pPr marL="0" marR="0" lvl="0" indent="0" algn="l">
              <a:spcBef>
                <a:spcPts val="0"/>
              </a:spcBef>
              <a:spcAft>
                <a:spcPts val="0"/>
              </a:spcAft>
              <a:buNone/>
            </a:pPr>
            <a:endParaRPr sz="1400">
              <a:solidFill>
                <a:schemeClr val="dk1"/>
              </a:solidFill>
              <a:latin typeface="Calibri"/>
              <a:ea typeface="Calibri"/>
              <a:cs typeface="Calibri"/>
            </a:endParaRPr>
          </a:p>
        </p:txBody>
      </p:sp>
      <p:sp>
        <p:nvSpPr>
          <p:cNvPr id="157" name="Google Shape;157;p17">
            <a:extLst xmlns:a="http://schemas.openxmlformats.org/drawingml/2006/main">
              <a:ext uri="{FF2B5EF4-FFF2-40B4-BE49-F238E27FC236}">
                <a16:creationId xmlns:a16="http://schemas.microsoft.com/office/drawing/2014/main" id="{AB14968D-8317-4966-BAED-CA5C08C4D24E}"/>
              </a:ext>
            </a:extLst>
          </p:cNvPr>
          <p:cNvSpPr>
            <a:spLocks xmlns:a="http://schemas.openxmlformats.org/drawingml/2006/main" noGrp="1"/>
          </p:cNvSpPr>
          <p:nvPr/>
        </p:nvSpPr>
        <p:spPr>
          <a:xfrm xmlns:a="http://schemas.openxmlformats.org/drawingml/2006/main">
            <a:off x="345621" y="4286250"/>
            <a:ext cx="11049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2000"/>
              </a:lnSpc>
              <a:spcBef>
                <a:spcPts val="0"/>
              </a:spcBef>
              <a:spcAft>
                <a:spcPts val="0"/>
              </a:spcAft>
              <a:buClr>
                <a:srgbClr val="111827"/>
              </a:buClr>
              <a:buSzPts val="800"/>
              <a:buFont typeface="Arial"/>
              <a:buNone/>
            </a:pPr>
            <a:r>
              <a:rPr sz="800" b="1" i="0">
                <a:solidFill>
                  <a:srgbClr val="111827"/>
                </a:solidFill>
                <a:latin typeface="Arial"/>
                <a:ea typeface="Arial"/>
                <a:cs typeface="Arial"/>
              </a:rPr>
              <a:t>Chrome + Firefox</a:t>
            </a:r>
            <a:endParaRPr sz="800"/>
          </a:p>
        </p:txBody>
      </p:sp>
      <p:sp>
        <p:nvSpPr>
          <p:cNvPr id="158" name="Google Shape;158;p17">
            <a:extLst xmlns:a="http://schemas.openxmlformats.org/drawingml/2006/main">
              <a:ext uri="{FF2B5EF4-FFF2-40B4-BE49-F238E27FC236}">
                <a16:creationId xmlns:a16="http://schemas.microsoft.com/office/drawing/2014/main" id="{F0429BBF-3D4A-45DA-B38A-A15A7026D831}"/>
              </a:ext>
            </a:extLst>
          </p:cNvPr>
          <p:cNvSpPr>
            <a:spLocks xmlns:a="http://schemas.openxmlformats.org/drawingml/2006/main" noGrp="1"/>
          </p:cNvSpPr>
          <p:nvPr/>
        </p:nvSpPr>
        <p:spPr>
          <a:xfrm xmlns:a="http://schemas.openxmlformats.org/drawingml/2006/main">
            <a:off x="345621" y="4476750"/>
            <a:ext cx="1104900" cy="95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95000"/>
              </a:lnSpc>
              <a:spcBef>
                <a:spcPts val="0"/>
              </a:spcBef>
              <a:spcAft>
                <a:spcPts val="0"/>
              </a:spcAft>
              <a:buClr>
                <a:srgbClr val="64748B"/>
              </a:buClr>
              <a:buSzPts val="600"/>
              <a:buFont typeface="Arial"/>
              <a:buNone/>
            </a:pPr>
            <a:r>
              <a:rPr sz="600" b="0" i="0">
                <a:solidFill>
                  <a:srgbClr val="64748B"/>
                </a:solidFill>
                <a:latin typeface="Arial"/>
                <a:ea typeface="Arial"/>
                <a:cs typeface="Arial"/>
              </a:rPr>
              <a:t>Browser extension</a:t>
            </a:r>
            <a:endParaRPr sz="600"/>
          </a:p>
        </p:txBody>
      </p:sp>
      <p:sp>
        <p:nvSpPr>
          <p:cNvPr id="160" name="Google Shape;160;p17">
            <a:extLst xmlns:a="http://schemas.openxmlformats.org/drawingml/2006/main">
              <a:ext uri="{FF2B5EF4-FFF2-40B4-BE49-F238E27FC236}">
                <a16:creationId xmlns:a16="http://schemas.microsoft.com/office/drawing/2014/main" id="{B87FD62A-044B-4235-8BDE-8F5CCDF85CEE}"/>
              </a:ext>
            </a:extLst>
          </p:cNvPr>
          <p:cNvSpPr>
            <a:spLocks xmlns:a="http://schemas.openxmlformats.org/drawingml/2006/main" noGrp="1"/>
          </p:cNvSpPr>
          <p:nvPr/>
        </p:nvSpPr>
        <p:spPr>
          <a:xfrm xmlns:a="http://schemas.openxmlformats.org/drawingml/2006/main">
            <a:off x="1570264" y="4286250"/>
            <a:ext cx="11049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2000"/>
              </a:lnSpc>
              <a:spcBef>
                <a:spcPts val="0"/>
              </a:spcBef>
              <a:spcAft>
                <a:spcPts val="0"/>
              </a:spcAft>
              <a:buClr>
                <a:srgbClr val="111827"/>
              </a:buClr>
              <a:buSzPts val="800"/>
              <a:buFont typeface="Arial"/>
              <a:buNone/>
            </a:pPr>
            <a:r>
              <a:rPr sz="800" b="1" i="0">
                <a:solidFill>
                  <a:srgbClr val="111827"/>
                </a:solidFill>
                <a:latin typeface="Arial"/>
                <a:ea typeface="Arial"/>
                <a:cs typeface="Arial"/>
              </a:rPr>
              <a:t>WXT + TypeScript</a:t>
            </a:r>
            <a:endParaRPr sz="800"/>
          </a:p>
        </p:txBody>
      </p:sp>
      <p:sp>
        <p:nvSpPr>
          <p:cNvPr id="161" name="Google Shape;161;p17">
            <a:extLst xmlns:a="http://schemas.openxmlformats.org/drawingml/2006/main">
              <a:ext uri="{FF2B5EF4-FFF2-40B4-BE49-F238E27FC236}">
                <a16:creationId xmlns:a16="http://schemas.microsoft.com/office/drawing/2014/main" id="{E75EB030-7DD3-4E4F-8B48-B4ED71D419C3}"/>
              </a:ext>
            </a:extLst>
          </p:cNvPr>
          <p:cNvSpPr>
            <a:spLocks xmlns:a="http://schemas.openxmlformats.org/drawingml/2006/main" noGrp="1"/>
          </p:cNvSpPr>
          <p:nvPr/>
        </p:nvSpPr>
        <p:spPr>
          <a:xfrm xmlns:a="http://schemas.openxmlformats.org/drawingml/2006/main">
            <a:off x="1570264" y="4476750"/>
            <a:ext cx="1104900" cy="95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95000"/>
              </a:lnSpc>
              <a:spcBef>
                <a:spcPts val="0"/>
              </a:spcBef>
              <a:spcAft>
                <a:spcPts val="0"/>
              </a:spcAft>
              <a:buClr>
                <a:srgbClr val="64748B"/>
              </a:buClr>
              <a:buSzPts val="600"/>
              <a:buFont typeface="Arial"/>
              <a:buNone/>
            </a:pPr>
            <a:r>
              <a:rPr sz="600" b="0" i="0">
                <a:solidFill>
                  <a:srgbClr val="64748B"/>
                </a:solidFill>
                <a:latin typeface="Arial"/>
                <a:ea typeface="Arial"/>
                <a:cs typeface="Arial"/>
              </a:rPr>
              <a:t>UI &amp; content scripts</a:t>
            </a:r>
            <a:endParaRPr sz="600"/>
          </a:p>
        </p:txBody>
      </p:sp>
      <p:sp>
        <p:nvSpPr>
          <p:cNvPr id="163" name="Google Shape;163;p17">
            <a:extLst xmlns:a="http://schemas.openxmlformats.org/drawingml/2006/main">
              <a:ext uri="{FF2B5EF4-FFF2-40B4-BE49-F238E27FC236}">
                <a16:creationId xmlns:a16="http://schemas.microsoft.com/office/drawing/2014/main" id="{F9658022-23D8-46D5-A976-7C4715EE4578}"/>
              </a:ext>
            </a:extLst>
          </p:cNvPr>
          <p:cNvSpPr>
            <a:spLocks xmlns:a="http://schemas.openxmlformats.org/drawingml/2006/main" noGrp="1"/>
          </p:cNvSpPr>
          <p:nvPr/>
        </p:nvSpPr>
        <p:spPr>
          <a:xfrm xmlns:a="http://schemas.openxmlformats.org/drawingml/2006/main">
            <a:off x="2794907" y="4286250"/>
            <a:ext cx="11049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2000"/>
              </a:lnSpc>
              <a:spcBef>
                <a:spcPts val="0"/>
              </a:spcBef>
              <a:spcAft>
                <a:spcPts val="0"/>
              </a:spcAft>
              <a:buClr>
                <a:srgbClr val="111827"/>
              </a:buClr>
              <a:buSzPts val="800"/>
              <a:buFont typeface="Arial"/>
              <a:buNone/>
            </a:pPr>
            <a:r>
              <a:rPr sz="800" b="1" i="0">
                <a:solidFill>
                  <a:srgbClr val="111827"/>
                </a:solidFill>
                <a:latin typeface="Arial"/>
                <a:ea typeface="Arial"/>
                <a:cs typeface="Arial"/>
              </a:rPr>
              <a:t>ONNX Runtime Web</a:t>
            </a:r>
            <a:endParaRPr sz="800"/>
          </a:p>
        </p:txBody>
      </p:sp>
      <p:sp>
        <p:nvSpPr>
          <p:cNvPr id="164" name="Google Shape;164;p17">
            <a:extLst xmlns:a="http://schemas.openxmlformats.org/drawingml/2006/main">
              <a:ext uri="{FF2B5EF4-FFF2-40B4-BE49-F238E27FC236}">
                <a16:creationId xmlns:a16="http://schemas.microsoft.com/office/drawing/2014/main" id="{D85D94A2-B94C-46D6-8286-674E5E1C7723}"/>
              </a:ext>
            </a:extLst>
          </p:cNvPr>
          <p:cNvSpPr>
            <a:spLocks xmlns:a="http://schemas.openxmlformats.org/drawingml/2006/main" noGrp="1"/>
          </p:cNvSpPr>
          <p:nvPr/>
        </p:nvSpPr>
        <p:spPr>
          <a:xfrm xmlns:a="http://schemas.openxmlformats.org/drawingml/2006/main">
            <a:off x="2794907" y="4476750"/>
            <a:ext cx="1104900" cy="95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95000"/>
              </a:lnSpc>
              <a:spcBef>
                <a:spcPts val="0"/>
              </a:spcBef>
              <a:spcAft>
                <a:spcPts val="0"/>
              </a:spcAft>
              <a:buClr>
                <a:srgbClr val="64748B"/>
              </a:buClr>
              <a:buSzPts val="600"/>
              <a:buFont typeface="Arial"/>
              <a:buNone/>
            </a:pPr>
            <a:r>
              <a:rPr sz="600" b="0" i="0">
                <a:solidFill>
                  <a:srgbClr val="64748B"/>
                </a:solidFill>
                <a:latin typeface="Arial"/>
                <a:ea typeface="Arial"/>
                <a:cs typeface="Arial"/>
              </a:rPr>
              <a:t>Local inference</a:t>
            </a:r>
            <a:endParaRPr sz="600"/>
          </a:p>
        </p:txBody>
      </p:sp>
      <p:sp>
        <p:nvSpPr>
          <p:cNvPr id="166" name="Google Shape;166;p17">
            <a:extLst xmlns:a="http://schemas.openxmlformats.org/drawingml/2006/main">
              <a:ext uri="{FF2B5EF4-FFF2-40B4-BE49-F238E27FC236}">
                <a16:creationId xmlns:a16="http://schemas.microsoft.com/office/drawing/2014/main" id="{24B9A530-2108-44E8-96C3-BF35915BB2FC}"/>
              </a:ext>
            </a:extLst>
          </p:cNvPr>
          <p:cNvSpPr>
            <a:spLocks xmlns:a="http://schemas.openxmlformats.org/drawingml/2006/main" noGrp="1"/>
          </p:cNvSpPr>
          <p:nvPr/>
        </p:nvSpPr>
        <p:spPr>
          <a:xfrm xmlns:a="http://schemas.openxmlformats.org/drawingml/2006/main">
            <a:off x="4019550" y="4286250"/>
            <a:ext cx="11049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2000"/>
              </a:lnSpc>
              <a:spcBef>
                <a:spcPts val="0"/>
              </a:spcBef>
              <a:spcAft>
                <a:spcPts val="0"/>
              </a:spcAft>
              <a:buClr>
                <a:srgbClr val="111827"/>
              </a:buClr>
              <a:buSzPts val="800"/>
              <a:buFont typeface="Arial"/>
              <a:buNone/>
            </a:pPr>
            <a:r>
              <a:rPr sz="800" b="1" i="0">
                <a:solidFill>
                  <a:srgbClr val="111827"/>
                </a:solidFill>
                <a:latin typeface="Arial"/>
                <a:ea typeface="Arial"/>
                <a:cs typeface="Arial"/>
              </a:rPr>
              <a:t>YOLOX + PP-OCR</a:t>
            </a:r>
            <a:endParaRPr sz="800"/>
          </a:p>
        </p:txBody>
      </p:sp>
      <p:sp>
        <p:nvSpPr>
          <p:cNvPr id="167" name="Google Shape;167;p17">
            <a:extLst xmlns:a="http://schemas.openxmlformats.org/drawingml/2006/main">
              <a:ext uri="{FF2B5EF4-FFF2-40B4-BE49-F238E27FC236}">
                <a16:creationId xmlns:a16="http://schemas.microsoft.com/office/drawing/2014/main" id="{332998DA-6615-4406-A6B0-8418B0996F08}"/>
              </a:ext>
            </a:extLst>
          </p:cNvPr>
          <p:cNvSpPr>
            <a:spLocks xmlns:a="http://schemas.openxmlformats.org/drawingml/2006/main" noGrp="1"/>
          </p:cNvSpPr>
          <p:nvPr/>
        </p:nvSpPr>
        <p:spPr>
          <a:xfrm xmlns:a="http://schemas.openxmlformats.org/drawingml/2006/main">
            <a:off x="4019550" y="4476750"/>
            <a:ext cx="1104900" cy="95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95000"/>
              </a:lnSpc>
              <a:spcBef>
                <a:spcPts val="0"/>
              </a:spcBef>
              <a:spcAft>
                <a:spcPts val="0"/>
              </a:spcAft>
              <a:buClr>
                <a:srgbClr val="64748B"/>
              </a:buClr>
              <a:buSzPts val="600"/>
              <a:buFont typeface="Arial"/>
              <a:buNone/>
            </a:pPr>
            <a:r>
              <a:rPr sz="600" b="0" i="0">
                <a:solidFill>
                  <a:srgbClr val="64748B"/>
                </a:solidFill>
                <a:latin typeface="Arial"/>
                <a:ea typeface="Arial"/>
                <a:cs typeface="Arial"/>
              </a:rPr>
              <a:t>Vision &amp; OCR</a:t>
            </a:r>
            <a:endParaRPr sz="600"/>
          </a:p>
        </p:txBody>
      </p:sp>
      <p:sp>
        <p:nvSpPr>
          <p:cNvPr id="169" name="Google Shape;169;p17">
            <a:extLst xmlns:a="http://schemas.openxmlformats.org/drawingml/2006/main">
              <a:ext uri="{FF2B5EF4-FFF2-40B4-BE49-F238E27FC236}">
                <a16:creationId xmlns:a16="http://schemas.microsoft.com/office/drawing/2014/main" id="{AD12725C-CE0A-4A49-89D8-360D8F6AC0EC}"/>
              </a:ext>
            </a:extLst>
          </p:cNvPr>
          <p:cNvSpPr>
            <a:spLocks xmlns:a="http://schemas.openxmlformats.org/drawingml/2006/main" noGrp="1"/>
          </p:cNvSpPr>
          <p:nvPr/>
        </p:nvSpPr>
        <p:spPr>
          <a:xfrm xmlns:a="http://schemas.openxmlformats.org/drawingml/2006/main">
            <a:off x="5244193" y="4286250"/>
            <a:ext cx="11049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2000"/>
              </a:lnSpc>
              <a:spcBef>
                <a:spcPts val="0"/>
              </a:spcBef>
              <a:spcAft>
                <a:spcPts val="0"/>
              </a:spcAft>
              <a:buClr>
                <a:srgbClr val="111827"/>
              </a:buClr>
              <a:buSzPts val="800"/>
              <a:buFont typeface="Arial"/>
              <a:buNone/>
            </a:pPr>
            <a:r>
              <a:rPr sz="800" b="1" i="0">
                <a:solidFill>
                  <a:srgbClr val="111827"/>
                </a:solidFill>
                <a:latin typeface="Arial"/>
                <a:ea typeface="Arial"/>
                <a:cs typeface="Arial"/>
              </a:rPr>
              <a:t>Rampart</a:t>
            </a:r>
            <a:endParaRPr sz="800"/>
          </a:p>
        </p:txBody>
      </p:sp>
      <p:sp>
        <p:nvSpPr>
          <p:cNvPr id="170" name="Google Shape;170;p17">
            <a:extLst xmlns:a="http://schemas.openxmlformats.org/drawingml/2006/main">
              <a:ext uri="{FF2B5EF4-FFF2-40B4-BE49-F238E27FC236}">
                <a16:creationId xmlns:a16="http://schemas.microsoft.com/office/drawing/2014/main" id="{4F62731F-0E54-43B3-B48E-947F9F3A17AE}"/>
              </a:ext>
            </a:extLst>
          </p:cNvPr>
          <p:cNvSpPr>
            <a:spLocks xmlns:a="http://schemas.openxmlformats.org/drawingml/2006/main" noGrp="1"/>
          </p:cNvSpPr>
          <p:nvPr/>
        </p:nvSpPr>
        <p:spPr>
          <a:xfrm xmlns:a="http://schemas.openxmlformats.org/drawingml/2006/main">
            <a:off x="5244193" y="4476750"/>
            <a:ext cx="1104900" cy="95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95000"/>
              </a:lnSpc>
              <a:spcBef>
                <a:spcPts val="0"/>
              </a:spcBef>
              <a:spcAft>
                <a:spcPts val="0"/>
              </a:spcAft>
              <a:buClr>
                <a:srgbClr val="64748B"/>
              </a:buClr>
              <a:buSzPts val="600"/>
              <a:buFont typeface="Arial"/>
              <a:buNone/>
            </a:pPr>
            <a:r>
              <a:rPr sz="600" b="0" i="0">
                <a:solidFill>
                  <a:srgbClr val="64748B"/>
                </a:solidFill>
                <a:latin typeface="Arial"/>
                <a:ea typeface="Arial"/>
                <a:cs typeface="Arial"/>
              </a:rPr>
              <a:t>Contextual PII</a:t>
            </a:r>
            <a:endParaRPr sz="600"/>
          </a:p>
        </p:txBody>
      </p:sp>
      <p:sp>
        <p:nvSpPr>
          <p:cNvPr id="172" name="Google Shape;172;p17">
            <a:extLst xmlns:a="http://schemas.openxmlformats.org/drawingml/2006/main">
              <a:ext uri="{FF2B5EF4-FFF2-40B4-BE49-F238E27FC236}">
                <a16:creationId xmlns:a16="http://schemas.microsoft.com/office/drawing/2014/main" id="{63331C43-B0D4-462E-93E3-89BB5031B205}"/>
              </a:ext>
            </a:extLst>
          </p:cNvPr>
          <p:cNvSpPr>
            <a:spLocks xmlns:a="http://schemas.openxmlformats.org/drawingml/2006/main" noGrp="1"/>
          </p:cNvSpPr>
          <p:nvPr/>
        </p:nvSpPr>
        <p:spPr>
          <a:xfrm xmlns:a="http://schemas.openxmlformats.org/drawingml/2006/main">
            <a:off x="6468836" y="4286250"/>
            <a:ext cx="11049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2000"/>
              </a:lnSpc>
              <a:spcBef>
                <a:spcPts val="0"/>
              </a:spcBef>
              <a:spcAft>
                <a:spcPts val="0"/>
              </a:spcAft>
              <a:buClr>
                <a:srgbClr val="111827"/>
              </a:buClr>
              <a:buSzPts val="800"/>
              <a:buFont typeface="Arial"/>
              <a:buNone/>
            </a:pPr>
            <a:r>
              <a:rPr sz="800" b="1" i="0">
                <a:solidFill>
                  <a:srgbClr val="111827"/>
                </a:solidFill>
                <a:latin typeface="Arial"/>
                <a:ea typeface="Arial"/>
                <a:cs typeface="Arial"/>
              </a:rPr>
              <a:t>FastAPI</a:t>
            </a:r>
            <a:endParaRPr sz="800"/>
          </a:p>
        </p:txBody>
      </p:sp>
      <p:sp>
        <p:nvSpPr>
          <p:cNvPr id="173" name="Google Shape;173;p17">
            <a:extLst xmlns:a="http://schemas.openxmlformats.org/drawingml/2006/main">
              <a:ext uri="{FF2B5EF4-FFF2-40B4-BE49-F238E27FC236}">
                <a16:creationId xmlns:a16="http://schemas.microsoft.com/office/drawing/2014/main" id="{DC19FA23-726E-4B6D-82F4-9FE89BA213A3}"/>
              </a:ext>
            </a:extLst>
          </p:cNvPr>
          <p:cNvSpPr>
            <a:spLocks xmlns:a="http://schemas.openxmlformats.org/drawingml/2006/main" noGrp="1"/>
          </p:cNvSpPr>
          <p:nvPr/>
        </p:nvSpPr>
        <p:spPr>
          <a:xfrm xmlns:a="http://schemas.openxmlformats.org/drawingml/2006/main">
            <a:off x="6468836" y="4476750"/>
            <a:ext cx="1104900" cy="95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95000"/>
              </a:lnSpc>
              <a:spcBef>
                <a:spcPts val="0"/>
              </a:spcBef>
              <a:spcAft>
                <a:spcPts val="0"/>
              </a:spcAft>
              <a:buClr>
                <a:srgbClr val="64748B"/>
              </a:buClr>
              <a:buSzPts val="600"/>
              <a:buFont typeface="Arial"/>
              <a:buNone/>
            </a:pPr>
            <a:r>
              <a:rPr sz="600" b="0" i="0">
                <a:solidFill>
                  <a:srgbClr val="64748B"/>
                </a:solidFill>
                <a:latin typeface="Arial"/>
                <a:ea typeface="Arial"/>
                <a:cs typeface="Arial"/>
              </a:rPr>
              <a:t>Strict gateway API</a:t>
            </a:r>
            <a:endParaRPr sz="600"/>
          </a:p>
        </p:txBody>
      </p:sp>
      <p:sp>
        <p:nvSpPr>
          <p:cNvPr id="175" name="Google Shape;175;p17">
            <a:extLst xmlns:a="http://schemas.openxmlformats.org/drawingml/2006/main">
              <a:ext uri="{FF2B5EF4-FFF2-40B4-BE49-F238E27FC236}">
                <a16:creationId xmlns:a16="http://schemas.microsoft.com/office/drawing/2014/main" id="{98C9B02A-DD5C-48AA-8790-AAA3B2918F1A}"/>
              </a:ext>
            </a:extLst>
          </p:cNvPr>
          <p:cNvSpPr>
            <a:spLocks xmlns:a="http://schemas.openxmlformats.org/drawingml/2006/main" noGrp="1"/>
          </p:cNvSpPr>
          <p:nvPr/>
        </p:nvSpPr>
        <p:spPr>
          <a:xfrm xmlns:a="http://schemas.openxmlformats.org/drawingml/2006/main">
            <a:off x="7693479" y="4286250"/>
            <a:ext cx="11049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2000"/>
              </a:lnSpc>
              <a:spcBef>
                <a:spcPts val="0"/>
              </a:spcBef>
              <a:spcAft>
                <a:spcPts val="0"/>
              </a:spcAft>
              <a:buClr>
                <a:srgbClr val="111827"/>
              </a:buClr>
              <a:buSzPts val="800"/>
              <a:buFont typeface="Arial"/>
              <a:buNone/>
            </a:pPr>
            <a:r>
              <a:rPr sz="800" b="1" i="0">
                <a:solidFill>
                  <a:srgbClr val="111827"/>
                </a:solidFill>
                <a:latin typeface="Arial"/>
                <a:ea typeface="Arial"/>
                <a:cs typeface="Arial"/>
              </a:rPr>
              <a:t>Qwen3-VL</a:t>
            </a:r>
            <a:endParaRPr sz="800"/>
          </a:p>
        </p:txBody>
      </p:sp>
      <p:sp>
        <p:nvSpPr>
          <p:cNvPr id="176" name="Google Shape;176;p17">
            <a:extLst xmlns:a="http://schemas.openxmlformats.org/drawingml/2006/main">
              <a:ext uri="{FF2B5EF4-FFF2-40B4-BE49-F238E27FC236}">
                <a16:creationId xmlns:a16="http://schemas.microsoft.com/office/drawing/2014/main" id="{4A7B5645-13BD-4C82-9278-4501DD4761DF}"/>
              </a:ext>
            </a:extLst>
          </p:cNvPr>
          <p:cNvSpPr>
            <a:spLocks xmlns:a="http://schemas.openxmlformats.org/drawingml/2006/main" noGrp="1"/>
          </p:cNvSpPr>
          <p:nvPr/>
        </p:nvSpPr>
        <p:spPr>
          <a:xfrm xmlns:a="http://schemas.openxmlformats.org/drawingml/2006/main">
            <a:off x="7693479" y="4476750"/>
            <a:ext cx="1104900" cy="95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95000"/>
              </a:lnSpc>
              <a:spcBef>
                <a:spcPts val="0"/>
              </a:spcBef>
              <a:spcAft>
                <a:spcPts val="0"/>
              </a:spcAft>
              <a:buClr>
                <a:srgbClr val="64748B"/>
              </a:buClr>
              <a:buSzPts val="600"/>
              <a:buFont typeface="Arial"/>
              <a:buNone/>
            </a:pPr>
            <a:r>
              <a:rPr sz="600" b="0" i="0">
                <a:solidFill>
                  <a:srgbClr val="64748B"/>
                </a:solidFill>
                <a:latin typeface="Arial"/>
                <a:ea typeface="Arial"/>
                <a:cs typeface="Arial"/>
              </a:rPr>
              <a:t>Open-weights planner</a:t>
            </a:r>
            <a:endParaRPr sz="600"/>
          </a:p>
        </p:txBody>
      </p:sp>
      <p:pic>
        <p:nvPicPr>
          <p:cNvPr id="649" name="Picture 200"/>
          <p:cNvPicPr>
            <a:picLocks xmlns:a="http://schemas.openxmlformats.org/drawingml/2006/main" noChangeAspect="1"/>
          </p:cNvPicPr>
          <p:nvPr/>
        </p:nvPicPr>
        <p:blipFill>
          <a:blip xmlns:r="http://schemas.openxmlformats.org/officeDocument/2006/relationships" xmlns:a="http://schemas.openxmlformats.org/drawingml/2006/main" r:embed="R5b137303910e4da8"/>
          <a:stretch xmlns:a="http://schemas.openxmlformats.org/drawingml/2006/main"/>
        </p:blipFill>
        <p:spPr>
          <a:xfrm xmlns:a="http://schemas.openxmlformats.org/drawingml/2006/main">
            <a:off x="698046" y="4057650"/>
            <a:ext cx="171450" cy="171450"/>
          </a:xfrm>
          <a:prstGeom xmlns:a="http://schemas.openxmlformats.org/drawingml/2006/main" prst="rect">
            <a:avLst/>
          </a:prstGeom>
        </p:spPr>
      </p:pic>
      <p:pic>
        <p:nvPicPr>
          <p:cNvPr id="650" name="Picture 201"/>
          <p:cNvPicPr>
            <a:picLocks xmlns:a="http://schemas.openxmlformats.org/drawingml/2006/main" noChangeAspect="1"/>
          </p:cNvPicPr>
          <p:nvPr/>
        </p:nvPicPr>
        <p:blipFill>
          <a:blip xmlns:r="http://schemas.openxmlformats.org/officeDocument/2006/relationships" xmlns:a="http://schemas.openxmlformats.org/drawingml/2006/main" r:embed="R9165d498c3134574"/>
          <a:stretch xmlns:a="http://schemas.openxmlformats.org/drawingml/2006/main"/>
        </p:blipFill>
        <p:spPr>
          <a:xfrm xmlns:a="http://schemas.openxmlformats.org/drawingml/2006/main">
            <a:off x="926646" y="4057650"/>
            <a:ext cx="171450" cy="171450"/>
          </a:xfrm>
          <a:prstGeom xmlns:a="http://schemas.openxmlformats.org/drawingml/2006/main" prst="rect">
            <a:avLst/>
          </a:prstGeom>
        </p:spPr>
      </p:pic>
      <p:pic>
        <p:nvPicPr>
          <p:cNvPr id="651" name="Picture 202"/>
          <p:cNvPicPr>
            <a:picLocks xmlns:a="http://schemas.openxmlformats.org/drawingml/2006/main" noChangeAspect="1"/>
          </p:cNvPicPr>
          <p:nvPr/>
        </p:nvPicPr>
        <p:blipFill>
          <a:blip xmlns:r="http://schemas.openxmlformats.org/officeDocument/2006/relationships" xmlns:a="http://schemas.openxmlformats.org/drawingml/2006/main" r:embed="Re88ae1265d9c4b39"/>
          <a:stretch xmlns:a="http://schemas.openxmlformats.org/drawingml/2006/main"/>
        </p:blipFill>
        <p:spPr>
          <a:xfrm xmlns:a="http://schemas.openxmlformats.org/drawingml/2006/main">
            <a:off x="1922689" y="4057650"/>
            <a:ext cx="171450" cy="171450"/>
          </a:xfrm>
          <a:prstGeom xmlns:a="http://schemas.openxmlformats.org/drawingml/2006/main" prst="rect">
            <a:avLst/>
          </a:prstGeom>
        </p:spPr>
      </p:pic>
      <p:pic>
        <p:nvPicPr>
          <p:cNvPr id="652" name="Picture 203"/>
          <p:cNvPicPr>
            <a:picLocks xmlns:a="http://schemas.openxmlformats.org/drawingml/2006/main" noChangeAspect="1"/>
          </p:cNvPicPr>
          <p:nvPr/>
        </p:nvPicPr>
        <p:blipFill>
          <a:blip xmlns:r="http://schemas.openxmlformats.org/officeDocument/2006/relationships" xmlns:a="http://schemas.openxmlformats.org/drawingml/2006/main" r:embed="R2cf9d6b3141b446f"/>
          <a:stretch xmlns:a="http://schemas.openxmlformats.org/drawingml/2006/main"/>
        </p:blipFill>
        <p:spPr>
          <a:xfrm xmlns:a="http://schemas.openxmlformats.org/drawingml/2006/main">
            <a:off x="2151289" y="4057650"/>
            <a:ext cx="171450" cy="171450"/>
          </a:xfrm>
          <a:prstGeom xmlns:a="http://schemas.openxmlformats.org/drawingml/2006/main" prst="rect">
            <a:avLst/>
          </a:prstGeom>
        </p:spPr>
      </p:pic>
      <p:pic>
        <p:nvPicPr>
          <p:cNvPr id="653" name="Picture 204"/>
          <p:cNvPicPr>
            <a:picLocks xmlns:a="http://schemas.openxmlformats.org/drawingml/2006/main" noChangeAspect="1"/>
          </p:cNvPicPr>
          <p:nvPr/>
        </p:nvPicPr>
        <p:blipFill>
          <a:blip xmlns:r="http://schemas.openxmlformats.org/officeDocument/2006/relationships" xmlns:a="http://schemas.openxmlformats.org/drawingml/2006/main" r:embed="R6bac7cf8d2ea477c"/>
          <a:stretch xmlns:a="http://schemas.openxmlformats.org/drawingml/2006/main"/>
        </p:blipFill>
        <p:spPr>
          <a:xfrm xmlns:a="http://schemas.openxmlformats.org/drawingml/2006/main">
            <a:off x="3261632" y="4057650"/>
            <a:ext cx="171450" cy="171450"/>
          </a:xfrm>
          <a:prstGeom xmlns:a="http://schemas.openxmlformats.org/drawingml/2006/main" prst="rect">
            <a:avLst/>
          </a:prstGeom>
        </p:spPr>
      </p:pic>
      <p:pic>
        <p:nvPicPr>
          <p:cNvPr id="654" name="Picture 205"/>
          <p:cNvPicPr>
            <a:picLocks xmlns:a="http://schemas.openxmlformats.org/drawingml/2006/main" noChangeAspect="1"/>
          </p:cNvPicPr>
          <p:nvPr/>
        </p:nvPicPr>
        <p:blipFill>
          <a:blip xmlns:r="http://schemas.openxmlformats.org/officeDocument/2006/relationships" xmlns:a="http://schemas.openxmlformats.org/drawingml/2006/main" r:embed="Rf3981ee07fef4bb3"/>
          <a:stretch xmlns:a="http://schemas.openxmlformats.org/drawingml/2006/main"/>
        </p:blipFill>
        <p:spPr>
          <a:xfrm xmlns:a="http://schemas.openxmlformats.org/drawingml/2006/main">
            <a:off x="4257675" y="4076700"/>
            <a:ext cx="400050" cy="133350"/>
          </a:xfrm>
          <a:prstGeom xmlns:a="http://schemas.openxmlformats.org/drawingml/2006/main" prst="rect">
            <a:avLst/>
          </a:prstGeom>
        </p:spPr>
      </p:pic>
      <p:pic>
        <p:nvPicPr>
          <p:cNvPr id="655" name="Picture 206"/>
          <p:cNvPicPr>
            <a:picLocks xmlns:a="http://schemas.openxmlformats.org/drawingml/2006/main" noChangeAspect="1"/>
          </p:cNvPicPr>
          <p:nvPr/>
        </p:nvPicPr>
        <p:blipFill>
          <a:blip xmlns:r="http://schemas.openxmlformats.org/officeDocument/2006/relationships" xmlns:a="http://schemas.openxmlformats.org/drawingml/2006/main" r:embed="R0f1bc2926f0b47d6"/>
          <a:stretch xmlns:a="http://schemas.openxmlformats.org/drawingml/2006/main"/>
        </p:blipFill>
        <p:spPr>
          <a:xfrm xmlns:a="http://schemas.openxmlformats.org/drawingml/2006/main">
            <a:off x="4714875" y="4057650"/>
            <a:ext cx="171450" cy="171450"/>
          </a:xfrm>
          <a:prstGeom xmlns:a="http://schemas.openxmlformats.org/drawingml/2006/main" prst="rect">
            <a:avLst/>
          </a:prstGeom>
        </p:spPr>
      </p:pic>
      <p:pic>
        <p:nvPicPr>
          <p:cNvPr id="656" name="Picture 207"/>
          <p:cNvPicPr>
            <a:picLocks xmlns:a="http://schemas.openxmlformats.org/drawingml/2006/main" noChangeAspect="1"/>
          </p:cNvPicPr>
          <p:nvPr/>
        </p:nvPicPr>
        <p:blipFill>
          <a:blip xmlns:r="http://schemas.openxmlformats.org/officeDocument/2006/relationships" xmlns:a="http://schemas.openxmlformats.org/drawingml/2006/main" r:embed="R970c88a269e841e1"/>
          <a:stretch xmlns:a="http://schemas.openxmlformats.org/drawingml/2006/main"/>
        </p:blipFill>
        <p:spPr>
          <a:xfrm xmlns:a="http://schemas.openxmlformats.org/drawingml/2006/main">
            <a:off x="5710918" y="4057650"/>
            <a:ext cx="171450" cy="171450"/>
          </a:xfrm>
          <a:prstGeom xmlns:a="http://schemas.openxmlformats.org/drawingml/2006/main" prst="rect">
            <a:avLst/>
          </a:prstGeom>
        </p:spPr>
      </p:pic>
      <p:pic>
        <p:nvPicPr>
          <p:cNvPr id="657" name="Picture 208"/>
          <p:cNvPicPr>
            <a:picLocks xmlns:a="http://schemas.openxmlformats.org/drawingml/2006/main" noChangeAspect="1"/>
          </p:cNvPicPr>
          <p:nvPr/>
        </p:nvPicPr>
        <p:blipFill>
          <a:blip xmlns:r="http://schemas.openxmlformats.org/officeDocument/2006/relationships" xmlns:a="http://schemas.openxmlformats.org/drawingml/2006/main" r:embed="R0b599acf159d4ca4"/>
          <a:stretch xmlns:a="http://schemas.openxmlformats.org/drawingml/2006/main"/>
        </p:blipFill>
        <p:spPr>
          <a:xfrm xmlns:a="http://schemas.openxmlformats.org/drawingml/2006/main">
            <a:off x="6935561" y="4057650"/>
            <a:ext cx="171450" cy="171450"/>
          </a:xfrm>
          <a:prstGeom xmlns:a="http://schemas.openxmlformats.org/drawingml/2006/main" prst="rect">
            <a:avLst/>
          </a:prstGeom>
        </p:spPr>
      </p:pic>
      <p:pic>
        <p:nvPicPr>
          <p:cNvPr id="658" name="Picture 209"/>
          <p:cNvPicPr>
            <a:picLocks xmlns:a="http://schemas.openxmlformats.org/drawingml/2006/main" noChangeAspect="1"/>
          </p:cNvPicPr>
          <p:nvPr/>
        </p:nvPicPr>
        <p:blipFill>
          <a:blip xmlns:r="http://schemas.openxmlformats.org/officeDocument/2006/relationships" xmlns:a="http://schemas.openxmlformats.org/drawingml/2006/main" r:embed="R594a28e5ac5f404e"/>
          <a:stretch xmlns:a="http://schemas.openxmlformats.org/drawingml/2006/main"/>
        </p:blipFill>
        <p:spPr>
          <a:xfrm xmlns:a="http://schemas.openxmlformats.org/drawingml/2006/main">
            <a:off x="7912554" y="4067175"/>
            <a:ext cx="666750" cy="152400"/>
          </a:xfrm>
          <a:prstGeom xmlns:a="http://schemas.openxmlformats.org/drawingml/2006/main" prst="rect">
            <a:avLst/>
          </a:prstGeom>
        </p:spPr>
      </p:pic>
      <p:sp>
        <p:nvSpPr>
          <p:cNvPr id="494" name="On-device zone">
            <a:extLst xmlns:a="http://schemas.openxmlformats.org/drawingml/2006/main">
              <a:ext uri="{FF2B5EF4-FFF2-40B4-BE49-F238E27FC236}">
                <a16:creationId xmlns:a16="http://schemas.microsoft.com/office/drawing/2014/main" id="{5CBE6F26-7F6D-45F3-A559-462E94E75357}"/>
              </a:ext>
            </a:extLst>
          </p:cNvPr>
          <p:cNvSpPr>
            <a:spLocks xmlns:a="http://schemas.openxmlformats.org/drawingml/2006/main" noGrp="1"/>
          </p:cNvSpPr>
          <p:nvPr/>
        </p:nvSpPr>
        <p:spPr>
          <a:xfrm xmlns:a="http://schemas.openxmlformats.org/drawingml/2006/main">
            <a:off x="285750" y="733425"/>
            <a:ext cx="609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975" b="1" i="0">
                <a:solidFill>
                  <a:srgbClr val="17964B"/>
                </a:solidFill>
                <a:latin typeface="Arial"/>
                <a:ea typeface="Arial"/>
                <a:cs typeface="Arial"/>
              </a:defRPr>
            </a:pPr>
            <a:r>
              <a:rPr sz="975" b="1" i="0">
                <a:solidFill>
                  <a:srgbClr val="17964B"/>
                </a:solidFill>
                <a:latin typeface="Arial"/>
                <a:ea typeface="Arial"/>
                <a:cs typeface="Arial"/>
              </a:rPr>
              <a:t>ON-DEVICE TRUST ZONE</a:t>
            </a:r>
          </a:p>
        </p:txBody>
      </p:sp>
      <p:sp>
        <p:nvSpPr>
          <p:cNvPr id="495" name="Server zone">
            <a:extLst xmlns:a="http://schemas.openxmlformats.org/drawingml/2006/main">
              <a:ext uri="{FF2B5EF4-FFF2-40B4-BE49-F238E27FC236}">
                <a16:creationId xmlns:a16="http://schemas.microsoft.com/office/drawing/2014/main" id="{25F9B3AA-2398-45C9-B2A8-765B38463E1E}"/>
              </a:ext>
            </a:extLst>
          </p:cNvPr>
          <p:cNvSpPr>
            <a:spLocks xmlns:a="http://schemas.openxmlformats.org/drawingml/2006/main" noGrp="1"/>
          </p:cNvSpPr>
          <p:nvPr/>
        </p:nvSpPr>
        <p:spPr>
          <a:xfrm xmlns:a="http://schemas.openxmlformats.org/drawingml/2006/main">
            <a:off x="7019925" y="733425"/>
            <a:ext cx="18383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975" b="1" i="0">
                <a:solidFill>
                  <a:srgbClr val="087ABD"/>
                </a:solidFill>
                <a:latin typeface="Arial"/>
                <a:ea typeface="Arial"/>
                <a:cs typeface="Arial"/>
              </a:defRPr>
            </a:pPr>
            <a:r>
              <a:rPr sz="975" b="1" i="0">
                <a:solidFill>
                  <a:srgbClr val="087ABD"/>
                </a:solidFill>
                <a:latin typeface="Arial"/>
                <a:ea typeface="Arial"/>
                <a:cs typeface="Arial"/>
              </a:rPr>
              <a:t>SERVER PLANNER</a:t>
            </a:r>
          </a:p>
        </p:txBody>
      </p:sp>
      <p:sp>
        <p:nvSpPr>
          <p:cNvPr id="496" name="Device server trust boundary">
            <a:extLst xmlns:a="http://schemas.openxmlformats.org/drawingml/2006/main">
              <a:ext uri="{FF2B5EF4-FFF2-40B4-BE49-F238E27FC236}">
                <a16:creationId xmlns:a16="http://schemas.microsoft.com/office/drawing/2014/main" id="{D2BCA9C9-E7A8-4582-A082-F9AC4950F5D8}"/>
              </a:ext>
            </a:extLst>
          </p:cNvPr>
          <p:cNvSpPr>
            <a:spLocks xmlns:a="http://schemas.openxmlformats.org/drawingml/2006/main" noGrp="1"/>
          </p:cNvSpPr>
          <p:nvPr/>
        </p:nvSpPr>
        <p:spPr>
          <a:xfrm xmlns:a="http://schemas.openxmlformats.org/drawingml/2006/main">
            <a:off x="6734175" y="723900"/>
            <a:ext cx="0" cy="3133725"/>
          </a:xfrm>
          <a:prstGeom xmlns:a="http://schemas.openxmlformats.org/drawingml/2006/main" prst="line">
            <a:avLst/>
          </a:prstGeom>
          <a:noFill xmlns:a="http://schemas.openxmlformats.org/drawingml/2006/main"/>
          <a:ln xmlns:a="http://schemas.openxmlformats.org/drawingml/2006/main" w="17145">
            <a:solidFill>
              <a:srgbClr val="91AABA"/>
            </a:solidFill>
            <a:prstDash val="solid"/>
          </a:ln>
        </p:spPr>
      </p:sp>
      <p:sp>
        <p:nvSpPr>
          <p:cNvPr id="497" name="Capture step">
            <a:extLst xmlns:a="http://schemas.openxmlformats.org/drawingml/2006/main">
              <a:ext uri="{FF2B5EF4-FFF2-40B4-BE49-F238E27FC236}">
                <a16:creationId xmlns:a16="http://schemas.microsoft.com/office/drawing/2014/main" id="{5FF1AA3C-FF3D-4968-A9C7-20FE88B381DC}"/>
              </a:ext>
            </a:extLst>
          </p:cNvPr>
          <p:cNvSpPr>
            <a:spLocks xmlns:a="http://schemas.openxmlformats.org/drawingml/2006/main" noGrp="1"/>
          </p:cNvSpPr>
          <p:nvPr/>
        </p:nvSpPr>
        <p:spPr>
          <a:xfrm xmlns:a="http://schemas.openxmlformats.org/drawingml/2006/main">
            <a:off x="285750" y="1038225"/>
            <a:ext cx="1885950" cy="1047750"/>
          </a:xfrm>
          <a:prstGeom xmlns:a="http://schemas.openxmlformats.org/drawingml/2006/main" prst="roundRect">
            <a:avLst>
              <a:gd name="adj" fmla="val 11818"/>
            </a:avLst>
          </a:prstGeom>
          <a:solidFill xmlns:a="http://schemas.openxmlformats.org/drawingml/2006/main">
            <a:srgbClr val="EAF7EF"/>
          </a:solidFill>
          <a:ln xmlns:a="http://schemas.openxmlformats.org/drawingml/2006/main" w="11430">
            <a:solidFill>
              <a:srgbClr val="17964B"/>
            </a:solidFill>
          </a:ln>
        </p:spPr>
      </p:sp>
      <p:sp>
        <p:nvSpPr>
          <p:cNvPr id="498" name="Capture step title">
            <a:extLst xmlns:a="http://schemas.openxmlformats.org/drawingml/2006/main">
              <a:ext uri="{FF2B5EF4-FFF2-40B4-BE49-F238E27FC236}">
                <a16:creationId xmlns:a16="http://schemas.microsoft.com/office/drawing/2014/main" id="{3040AC35-5D9C-4D7A-BDF4-6DB60350038A}"/>
              </a:ext>
            </a:extLst>
          </p:cNvPr>
          <p:cNvSpPr>
            <a:spLocks xmlns:a="http://schemas.openxmlformats.org/drawingml/2006/main" noGrp="1"/>
          </p:cNvSpPr>
          <p:nvPr/>
        </p:nvSpPr>
        <p:spPr>
          <a:xfrm xmlns:a="http://schemas.openxmlformats.org/drawingml/2006/main">
            <a:off x="400050" y="1152525"/>
            <a:ext cx="1314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050" b="1" i="0">
                <a:solidFill>
                  <a:srgbClr val="17964B"/>
                </a:solidFill>
                <a:latin typeface="Arial"/>
                <a:ea typeface="Arial"/>
                <a:cs typeface="Arial"/>
              </a:defRPr>
            </a:pPr>
            <a:r>
              <a:rPr sz="1050" b="1" i="0">
                <a:solidFill>
                  <a:srgbClr val="17964B"/>
                </a:solidFill>
                <a:latin typeface="Arial"/>
                <a:ea typeface="Arial"/>
                <a:cs typeface="Arial"/>
              </a:rPr>
              <a:t>1  CAPTURE</a:t>
            </a:r>
          </a:p>
        </p:txBody>
      </p:sp>
      <p:sp>
        <p:nvSpPr>
          <p:cNvPr id="499" name="Capture step detail">
            <a:extLst xmlns:a="http://schemas.openxmlformats.org/drawingml/2006/main">
              <a:ext uri="{FF2B5EF4-FFF2-40B4-BE49-F238E27FC236}">
                <a16:creationId xmlns:a16="http://schemas.microsoft.com/office/drawing/2014/main" id="{B2EB8112-CDAA-4C1E-BFA4-47944578F611}"/>
              </a:ext>
            </a:extLst>
          </p:cNvPr>
          <p:cNvSpPr>
            <a:spLocks xmlns:a="http://schemas.openxmlformats.org/drawingml/2006/main" noGrp="1"/>
          </p:cNvSpPr>
          <p:nvPr/>
        </p:nvSpPr>
        <p:spPr>
          <a:xfrm xmlns:a="http://schemas.openxmlformats.org/drawingml/2006/main">
            <a:off x="400050" y="1466850"/>
            <a:ext cx="1657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923" b="0" i="0">
                <a:solidFill>
                  <a:srgbClr val="334155"/>
                </a:solidFill>
                <a:latin typeface="Arial"/>
                <a:ea typeface="Arial"/>
                <a:cs typeface="Arial"/>
              </a:defRPr>
            </a:pPr>
            <a:r>
              <a:rPr sz="923" b="0" i="0">
                <a:solidFill>
                  <a:srgbClr val="334155"/>
                </a:solidFill>
                <a:latin typeface="Arial"/>
                <a:ea typeface="Arial"/>
                <a:cs typeface="Arial"/>
              </a:rPr>
              <a:t>DOM, accessibility data</a:t>
            </a:r>
          </a:p>
          <a:p xmlns:a="http://schemas.openxmlformats.org/drawingml/2006/main">
            <a:pPr algn="l">
              <a:lnSpc>
                <a:spcPct val="106000"/>
              </a:lnSpc>
              <a:buNone/>
              <a:defRPr sz="923" b="0" i="0">
                <a:solidFill>
                  <a:srgbClr val="334155"/>
                </a:solidFill>
                <a:latin typeface="Arial"/>
                <a:ea typeface="Arial"/>
                <a:cs typeface="Arial"/>
              </a:defRPr>
            </a:pPr>
            <a:r>
              <a:rPr sz="923" b="0" i="0">
                <a:solidFill>
                  <a:srgbClr val="334155"/>
                </a:solidFill>
                <a:latin typeface="Arial"/>
                <a:ea typeface="Arial"/>
                <a:cs typeface="Arial"/>
              </a:rPr>
              <a:t>and visible pixels</a:t>
            </a:r>
          </a:p>
        </p:txBody>
      </p:sp>
      <p:sp>
        <p:nvSpPr>
          <p:cNvPr id="500" name="Perception step">
            <a:extLst xmlns:a="http://schemas.openxmlformats.org/drawingml/2006/main">
              <a:ext uri="{FF2B5EF4-FFF2-40B4-BE49-F238E27FC236}">
                <a16:creationId xmlns:a16="http://schemas.microsoft.com/office/drawing/2014/main" id="{BFE3862A-5125-45C8-B6A6-09F1E3998C4C}"/>
              </a:ext>
            </a:extLst>
          </p:cNvPr>
          <p:cNvSpPr>
            <a:spLocks xmlns:a="http://schemas.openxmlformats.org/drawingml/2006/main" noGrp="1"/>
          </p:cNvSpPr>
          <p:nvPr/>
        </p:nvSpPr>
        <p:spPr>
          <a:xfrm xmlns:a="http://schemas.openxmlformats.org/drawingml/2006/main">
            <a:off x="2400300" y="1038225"/>
            <a:ext cx="1885950" cy="1047750"/>
          </a:xfrm>
          <a:prstGeom xmlns:a="http://schemas.openxmlformats.org/drawingml/2006/main" prst="roundRect">
            <a:avLst>
              <a:gd name="adj" fmla="val 11818"/>
            </a:avLst>
          </a:prstGeom>
          <a:solidFill xmlns:a="http://schemas.openxmlformats.org/drawingml/2006/main">
            <a:srgbClr val="EAF7EF"/>
          </a:solidFill>
          <a:ln xmlns:a="http://schemas.openxmlformats.org/drawingml/2006/main" w="11430">
            <a:solidFill>
              <a:srgbClr val="17964B"/>
            </a:solidFill>
          </a:ln>
        </p:spPr>
      </p:sp>
      <p:sp>
        <p:nvSpPr>
          <p:cNvPr id="501" name="Perception step title">
            <a:extLst xmlns:a="http://schemas.openxmlformats.org/drawingml/2006/main">
              <a:ext uri="{FF2B5EF4-FFF2-40B4-BE49-F238E27FC236}">
                <a16:creationId xmlns:a16="http://schemas.microsoft.com/office/drawing/2014/main" id="{780FEB4C-5D4D-46F9-8EBA-D85D53637E5E}"/>
              </a:ext>
            </a:extLst>
          </p:cNvPr>
          <p:cNvSpPr>
            <a:spLocks xmlns:a="http://schemas.openxmlformats.org/drawingml/2006/main" noGrp="1"/>
          </p:cNvSpPr>
          <p:nvPr/>
        </p:nvSpPr>
        <p:spPr>
          <a:xfrm xmlns:a="http://schemas.openxmlformats.org/drawingml/2006/main">
            <a:off x="2514600" y="1152525"/>
            <a:ext cx="1200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050" b="1" i="0">
                <a:solidFill>
                  <a:srgbClr val="17964B"/>
                </a:solidFill>
                <a:latin typeface="Arial"/>
                <a:ea typeface="Arial"/>
                <a:cs typeface="Arial"/>
              </a:defRPr>
            </a:pPr>
            <a:r>
              <a:rPr sz="1050" b="1" i="0">
                <a:solidFill>
                  <a:srgbClr val="17964B"/>
                </a:solidFill>
                <a:latin typeface="Arial"/>
                <a:ea typeface="Arial"/>
                <a:cs typeface="Arial"/>
              </a:rPr>
              <a:t>2  PERCEIVE</a:t>
            </a:r>
          </a:p>
        </p:txBody>
      </p:sp>
      <p:sp>
        <p:nvSpPr>
          <p:cNvPr id="502" name="Perception step detail">
            <a:extLst xmlns:a="http://schemas.openxmlformats.org/drawingml/2006/main">
              <a:ext uri="{FF2B5EF4-FFF2-40B4-BE49-F238E27FC236}">
                <a16:creationId xmlns:a16="http://schemas.microsoft.com/office/drawing/2014/main" id="{DE58DBEB-A81F-431A-8887-013714AC6291}"/>
              </a:ext>
            </a:extLst>
          </p:cNvPr>
          <p:cNvSpPr>
            <a:spLocks xmlns:a="http://schemas.openxmlformats.org/drawingml/2006/main" noGrp="1"/>
          </p:cNvSpPr>
          <p:nvPr/>
        </p:nvSpPr>
        <p:spPr>
          <a:xfrm xmlns:a="http://schemas.openxmlformats.org/drawingml/2006/main">
            <a:off x="2514600" y="1466850"/>
            <a:ext cx="1657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923" b="0" i="0">
                <a:solidFill>
                  <a:srgbClr val="334155"/>
                </a:solidFill>
                <a:latin typeface="Arial"/>
                <a:ea typeface="Arial"/>
                <a:cs typeface="Arial"/>
              </a:defRPr>
            </a:pPr>
            <a:r>
              <a:rPr sz="923" b="0" i="0">
                <a:solidFill>
                  <a:srgbClr val="334155"/>
                </a:solidFill>
                <a:latin typeface="Arial"/>
                <a:ea typeface="Arial"/>
                <a:cs typeface="Arial"/>
              </a:rPr>
              <a:t>YOLOX faces </a:t>
            </a:r>
            <a:r>
              <a:rPr sz="923" b="0" i="0">
                <a:solidFill>
                  <a:srgbClr val="334155"/>
                </a:solidFill>
                <a:latin typeface="Arial"/>
                <a:ea typeface="Arial"/>
                <a:cs typeface="Arial"/>
                <a:hlinkClick xmlns:r="http://schemas.openxmlformats.org/officeDocument/2006/relationships" r:id="Rbccea331cbd34708"/>
              </a:rPr>
              <a:t>[1]</a:t>
            </a:r>
          </a:p>
          <a:p xmlns:a="http://schemas.openxmlformats.org/drawingml/2006/main">
            <a:pPr algn="l">
              <a:lnSpc>
                <a:spcPct val="106000"/>
              </a:lnSpc>
              <a:buNone/>
              <a:defRPr sz="923" b="0" i="0">
                <a:solidFill>
                  <a:srgbClr val="334155"/>
                </a:solidFill>
                <a:latin typeface="Arial"/>
                <a:ea typeface="Arial"/>
                <a:cs typeface="Arial"/>
              </a:defRPr>
            </a:pPr>
            <a:r>
              <a:rPr sz="923" b="0" i="0">
                <a:solidFill>
                  <a:srgbClr val="334155"/>
                </a:solidFill>
                <a:latin typeface="Arial"/>
                <a:ea typeface="Arial"/>
                <a:cs typeface="Arial"/>
              </a:rPr>
              <a:t>PP-OCR text </a:t>
            </a:r>
            <a:r>
              <a:rPr sz="923" b="0" i="0">
                <a:solidFill>
                  <a:srgbClr val="334155"/>
                </a:solidFill>
                <a:latin typeface="Arial"/>
                <a:ea typeface="Arial"/>
                <a:cs typeface="Arial"/>
                <a:hlinkClick xmlns:r="http://schemas.openxmlformats.org/officeDocument/2006/relationships" r:id="Rbbcdbd655499447c"/>
              </a:rPr>
              <a:t>[2]</a:t>
            </a:r>
          </a:p>
          <a:p xmlns:a="http://schemas.openxmlformats.org/drawingml/2006/main">
            <a:pPr algn="l">
              <a:lnSpc>
                <a:spcPct val="106000"/>
              </a:lnSpc>
              <a:buNone/>
              <a:defRPr sz="923" b="0" i="0">
                <a:solidFill>
                  <a:srgbClr val="334155"/>
                </a:solidFill>
                <a:latin typeface="Arial"/>
                <a:ea typeface="Arial"/>
                <a:cs typeface="Arial"/>
              </a:defRPr>
            </a:pPr>
            <a:r>
              <a:rPr sz="923" b="0" i="0">
                <a:solidFill>
                  <a:srgbClr val="334155"/>
                </a:solidFill>
                <a:latin typeface="Arial"/>
                <a:ea typeface="Arial"/>
                <a:cs typeface="Arial"/>
              </a:rPr>
              <a:t>Rampart contextual PII</a:t>
            </a:r>
          </a:p>
        </p:txBody>
      </p:sp>
      <p:sp>
        <p:nvSpPr>
          <p:cNvPr id="503" name="Protection step">
            <a:extLst xmlns:a="http://schemas.openxmlformats.org/drawingml/2006/main">
              <a:ext uri="{FF2B5EF4-FFF2-40B4-BE49-F238E27FC236}">
                <a16:creationId xmlns:a16="http://schemas.microsoft.com/office/drawing/2014/main" id="{37A37B24-F9D0-4B0D-AFCC-4E81B2C0A367}"/>
              </a:ext>
            </a:extLst>
          </p:cNvPr>
          <p:cNvSpPr>
            <a:spLocks xmlns:a="http://schemas.openxmlformats.org/drawingml/2006/main" noGrp="1"/>
          </p:cNvSpPr>
          <p:nvPr/>
        </p:nvSpPr>
        <p:spPr>
          <a:xfrm xmlns:a="http://schemas.openxmlformats.org/drawingml/2006/main">
            <a:off x="4514850" y="1038225"/>
            <a:ext cx="1885950" cy="1047750"/>
          </a:xfrm>
          <a:prstGeom xmlns:a="http://schemas.openxmlformats.org/drawingml/2006/main" prst="roundRect">
            <a:avLst>
              <a:gd name="adj" fmla="val 11818"/>
            </a:avLst>
          </a:prstGeom>
          <a:solidFill xmlns:a="http://schemas.openxmlformats.org/drawingml/2006/main">
            <a:srgbClr val="EAF7EF"/>
          </a:solidFill>
          <a:ln xmlns:a="http://schemas.openxmlformats.org/drawingml/2006/main" w="11430">
            <a:solidFill>
              <a:srgbClr val="17964B"/>
            </a:solidFill>
          </a:ln>
        </p:spPr>
      </p:sp>
      <p:sp>
        <p:nvSpPr>
          <p:cNvPr id="504" name="Protection step title">
            <a:extLst xmlns:a="http://schemas.openxmlformats.org/drawingml/2006/main">
              <a:ext uri="{FF2B5EF4-FFF2-40B4-BE49-F238E27FC236}">
                <a16:creationId xmlns:a16="http://schemas.microsoft.com/office/drawing/2014/main" id="{09FC8490-E916-47BC-92A9-E486117F97B0}"/>
              </a:ext>
            </a:extLst>
          </p:cNvPr>
          <p:cNvSpPr>
            <a:spLocks xmlns:a="http://schemas.openxmlformats.org/drawingml/2006/main" noGrp="1"/>
          </p:cNvSpPr>
          <p:nvPr/>
        </p:nvSpPr>
        <p:spPr>
          <a:xfrm xmlns:a="http://schemas.openxmlformats.org/drawingml/2006/main">
            <a:off x="4629150" y="1152525"/>
            <a:ext cx="1314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050" b="1" i="0">
                <a:solidFill>
                  <a:srgbClr val="17964B"/>
                </a:solidFill>
                <a:latin typeface="Arial"/>
                <a:ea typeface="Arial"/>
                <a:cs typeface="Arial"/>
              </a:defRPr>
            </a:pPr>
            <a:r>
              <a:rPr sz="1050" b="1" i="0">
                <a:solidFill>
                  <a:srgbClr val="17964B"/>
                </a:solidFill>
                <a:latin typeface="Arial"/>
                <a:ea typeface="Arial"/>
                <a:cs typeface="Arial"/>
              </a:rPr>
              <a:t>3  PROTECT</a:t>
            </a:r>
          </a:p>
        </p:txBody>
      </p:sp>
      <p:sp>
        <p:nvSpPr>
          <p:cNvPr id="505" name="Protection step detail">
            <a:extLst xmlns:a="http://schemas.openxmlformats.org/drawingml/2006/main">
              <a:ext uri="{FF2B5EF4-FFF2-40B4-BE49-F238E27FC236}">
                <a16:creationId xmlns:a16="http://schemas.microsoft.com/office/drawing/2014/main" id="{D9AF29FB-6051-472B-B5E8-FAD266AFD0E6}"/>
              </a:ext>
            </a:extLst>
          </p:cNvPr>
          <p:cNvSpPr>
            <a:spLocks xmlns:a="http://schemas.openxmlformats.org/drawingml/2006/main" noGrp="1"/>
          </p:cNvSpPr>
          <p:nvPr/>
        </p:nvSpPr>
        <p:spPr>
          <a:xfrm xmlns:a="http://schemas.openxmlformats.org/drawingml/2006/main">
            <a:off x="4629150" y="1466850"/>
            <a:ext cx="1657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923" b="0" i="0">
                <a:solidFill>
                  <a:srgbClr val="334155"/>
                </a:solidFill>
                <a:latin typeface="Arial"/>
                <a:ea typeface="Arial"/>
                <a:cs typeface="Arial"/>
              </a:defRPr>
            </a:pPr>
            <a:r>
              <a:rPr sz="923" b="0" i="0">
                <a:solidFill>
                  <a:srgbClr val="334155"/>
                </a:solidFill>
                <a:latin typeface="Arial"/>
                <a:ea typeface="Arial"/>
                <a:cs typeface="Arial"/>
              </a:rPr>
              <a:t>Mask detected secrets.</a:t>
            </a:r>
          </a:p>
          <a:p xmlns:a="http://schemas.openxmlformats.org/drawingml/2006/main">
            <a:pPr algn="l">
              <a:lnSpc>
                <a:spcPct val="106000"/>
              </a:lnSpc>
              <a:buNone/>
              <a:defRPr sz="923" b="0" i="0">
                <a:solidFill>
                  <a:srgbClr val="334155"/>
                </a:solidFill>
                <a:latin typeface="Arial"/>
                <a:ea typeface="Arial"/>
                <a:cs typeface="Arial"/>
              </a:defRPr>
            </a:pPr>
            <a:r>
              <a:rPr sz="923" b="0" i="0">
                <a:solidFill>
                  <a:srgbClr val="334155"/>
                </a:solidFill>
                <a:latin typeface="Arial"/>
                <a:ea typeface="Arial"/>
                <a:cs typeface="Arial"/>
              </a:rPr>
              <a:t>Use LOCAL_* references.</a:t>
            </a:r>
          </a:p>
          <a:p xmlns:a="http://schemas.openxmlformats.org/drawingml/2006/main">
            <a:pPr algn="l">
              <a:lnSpc>
                <a:spcPct val="106000"/>
              </a:lnSpc>
              <a:buNone/>
              <a:defRPr sz="923" b="0" i="0">
                <a:solidFill>
                  <a:srgbClr val="334155"/>
                </a:solidFill>
                <a:latin typeface="Arial"/>
                <a:ea typeface="Arial"/>
                <a:cs typeface="Arial"/>
              </a:defRPr>
            </a:pPr>
            <a:r>
              <a:rPr sz="923" b="0" i="0">
                <a:solidFill>
                  <a:srgbClr val="334155"/>
                </a:solidFill>
                <a:latin typeface="Arial"/>
                <a:ea typeface="Arial"/>
                <a:cs typeface="Arial"/>
              </a:rPr>
              <a:t>Keep raw values locally.</a:t>
            </a:r>
          </a:p>
        </p:txBody>
      </p:sp>
      <p:sp>
        <p:nvSpPr>
          <p:cNvPr id="506" name="Reasoning step">
            <a:extLst xmlns:a="http://schemas.openxmlformats.org/drawingml/2006/main">
              <a:ext uri="{FF2B5EF4-FFF2-40B4-BE49-F238E27FC236}">
                <a16:creationId xmlns:a16="http://schemas.microsoft.com/office/drawing/2014/main" id="{C9C259CD-D156-4B9B-89CC-D88B5BF001E4}"/>
              </a:ext>
            </a:extLst>
          </p:cNvPr>
          <p:cNvSpPr>
            <a:spLocks xmlns:a="http://schemas.openxmlformats.org/drawingml/2006/main" noGrp="1"/>
          </p:cNvSpPr>
          <p:nvPr/>
        </p:nvSpPr>
        <p:spPr>
          <a:xfrm xmlns:a="http://schemas.openxmlformats.org/drawingml/2006/main">
            <a:off x="7019925" y="1038225"/>
            <a:ext cx="1838325" cy="1047750"/>
          </a:xfrm>
          <a:prstGeom xmlns:a="http://schemas.openxmlformats.org/drawingml/2006/main" prst="roundRect">
            <a:avLst>
              <a:gd name="adj" fmla="val 11818"/>
            </a:avLst>
          </a:prstGeom>
          <a:solidFill xmlns:a="http://schemas.openxmlformats.org/drawingml/2006/main">
            <a:srgbClr val="EAF5FC"/>
          </a:solidFill>
          <a:ln xmlns:a="http://schemas.openxmlformats.org/drawingml/2006/main" w="11430">
            <a:solidFill>
              <a:srgbClr val="087ABD"/>
            </a:solidFill>
          </a:ln>
        </p:spPr>
      </p:sp>
      <p:sp>
        <p:nvSpPr>
          <p:cNvPr id="507" name="Reasoning step title">
            <a:extLst xmlns:a="http://schemas.openxmlformats.org/drawingml/2006/main">
              <a:ext uri="{FF2B5EF4-FFF2-40B4-BE49-F238E27FC236}">
                <a16:creationId xmlns:a16="http://schemas.microsoft.com/office/drawing/2014/main" id="{B73C9E98-0FA3-49E1-9E0E-3EABC7C40FBC}"/>
              </a:ext>
            </a:extLst>
          </p:cNvPr>
          <p:cNvSpPr>
            <a:spLocks xmlns:a="http://schemas.openxmlformats.org/drawingml/2006/main" noGrp="1"/>
          </p:cNvSpPr>
          <p:nvPr/>
        </p:nvSpPr>
        <p:spPr>
          <a:xfrm xmlns:a="http://schemas.openxmlformats.org/drawingml/2006/main">
            <a:off x="7134225" y="1152525"/>
            <a:ext cx="14192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050" b="1" i="0">
                <a:solidFill>
                  <a:srgbClr val="087ABD"/>
                </a:solidFill>
                <a:latin typeface="Arial"/>
                <a:ea typeface="Arial"/>
                <a:cs typeface="Arial"/>
              </a:defRPr>
            </a:pPr>
            <a:r>
              <a:rPr sz="1050" b="1" i="0">
                <a:solidFill>
                  <a:srgbClr val="087ABD"/>
                </a:solidFill>
                <a:latin typeface="Arial"/>
                <a:ea typeface="Arial"/>
                <a:cs typeface="Arial"/>
              </a:rPr>
              <a:t>4  REASON </a:t>
            </a:r>
            <a:r>
              <a:rPr sz="1050" b="1" i="0">
                <a:solidFill>
                  <a:srgbClr val="087ABD"/>
                </a:solidFill>
                <a:latin typeface="Arial"/>
                <a:ea typeface="Arial"/>
                <a:cs typeface="Arial"/>
                <a:hlinkClick xmlns:r="http://schemas.openxmlformats.org/officeDocument/2006/relationships" r:id="R27634505e0d2471c"/>
              </a:rPr>
              <a:t>[3]</a:t>
            </a:r>
          </a:p>
        </p:txBody>
      </p:sp>
      <p:sp>
        <p:nvSpPr>
          <p:cNvPr id="508" name="Reasoning step detail">
            <a:extLst xmlns:a="http://schemas.openxmlformats.org/drawingml/2006/main">
              <a:ext uri="{FF2B5EF4-FFF2-40B4-BE49-F238E27FC236}">
                <a16:creationId xmlns:a16="http://schemas.microsoft.com/office/drawing/2014/main" id="{FBC4A35D-564E-4535-8D12-084A34C9E083}"/>
              </a:ext>
            </a:extLst>
          </p:cNvPr>
          <p:cNvSpPr>
            <a:spLocks xmlns:a="http://schemas.openxmlformats.org/drawingml/2006/main" noGrp="1"/>
          </p:cNvSpPr>
          <p:nvPr/>
        </p:nvSpPr>
        <p:spPr>
          <a:xfrm xmlns:a="http://schemas.openxmlformats.org/drawingml/2006/main">
            <a:off x="7134225" y="1466850"/>
            <a:ext cx="16097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923" b="0" i="0">
                <a:solidFill>
                  <a:srgbClr val="334155"/>
                </a:solidFill>
                <a:latin typeface="Arial"/>
                <a:ea typeface="Arial"/>
                <a:cs typeface="Arial"/>
              </a:defRPr>
            </a:pPr>
            <a:r>
              <a:rPr sz="923" b="0" i="0">
                <a:solidFill>
                  <a:srgbClr val="334155"/>
                </a:solidFill>
                <a:latin typeface="Arial"/>
                <a:ea typeface="Arial"/>
                <a:cs typeface="Arial"/>
              </a:rPr>
              <a:t>Qwen compares sanitized</a:t>
            </a:r>
          </a:p>
          <a:p xmlns:a="http://schemas.openxmlformats.org/drawingml/2006/main">
            <a:pPr algn="l">
              <a:lnSpc>
                <a:spcPct val="106000"/>
              </a:lnSpc>
              <a:buNone/>
              <a:defRPr sz="923" b="0" i="0">
                <a:solidFill>
                  <a:srgbClr val="334155"/>
                </a:solidFill>
                <a:latin typeface="Arial"/>
                <a:ea typeface="Arial"/>
                <a:cs typeface="Arial"/>
              </a:defRPr>
            </a:pPr>
            <a:r>
              <a:rPr sz="923" b="0" i="0">
                <a:solidFill>
                  <a:srgbClr val="334155"/>
                </a:solidFill>
                <a:latin typeface="Arial"/>
                <a:ea typeface="Arial"/>
                <a:cs typeface="Arial"/>
              </a:rPr>
              <a:t>fares and proposes</a:t>
            </a:r>
          </a:p>
          <a:p xmlns:a="http://schemas.openxmlformats.org/drawingml/2006/main">
            <a:pPr algn="l">
              <a:lnSpc>
                <a:spcPct val="106000"/>
              </a:lnSpc>
              <a:buNone/>
              <a:defRPr sz="923" b="0" i="0">
                <a:solidFill>
                  <a:srgbClr val="334155"/>
                </a:solidFill>
                <a:latin typeface="Arial"/>
                <a:ea typeface="Arial"/>
                <a:cs typeface="Arial"/>
              </a:defRPr>
            </a:pPr>
            <a:r>
              <a:rPr sz="923" b="0" i="0">
                <a:solidFill>
                  <a:srgbClr val="334155"/>
                </a:solidFill>
                <a:latin typeface="Arial"/>
                <a:ea typeface="Arial"/>
                <a:cs typeface="Arial"/>
              </a:rPr>
              <a:t>a structured action.</a:t>
            </a:r>
          </a:p>
        </p:txBody>
      </p:sp>
      <p:sp>
        <p:nvSpPr>
          <p:cNvPr id="509" name="Local action gate">
            <a:extLst xmlns:a="http://schemas.openxmlformats.org/drawingml/2006/main">
              <a:ext uri="{FF2B5EF4-FFF2-40B4-BE49-F238E27FC236}">
                <a16:creationId xmlns:a16="http://schemas.microsoft.com/office/drawing/2014/main" id="{8C2DEBAB-2911-458E-8702-7F58903ACB45}"/>
              </a:ext>
            </a:extLst>
          </p:cNvPr>
          <p:cNvSpPr>
            <a:spLocks xmlns:a="http://schemas.openxmlformats.org/drawingml/2006/main" noGrp="1"/>
          </p:cNvSpPr>
          <p:nvPr/>
        </p:nvSpPr>
        <p:spPr>
          <a:xfrm xmlns:a="http://schemas.openxmlformats.org/drawingml/2006/main">
            <a:off x="4514850" y="2600325"/>
            <a:ext cx="1885950" cy="981075"/>
          </a:xfrm>
          <a:prstGeom xmlns:a="http://schemas.openxmlformats.org/drawingml/2006/main" prst="roundRect">
            <a:avLst>
              <a:gd name="adj" fmla="val 12621"/>
            </a:avLst>
          </a:prstGeom>
          <a:solidFill xmlns:a="http://schemas.openxmlformats.org/drawingml/2006/main">
            <a:srgbClr val="FFF7E5"/>
          </a:solidFill>
          <a:ln xmlns:a="http://schemas.openxmlformats.org/drawingml/2006/main" w="11430">
            <a:solidFill>
              <a:srgbClr val="A66A00"/>
            </a:solidFill>
          </a:ln>
        </p:spPr>
      </p:sp>
      <p:sp>
        <p:nvSpPr>
          <p:cNvPr id="510" name="Local action gate title">
            <a:extLst xmlns:a="http://schemas.openxmlformats.org/drawingml/2006/main">
              <a:ext uri="{FF2B5EF4-FFF2-40B4-BE49-F238E27FC236}">
                <a16:creationId xmlns:a16="http://schemas.microsoft.com/office/drawing/2014/main" id="{8079E808-FDF1-455C-BB1E-78F4BDE453CC}"/>
              </a:ext>
            </a:extLst>
          </p:cNvPr>
          <p:cNvSpPr>
            <a:spLocks xmlns:a="http://schemas.openxmlformats.org/drawingml/2006/main" noGrp="1"/>
          </p:cNvSpPr>
          <p:nvPr/>
        </p:nvSpPr>
        <p:spPr>
          <a:xfrm xmlns:a="http://schemas.openxmlformats.org/drawingml/2006/main">
            <a:off x="4629150" y="2714625"/>
            <a:ext cx="14954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050" b="1" i="0">
                <a:solidFill>
                  <a:srgbClr val="A66A00"/>
                </a:solidFill>
                <a:latin typeface="Arial"/>
                <a:ea typeface="Arial"/>
                <a:cs typeface="Arial"/>
              </a:defRPr>
            </a:pPr>
            <a:r>
              <a:rPr sz="1050" b="1" i="0">
                <a:solidFill>
                  <a:srgbClr val="A66A00"/>
                </a:solidFill>
                <a:latin typeface="Arial"/>
                <a:ea typeface="Arial"/>
                <a:cs typeface="Arial"/>
              </a:rPr>
              <a:t>5  AUTHORIZE </a:t>
            </a:r>
            <a:r>
              <a:rPr sz="1050" b="1" i="0">
                <a:solidFill>
                  <a:srgbClr val="A66A00"/>
                </a:solidFill>
                <a:latin typeface="Arial"/>
                <a:ea typeface="Arial"/>
                <a:cs typeface="Arial"/>
                <a:hlinkClick xmlns:r="http://schemas.openxmlformats.org/officeDocument/2006/relationships" r:id="R1618a141e1b44671"/>
              </a:rPr>
              <a:t>[7]</a:t>
            </a:r>
          </a:p>
        </p:txBody>
      </p:sp>
      <p:sp>
        <p:nvSpPr>
          <p:cNvPr id="511" name="Local action gate detail">
            <a:extLst xmlns:a="http://schemas.openxmlformats.org/drawingml/2006/main">
              <a:ext uri="{FF2B5EF4-FFF2-40B4-BE49-F238E27FC236}">
                <a16:creationId xmlns:a16="http://schemas.microsoft.com/office/drawing/2014/main" id="{ED83D1D5-FFC6-4D08-9133-F7315F8B8162}"/>
              </a:ext>
            </a:extLst>
          </p:cNvPr>
          <p:cNvSpPr>
            <a:spLocks xmlns:a="http://schemas.openxmlformats.org/drawingml/2006/main" noGrp="1"/>
          </p:cNvSpPr>
          <p:nvPr/>
        </p:nvSpPr>
        <p:spPr>
          <a:xfrm xmlns:a="http://schemas.openxmlformats.org/drawingml/2006/main">
            <a:off x="4629150" y="3028950"/>
            <a:ext cx="1657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923" b="0" i="0">
                <a:solidFill>
                  <a:srgbClr val="334155"/>
                </a:solidFill>
                <a:latin typeface="Arial"/>
                <a:ea typeface="Arial"/>
                <a:cs typeface="Arial"/>
              </a:defRPr>
            </a:pPr>
            <a:r>
              <a:rPr sz="923" b="0" i="0">
                <a:solidFill>
                  <a:srgbClr val="334155"/>
                </a:solidFill>
                <a:latin typeface="Arial"/>
                <a:ea typeface="Arial"/>
                <a:cs typeface="Arial"/>
              </a:rPr>
              <a:t>Check field, origin and page.</a:t>
            </a:r>
          </a:p>
          <a:p xmlns:a="http://schemas.openxmlformats.org/drawingml/2006/main">
            <a:pPr algn="l">
              <a:lnSpc>
                <a:spcPct val="106000"/>
              </a:lnSpc>
              <a:buNone/>
              <a:defRPr sz="923" b="0" i="0">
                <a:solidFill>
                  <a:srgbClr val="334155"/>
                </a:solidFill>
                <a:latin typeface="Arial"/>
                <a:ea typeface="Arial"/>
                <a:cs typeface="Arial"/>
              </a:defRPr>
            </a:pPr>
            <a:r>
              <a:rPr sz="923" b="0" i="0">
                <a:solidFill>
                  <a:srgbClr val="334155"/>
                </a:solidFill>
                <a:latin typeface="Arial"/>
                <a:ea typeface="Arial"/>
                <a:cs typeface="Arial"/>
              </a:rPr>
              <a:t>Require one-use consent</a:t>
            </a:r>
          </a:p>
          <a:p xmlns:a="http://schemas.openxmlformats.org/drawingml/2006/main">
            <a:pPr algn="l">
              <a:lnSpc>
                <a:spcPct val="106000"/>
              </a:lnSpc>
              <a:buNone/>
              <a:defRPr sz="923" b="0" i="0">
                <a:solidFill>
                  <a:srgbClr val="334155"/>
                </a:solidFill>
                <a:latin typeface="Arial"/>
                <a:ea typeface="Arial"/>
                <a:cs typeface="Arial"/>
              </a:defRPr>
            </a:pPr>
            <a:r>
              <a:rPr sz="923" b="0" i="0">
                <a:solidFill>
                  <a:srgbClr val="334155"/>
                </a:solidFill>
                <a:latin typeface="Arial"/>
                <a:ea typeface="Arial"/>
                <a:cs typeface="Arial"/>
              </a:rPr>
              <a:t>before private-value release.</a:t>
            </a:r>
          </a:p>
        </p:txBody>
      </p:sp>
      <p:sp>
        <p:nvSpPr>
          <p:cNvPr id="512" name="Local execution">
            <a:extLst xmlns:a="http://schemas.openxmlformats.org/drawingml/2006/main">
              <a:ext uri="{FF2B5EF4-FFF2-40B4-BE49-F238E27FC236}">
                <a16:creationId xmlns:a16="http://schemas.microsoft.com/office/drawing/2014/main" id="{A293949B-DE8E-49CF-8F5E-6D61533BECF0}"/>
              </a:ext>
            </a:extLst>
          </p:cNvPr>
          <p:cNvSpPr>
            <a:spLocks xmlns:a="http://schemas.openxmlformats.org/drawingml/2006/main" noGrp="1"/>
          </p:cNvSpPr>
          <p:nvPr/>
        </p:nvSpPr>
        <p:spPr>
          <a:xfrm xmlns:a="http://schemas.openxmlformats.org/drawingml/2006/main">
            <a:off x="2400300" y="2600325"/>
            <a:ext cx="1885950" cy="981075"/>
          </a:xfrm>
          <a:prstGeom xmlns:a="http://schemas.openxmlformats.org/drawingml/2006/main" prst="roundRect">
            <a:avLst>
              <a:gd name="adj" fmla="val 12621"/>
            </a:avLst>
          </a:prstGeom>
          <a:solidFill xmlns:a="http://schemas.openxmlformats.org/drawingml/2006/main">
            <a:srgbClr val="EAF7EF"/>
          </a:solidFill>
          <a:ln xmlns:a="http://schemas.openxmlformats.org/drawingml/2006/main" w="11430">
            <a:solidFill>
              <a:srgbClr val="17964B"/>
            </a:solidFill>
          </a:ln>
        </p:spPr>
      </p:sp>
      <p:sp>
        <p:nvSpPr>
          <p:cNvPr id="513" name="Local execution title">
            <a:extLst xmlns:a="http://schemas.openxmlformats.org/drawingml/2006/main">
              <a:ext uri="{FF2B5EF4-FFF2-40B4-BE49-F238E27FC236}">
                <a16:creationId xmlns:a16="http://schemas.microsoft.com/office/drawing/2014/main" id="{1BCFC999-9681-4683-A96B-663C479B5F4E}"/>
              </a:ext>
            </a:extLst>
          </p:cNvPr>
          <p:cNvSpPr>
            <a:spLocks xmlns:a="http://schemas.openxmlformats.org/drawingml/2006/main" noGrp="1"/>
          </p:cNvSpPr>
          <p:nvPr/>
        </p:nvSpPr>
        <p:spPr>
          <a:xfrm xmlns:a="http://schemas.openxmlformats.org/drawingml/2006/main">
            <a:off x="2514600" y="2714625"/>
            <a:ext cx="1314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050" b="1" i="0">
                <a:solidFill>
                  <a:srgbClr val="17964B"/>
                </a:solidFill>
                <a:latin typeface="Arial"/>
                <a:ea typeface="Arial"/>
                <a:cs typeface="Arial"/>
              </a:defRPr>
            </a:pPr>
            <a:r>
              <a:rPr sz="1050" b="1" i="0">
                <a:solidFill>
                  <a:srgbClr val="17964B"/>
                </a:solidFill>
                <a:latin typeface="Arial"/>
                <a:ea typeface="Arial"/>
                <a:cs typeface="Arial"/>
              </a:rPr>
              <a:t>6  EXECUTE</a:t>
            </a:r>
          </a:p>
        </p:txBody>
      </p:sp>
      <p:sp>
        <p:nvSpPr>
          <p:cNvPr id="514" name="Local execution detail">
            <a:extLst xmlns:a="http://schemas.openxmlformats.org/drawingml/2006/main">
              <a:ext uri="{FF2B5EF4-FFF2-40B4-BE49-F238E27FC236}">
                <a16:creationId xmlns:a16="http://schemas.microsoft.com/office/drawing/2014/main" id="{BC9DE1F3-19C9-4E32-B892-B8F590F62E7D}"/>
              </a:ext>
            </a:extLst>
          </p:cNvPr>
          <p:cNvSpPr>
            <a:spLocks xmlns:a="http://schemas.openxmlformats.org/drawingml/2006/main" noGrp="1"/>
          </p:cNvSpPr>
          <p:nvPr/>
        </p:nvSpPr>
        <p:spPr>
          <a:xfrm xmlns:a="http://schemas.openxmlformats.org/drawingml/2006/main">
            <a:off x="2514600" y="3028950"/>
            <a:ext cx="1657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923" b="0" i="0">
                <a:solidFill>
                  <a:srgbClr val="334155"/>
                </a:solidFill>
                <a:latin typeface="Arial"/>
                <a:ea typeface="Arial"/>
                <a:cs typeface="Arial"/>
              </a:defRPr>
            </a:pPr>
            <a:r>
              <a:rPr sz="923" b="0" i="0">
                <a:solidFill>
                  <a:srgbClr val="334155"/>
                </a:solidFill>
                <a:latin typeface="Arial"/>
                <a:ea typeface="Arial"/>
                <a:cs typeface="Arial"/>
              </a:rPr>
              <a:t>Resolve the approved value.</a:t>
            </a:r>
          </a:p>
          <a:p xmlns:a="http://schemas.openxmlformats.org/drawingml/2006/main">
            <a:pPr algn="l">
              <a:lnSpc>
                <a:spcPct val="106000"/>
              </a:lnSpc>
              <a:buNone/>
              <a:defRPr sz="923" b="0" i="0">
                <a:solidFill>
                  <a:srgbClr val="334155"/>
                </a:solidFill>
                <a:latin typeface="Arial"/>
                <a:ea typeface="Arial"/>
                <a:cs typeface="Arial"/>
              </a:defRPr>
            </a:pPr>
            <a:r>
              <a:rPr sz="923" b="0" i="0">
                <a:solidFill>
                  <a:srgbClr val="334155"/>
                </a:solidFill>
                <a:latin typeface="Arial"/>
                <a:ea typeface="Arial"/>
                <a:cs typeface="Arial"/>
              </a:rPr>
              <a:t>Fill only the authorized field.</a:t>
            </a:r>
          </a:p>
        </p:txBody>
      </p:sp>
      <p:sp>
        <p:nvSpPr>
          <p:cNvPr id="515" name="Outcome verification">
            <a:extLst xmlns:a="http://schemas.openxmlformats.org/drawingml/2006/main">
              <a:ext uri="{FF2B5EF4-FFF2-40B4-BE49-F238E27FC236}">
                <a16:creationId xmlns:a16="http://schemas.microsoft.com/office/drawing/2014/main" id="{997CE5EC-0119-45D9-B3C7-71282DCA955D}"/>
              </a:ext>
            </a:extLst>
          </p:cNvPr>
          <p:cNvSpPr>
            <a:spLocks xmlns:a="http://schemas.openxmlformats.org/drawingml/2006/main" noGrp="1"/>
          </p:cNvSpPr>
          <p:nvPr/>
        </p:nvSpPr>
        <p:spPr>
          <a:xfrm xmlns:a="http://schemas.openxmlformats.org/drawingml/2006/main">
            <a:off x="285750" y="2600325"/>
            <a:ext cx="1885950" cy="981075"/>
          </a:xfrm>
          <a:prstGeom xmlns:a="http://schemas.openxmlformats.org/drawingml/2006/main" prst="roundRect">
            <a:avLst>
              <a:gd name="adj" fmla="val 12621"/>
            </a:avLst>
          </a:prstGeom>
          <a:solidFill xmlns:a="http://schemas.openxmlformats.org/drawingml/2006/main">
            <a:srgbClr val="EAF7EF"/>
          </a:solidFill>
          <a:ln xmlns:a="http://schemas.openxmlformats.org/drawingml/2006/main" w="11430">
            <a:solidFill>
              <a:srgbClr val="17964B"/>
            </a:solidFill>
          </a:ln>
        </p:spPr>
      </p:sp>
      <p:sp>
        <p:nvSpPr>
          <p:cNvPr id="516" name="Outcome verification title">
            <a:extLst xmlns:a="http://schemas.openxmlformats.org/drawingml/2006/main">
              <a:ext uri="{FF2B5EF4-FFF2-40B4-BE49-F238E27FC236}">
                <a16:creationId xmlns:a16="http://schemas.microsoft.com/office/drawing/2014/main" id="{ECCCB0B0-C814-4EBA-AD5B-F380EF43C593}"/>
              </a:ext>
            </a:extLst>
          </p:cNvPr>
          <p:cNvSpPr>
            <a:spLocks xmlns:a="http://schemas.openxmlformats.org/drawingml/2006/main" noGrp="1"/>
          </p:cNvSpPr>
          <p:nvPr/>
        </p:nvSpPr>
        <p:spPr>
          <a:xfrm xmlns:a="http://schemas.openxmlformats.org/drawingml/2006/main">
            <a:off x="400050" y="2714625"/>
            <a:ext cx="1314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050" b="1" i="0">
                <a:solidFill>
                  <a:srgbClr val="17964B"/>
                </a:solidFill>
                <a:latin typeface="Arial"/>
                <a:ea typeface="Arial"/>
                <a:cs typeface="Arial"/>
              </a:defRPr>
            </a:pPr>
            <a:r>
              <a:rPr sz="1050" b="1" i="0">
                <a:solidFill>
                  <a:srgbClr val="17964B"/>
                </a:solidFill>
                <a:latin typeface="Arial"/>
                <a:ea typeface="Arial"/>
                <a:cs typeface="Arial"/>
              </a:rPr>
              <a:t>7  VERIFY</a:t>
            </a:r>
          </a:p>
        </p:txBody>
      </p:sp>
      <p:sp>
        <p:nvSpPr>
          <p:cNvPr id="517" name="Outcome verification detail">
            <a:extLst xmlns:a="http://schemas.openxmlformats.org/drawingml/2006/main">
              <a:ext uri="{FF2B5EF4-FFF2-40B4-BE49-F238E27FC236}">
                <a16:creationId xmlns:a16="http://schemas.microsoft.com/office/drawing/2014/main" id="{DC505F9D-7594-4666-AC3C-130F9B393594}"/>
              </a:ext>
            </a:extLst>
          </p:cNvPr>
          <p:cNvSpPr>
            <a:spLocks xmlns:a="http://schemas.openxmlformats.org/drawingml/2006/main" noGrp="1"/>
          </p:cNvSpPr>
          <p:nvPr/>
        </p:nvSpPr>
        <p:spPr>
          <a:xfrm xmlns:a="http://schemas.openxmlformats.org/drawingml/2006/main">
            <a:off x="400050" y="3028950"/>
            <a:ext cx="1657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923" b="0" i="0">
                <a:solidFill>
                  <a:srgbClr val="334155"/>
                </a:solidFill>
                <a:latin typeface="Arial"/>
                <a:ea typeface="Arial"/>
                <a:cs typeface="Arial"/>
              </a:defRPr>
            </a:pPr>
            <a:r>
              <a:rPr sz="923" b="0" i="0">
                <a:solidFill>
                  <a:srgbClr val="334155"/>
                </a:solidFill>
                <a:latin typeface="Arial"/>
                <a:ea typeface="Arial"/>
                <a:cs typeface="Arial"/>
              </a:rPr>
              <a:t>Observe the page again.</a:t>
            </a:r>
          </a:p>
          <a:p xmlns:a="http://schemas.openxmlformats.org/drawingml/2006/main">
            <a:pPr algn="l">
              <a:lnSpc>
                <a:spcPct val="106000"/>
              </a:lnSpc>
              <a:buNone/>
              <a:defRPr sz="923" b="0" i="0">
                <a:solidFill>
                  <a:srgbClr val="334155"/>
                </a:solidFill>
                <a:latin typeface="Arial"/>
                <a:ea typeface="Arial"/>
                <a:cs typeface="Arial"/>
              </a:defRPr>
            </a:pPr>
            <a:r>
              <a:rPr sz="923" b="0" i="0">
                <a:solidFill>
                  <a:srgbClr val="334155"/>
                </a:solidFill>
                <a:latin typeface="Arial"/>
                <a:ea typeface="Arial"/>
                <a:cs typeface="Arial"/>
              </a:rPr>
              <a:t>Confirm the expected change.</a:t>
            </a:r>
          </a:p>
          <a:p xmlns:a="http://schemas.openxmlformats.org/drawingml/2006/main">
            <a:pPr algn="l">
              <a:lnSpc>
                <a:spcPct val="106000"/>
              </a:lnSpc>
              <a:buNone/>
              <a:defRPr sz="923" b="0" i="0">
                <a:solidFill>
                  <a:srgbClr val="334155"/>
                </a:solidFill>
                <a:latin typeface="Arial"/>
                <a:ea typeface="Arial"/>
                <a:cs typeface="Arial"/>
              </a:defRPr>
            </a:pPr>
            <a:r>
              <a:rPr sz="923" b="0" i="0">
                <a:solidFill>
                  <a:srgbClr val="334155"/>
                </a:solidFill>
                <a:latin typeface="Arial"/>
                <a:ea typeface="Arial"/>
                <a:cs typeface="Arial"/>
              </a:rPr>
              <a:t>Stop safely on mismatch.</a:t>
            </a:r>
          </a:p>
        </p:txBody>
      </p:sp>
      <p:cxnSp>
        <p:nvCxnSpPr>
          <p:cNvPr id="683" name=""/>
          <p:cNvCxnSpPr>
            <a:stCxn xmlns:a="http://schemas.openxmlformats.org/drawingml/2006/main" id="497" idx="3"/>
            <a:endCxn xmlns:a="http://schemas.openxmlformats.org/drawingml/2006/main" id="500" idx="1"/>
          </p:cNvCxnSpPr>
          <p:nvPr/>
        </p:nvCxnSpPr>
        <p:spPr>
          <a:xfrm xmlns:a="http://schemas.openxmlformats.org/drawingml/2006/main">
            <a:off x="2171700" y="1562100"/>
            <a:ext cx="228600" cy="0"/>
          </a:xfrm>
          <a:prstGeom xmlns:a="http://schemas.openxmlformats.org/drawingml/2006/main" prst="straightConnector1">
            <a:avLst/>
          </a:prstGeom>
          <a:ln xmlns:a="http://schemas.openxmlformats.org/drawingml/2006/main" w="16193">
            <a:solidFill>
              <a:srgbClr val="17964B"/>
            </a:solidFill>
            <a:tailEnd type="triangle" w="sm" len="sm"/>
          </a:ln>
        </p:spPr>
      </p:cxnSp>
      <p:cxnSp>
        <p:nvCxnSpPr>
          <p:cNvPr id="684" name=""/>
          <p:cNvCxnSpPr>
            <a:stCxn xmlns:a="http://schemas.openxmlformats.org/drawingml/2006/main" id="500" idx="3"/>
            <a:endCxn xmlns:a="http://schemas.openxmlformats.org/drawingml/2006/main" id="503" idx="1"/>
          </p:cNvCxnSpPr>
          <p:nvPr/>
        </p:nvCxnSpPr>
        <p:spPr>
          <a:xfrm xmlns:a="http://schemas.openxmlformats.org/drawingml/2006/main">
            <a:off x="4286250" y="1562100"/>
            <a:ext cx="228600" cy="0"/>
          </a:xfrm>
          <a:prstGeom xmlns:a="http://schemas.openxmlformats.org/drawingml/2006/main" prst="straightConnector1">
            <a:avLst/>
          </a:prstGeom>
          <a:ln xmlns:a="http://schemas.openxmlformats.org/drawingml/2006/main" w="16193">
            <a:solidFill>
              <a:srgbClr val="17964B"/>
            </a:solidFill>
            <a:tailEnd type="triangle" w="sm" len="sm"/>
          </a:ln>
        </p:spPr>
      </p:cxnSp>
      <p:cxnSp>
        <p:nvCxnSpPr>
          <p:cNvPr id="685" name=""/>
          <p:cNvCxnSpPr>
            <a:stCxn xmlns:a="http://schemas.openxmlformats.org/drawingml/2006/main" id="503" idx="3"/>
            <a:endCxn xmlns:a="http://schemas.openxmlformats.org/drawingml/2006/main" id="506" idx="1"/>
          </p:cNvCxnSpPr>
          <p:nvPr/>
        </p:nvCxnSpPr>
        <p:spPr>
          <a:xfrm xmlns:a="http://schemas.openxmlformats.org/drawingml/2006/main">
            <a:off x="6400800" y="1562100"/>
            <a:ext cx="619125" cy="0"/>
          </a:xfrm>
          <a:prstGeom xmlns:a="http://schemas.openxmlformats.org/drawingml/2006/main" prst="straightConnector1">
            <a:avLst/>
          </a:prstGeom>
          <a:ln xmlns:a="http://schemas.openxmlformats.org/drawingml/2006/main" w="16193">
            <a:solidFill>
              <a:srgbClr val="087ABD"/>
            </a:solidFill>
            <a:tailEnd type="triangle" w="sm" len="sm"/>
          </a:ln>
        </p:spPr>
      </p:cxnSp>
      <p:cxnSp>
        <p:nvCxnSpPr>
          <p:cNvPr id="686" name=""/>
          <p:cNvCxnSpPr>
            <a:stCxn xmlns:a="http://schemas.openxmlformats.org/drawingml/2006/main" id="509" idx="1"/>
            <a:endCxn xmlns:a="http://schemas.openxmlformats.org/drawingml/2006/main" id="512" idx="3"/>
          </p:cNvCxnSpPr>
          <p:nvPr/>
        </p:nvCxnSpPr>
        <p:spPr>
          <a:xfrm xmlns:a="http://schemas.openxmlformats.org/drawingml/2006/main" flipH="1">
            <a:off x="4286250" y="3090863"/>
            <a:ext cx="228600" cy="0"/>
          </a:xfrm>
          <a:prstGeom xmlns:a="http://schemas.openxmlformats.org/drawingml/2006/main" prst="straightConnector1">
            <a:avLst/>
          </a:prstGeom>
          <a:ln xmlns:a="http://schemas.openxmlformats.org/drawingml/2006/main" w="16193">
            <a:solidFill>
              <a:srgbClr val="17964B"/>
            </a:solidFill>
            <a:tailEnd type="triangle" w="sm" len="sm"/>
          </a:ln>
        </p:spPr>
      </p:cxnSp>
      <p:cxnSp>
        <p:nvCxnSpPr>
          <p:cNvPr id="687" name=""/>
          <p:cNvCxnSpPr>
            <a:stCxn xmlns:a="http://schemas.openxmlformats.org/drawingml/2006/main" id="512" idx="1"/>
            <a:endCxn xmlns:a="http://schemas.openxmlformats.org/drawingml/2006/main" id="515" idx="3"/>
          </p:cNvCxnSpPr>
          <p:nvPr/>
        </p:nvCxnSpPr>
        <p:spPr>
          <a:xfrm xmlns:a="http://schemas.openxmlformats.org/drawingml/2006/main" flipH="1">
            <a:off x="2171700" y="3090863"/>
            <a:ext cx="228600" cy="0"/>
          </a:xfrm>
          <a:prstGeom xmlns:a="http://schemas.openxmlformats.org/drawingml/2006/main" prst="straightConnector1">
            <a:avLst/>
          </a:prstGeom>
          <a:ln xmlns:a="http://schemas.openxmlformats.org/drawingml/2006/main" w="16193">
            <a:solidFill>
              <a:srgbClr val="17964B"/>
            </a:solidFill>
            <a:tailEnd type="triangle" w="sm" len="sm"/>
          </a:ln>
        </p:spPr>
      </p:cxnSp>
      <p:cxnSp>
        <p:nvCxnSpPr>
          <p:cNvPr id="688" name=""/>
          <p:cNvCxnSpPr>
            <a:stCxn xmlns:a="http://schemas.openxmlformats.org/drawingml/2006/main" id="506" idx="2"/>
            <a:endCxn xmlns:a="http://schemas.openxmlformats.org/drawingml/2006/main" id="509" idx="3"/>
          </p:cNvCxnSpPr>
          <p:nvPr/>
        </p:nvCxnSpPr>
        <p:spPr>
          <a:xfrm xmlns:a="http://schemas.openxmlformats.org/drawingml/2006/main" flipH="1">
            <a:off x="6400800" y="2085975"/>
            <a:ext cx="1538288" cy="1004888"/>
          </a:xfrm>
          <a:prstGeom xmlns:a="http://schemas.openxmlformats.org/drawingml/2006/main" prst="bentConnector3">
            <a:avLst>
              <a:gd name="adj1" fmla="val 0"/>
            </a:avLst>
          </a:prstGeom>
          <a:ln xmlns:a="http://schemas.openxmlformats.org/drawingml/2006/main" w="17145">
            <a:solidFill>
              <a:srgbClr val="087ABD"/>
            </a:solidFill>
            <a:tailEnd type="triangle" w="sm" len="sm"/>
          </a:ln>
        </p:spPr>
      </p:cxnSp>
      <p:sp>
        <p:nvSpPr>
          <p:cNvPr id="524" name="Outbound context label">
            <a:extLst xmlns:a="http://schemas.openxmlformats.org/drawingml/2006/main">
              <a:ext uri="{FF2B5EF4-FFF2-40B4-BE49-F238E27FC236}">
                <a16:creationId xmlns:a16="http://schemas.microsoft.com/office/drawing/2014/main" id="{5FAA8557-0813-4D38-B9FE-62EE24E46A81}"/>
              </a:ext>
            </a:extLst>
          </p:cNvPr>
          <p:cNvSpPr>
            <a:spLocks xmlns:a="http://schemas.openxmlformats.org/drawingml/2006/main" noGrp="1"/>
          </p:cNvSpPr>
          <p:nvPr/>
        </p:nvSpPr>
        <p:spPr>
          <a:xfrm xmlns:a="http://schemas.openxmlformats.org/drawingml/2006/main">
            <a:off x="285750" y="2219325"/>
            <a:ext cx="61150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863" b="1" i="0">
                <a:solidFill>
                  <a:srgbClr val="123B5D"/>
                </a:solidFill>
                <a:latin typeface="Arial"/>
                <a:ea typeface="Arial"/>
                <a:cs typeface="Arial"/>
              </a:defRPr>
            </a:pPr>
            <a:r>
              <a:rPr sz="863" b="1" i="0">
                <a:solidFill>
                  <a:srgbClr val="123B5D"/>
                </a:solidFill>
                <a:latin typeface="Arial"/>
                <a:ea typeface="Arial"/>
                <a:cs typeface="Arial"/>
              </a:rPr>
              <a:t>OUTBOUND: sanitized task, safe elements and opaque handles</a:t>
            </a:r>
          </a:p>
        </p:txBody>
      </p:sp>
      <p:sp>
        <p:nvSpPr>
          <p:cNvPr id="525" name="Return action label">
            <a:extLst xmlns:a="http://schemas.openxmlformats.org/drawingml/2006/main">
              <a:ext uri="{FF2B5EF4-FFF2-40B4-BE49-F238E27FC236}">
                <a16:creationId xmlns:a16="http://schemas.microsoft.com/office/drawing/2014/main" id="{BFC61AF6-263D-4DAC-ABE9-9FF86E1B7A0E}"/>
              </a:ext>
            </a:extLst>
          </p:cNvPr>
          <p:cNvSpPr>
            <a:spLocks xmlns:a="http://schemas.openxmlformats.org/drawingml/2006/main" noGrp="1"/>
          </p:cNvSpPr>
          <p:nvPr/>
        </p:nvSpPr>
        <p:spPr>
          <a:xfrm xmlns:a="http://schemas.openxmlformats.org/drawingml/2006/main">
            <a:off x="8058150" y="2333625"/>
            <a:ext cx="8001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863" b="1" i="0">
                <a:solidFill>
                  <a:srgbClr val="087ABD"/>
                </a:solidFill>
                <a:latin typeface="Arial"/>
                <a:ea typeface="Arial"/>
                <a:cs typeface="Arial"/>
              </a:defRPr>
            </a:pPr>
            <a:r>
              <a:rPr sz="863" b="1" i="0">
                <a:solidFill>
                  <a:srgbClr val="087ABD"/>
                </a:solidFill>
                <a:latin typeface="Arial"/>
                <a:ea typeface="Arial"/>
                <a:cs typeface="Arial"/>
              </a:rPr>
              <a:t>RETURN:</a:t>
            </a:r>
          </a:p>
          <a:p xmlns:a="http://schemas.openxmlformats.org/drawingml/2006/main">
            <a:pPr algn="l">
              <a:lnSpc>
                <a:spcPct val="106000"/>
              </a:lnSpc>
              <a:buNone/>
              <a:defRPr sz="863" b="1" i="0">
                <a:solidFill>
                  <a:srgbClr val="087ABD"/>
                </a:solidFill>
                <a:latin typeface="Arial"/>
                <a:ea typeface="Arial"/>
                <a:cs typeface="Arial"/>
              </a:defRPr>
            </a:pPr>
            <a:r>
              <a:rPr sz="863" b="1" i="0">
                <a:solidFill>
                  <a:srgbClr val="087ABD"/>
                </a:solidFill>
                <a:latin typeface="Arial"/>
                <a:ea typeface="Arial"/>
                <a:cs typeface="Arial"/>
              </a:rPr>
              <a:t>proposed</a:t>
            </a:r>
          </a:p>
          <a:p xmlns:a="http://schemas.openxmlformats.org/drawingml/2006/main">
            <a:pPr algn="l">
              <a:lnSpc>
                <a:spcPct val="106000"/>
              </a:lnSpc>
              <a:buNone/>
              <a:defRPr sz="863" b="1" i="0">
                <a:solidFill>
                  <a:srgbClr val="087ABD"/>
                </a:solidFill>
                <a:latin typeface="Arial"/>
                <a:ea typeface="Arial"/>
                <a:cs typeface="Arial"/>
              </a:defRPr>
            </a:pPr>
            <a:r>
              <a:rPr sz="863" b="1" i="0">
                <a:solidFill>
                  <a:srgbClr val="087ABD"/>
                </a:solidFill>
                <a:latin typeface="Arial"/>
                <a:ea typeface="Arial"/>
                <a:cs typeface="Arial"/>
              </a:rPr>
              <a:t>action only</a:t>
            </a:r>
          </a:p>
        </p:txBody>
      </p:sp>
      <p:sp>
        <p:nvSpPr>
          <p:cNvPr id="526" name="Audit line">
            <a:extLst xmlns:a="http://schemas.openxmlformats.org/drawingml/2006/main">
              <a:ext uri="{FF2B5EF4-FFF2-40B4-BE49-F238E27FC236}">
                <a16:creationId xmlns:a16="http://schemas.microsoft.com/office/drawing/2014/main" id="{8DC64969-F181-4354-B0C2-F415131AE1AE}"/>
              </a:ext>
            </a:extLst>
          </p:cNvPr>
          <p:cNvSpPr>
            <a:spLocks xmlns:a="http://schemas.openxmlformats.org/drawingml/2006/main" noGrp="1"/>
          </p:cNvSpPr>
          <p:nvPr/>
        </p:nvSpPr>
        <p:spPr>
          <a:xfrm xmlns:a="http://schemas.openxmlformats.org/drawingml/2006/main">
            <a:off x="285750" y="3724275"/>
            <a:ext cx="6115050" cy="0"/>
          </a:xfrm>
          <a:prstGeom xmlns:a="http://schemas.openxmlformats.org/drawingml/2006/main" prst="line">
            <a:avLst/>
          </a:prstGeom>
          <a:noFill xmlns:a="http://schemas.openxmlformats.org/drawingml/2006/main"/>
          <a:ln xmlns:a="http://schemas.openxmlformats.org/drawingml/2006/main" w="9525">
            <a:solidFill>
              <a:srgbClr val="A2CFB4"/>
            </a:solidFill>
            <a:prstDash val="solid"/>
          </a:ln>
        </p:spPr>
      </p:sp>
      <p:sp>
        <p:nvSpPr>
          <p:cNvPr id="527" name="Continuous local audit">
            <a:extLst xmlns:a="http://schemas.openxmlformats.org/drawingml/2006/main">
              <a:ext uri="{FF2B5EF4-FFF2-40B4-BE49-F238E27FC236}">
                <a16:creationId xmlns:a16="http://schemas.microsoft.com/office/drawing/2014/main" id="{2FA7A9B9-5BDF-4ED0-B969-6A3BC77C0A1A}"/>
              </a:ext>
            </a:extLst>
          </p:cNvPr>
          <p:cNvSpPr>
            <a:spLocks xmlns:a="http://schemas.openxmlformats.org/drawingml/2006/main" noGrp="1"/>
          </p:cNvSpPr>
          <p:nvPr/>
        </p:nvSpPr>
        <p:spPr>
          <a:xfrm xmlns:a="http://schemas.openxmlformats.org/drawingml/2006/main">
            <a:off x="285750" y="3790950"/>
            <a:ext cx="5905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848" b="1" i="0">
                <a:solidFill>
                  <a:srgbClr val="17964B"/>
                </a:solidFill>
                <a:latin typeface="Arial"/>
                <a:ea typeface="Arial"/>
                <a:cs typeface="Arial"/>
              </a:defRPr>
            </a:pPr>
            <a:r>
              <a:rPr sz="848" b="1" i="0">
                <a:solidFill>
                  <a:srgbClr val="17964B"/>
                </a:solidFill>
                <a:latin typeface="Arial"/>
                <a:ea typeface="Arial"/>
                <a:cs typeface="Arial"/>
              </a:rPr>
              <a:t>8  AUDIT </a:t>
            </a:r>
            <a:r>
              <a:rPr sz="848" b="1" i="0">
                <a:solidFill>
                  <a:srgbClr val="17964B"/>
                </a:solidFill>
                <a:latin typeface="Arial"/>
                <a:ea typeface="Arial"/>
                <a:cs typeface="Arial"/>
                <a:hlinkClick xmlns:r="http://schemas.openxmlformats.org/officeDocument/2006/relationships" r:id="R576b94dabb214774"/>
              </a:rPr>
              <a:t>[8]</a:t>
            </a:r>
            <a:r>
              <a:rPr sz="848" b="1" i="0">
                <a:solidFill>
                  <a:srgbClr val="17964B"/>
                </a:solidFill>
                <a:latin typeface="Arial"/>
                <a:ea typeface="Arial"/>
                <a:cs typeface="Arial"/>
              </a:rPr>
              <a:t>   Hash-link non-secret events and sign a checkpoint.</a:t>
            </a:r>
          </a:p>
        </p:txBody>
      </p:sp>
      <p:sp>
        <p:nvSpPr>
          <p:cNvPr id="528" name="Local consent authority">
            <a:extLst xmlns:a="http://schemas.openxmlformats.org/drawingml/2006/main">
              <a:ext uri="{FF2B5EF4-FFF2-40B4-BE49-F238E27FC236}">
                <a16:creationId xmlns:a16="http://schemas.microsoft.com/office/drawing/2014/main" id="{5B137B20-5DDF-4B40-B608-8DC962222279}"/>
              </a:ext>
            </a:extLst>
          </p:cNvPr>
          <p:cNvSpPr>
            <a:spLocks xmlns:a="http://schemas.openxmlformats.org/drawingml/2006/main" noGrp="1"/>
          </p:cNvSpPr>
          <p:nvPr/>
        </p:nvSpPr>
        <p:spPr>
          <a:xfrm xmlns:a="http://schemas.openxmlformats.org/drawingml/2006/main">
            <a:off x="7019925" y="3381375"/>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125" b="1" i="0">
                <a:solidFill>
                  <a:srgbClr val="123B5D"/>
                </a:solidFill>
                <a:latin typeface="Arial"/>
                <a:ea typeface="Arial"/>
                <a:cs typeface="Arial"/>
              </a:defRPr>
            </a:pPr>
            <a:r>
              <a:rPr sz="1125" b="1" i="0">
                <a:solidFill>
                  <a:srgbClr val="123B5D"/>
                </a:solidFill>
                <a:latin typeface="Arial"/>
                <a:ea typeface="Arial"/>
                <a:cs typeface="Arial"/>
              </a:rPr>
              <a:t>The server cannot</a:t>
            </a:r>
          </a:p>
          <a:p xmlns:a="http://schemas.openxmlformats.org/drawingml/2006/main">
            <a:pPr algn="l">
              <a:lnSpc>
                <a:spcPct val="106000"/>
              </a:lnSpc>
              <a:buNone/>
              <a:defRPr sz="1125" b="1" i="0">
                <a:solidFill>
                  <a:srgbClr val="123B5D"/>
                </a:solidFill>
                <a:latin typeface="Arial"/>
                <a:ea typeface="Arial"/>
                <a:cs typeface="Arial"/>
              </a:defRPr>
            </a:pPr>
            <a:r>
              <a:rPr sz="1125" b="1" i="0">
                <a:solidFill>
                  <a:srgbClr val="123B5D"/>
                </a:solidFill>
                <a:latin typeface="Arial"/>
                <a:ea typeface="Arial"/>
                <a:cs typeface="Arial"/>
              </a:rPr>
              <a:t>authorize a private fill.</a:t>
            </a:r>
          </a:p>
        </p:txBody>
      </p:sp>
      <p:pic>
        <p:nvPicPr>
          <p:cNvPr id="694" name=""/>
          <p:cNvPicPr>
            <a:picLocks xmlns:a="http://schemas.openxmlformats.org/drawingml/2006/main" noChangeAspect="1"/>
          </p:cNvPicPr>
          <p:nvPr/>
        </p:nvPicPr>
        <p:blipFill>
          <a:blip xmlns:r="http://schemas.openxmlformats.org/officeDocument/2006/relationships" xmlns:a="http://schemas.openxmlformats.org/drawingml/2006/main" r:embed="R897e568829a649fa"/>
          <a:stretch xmlns:a="http://schemas.openxmlformats.org/drawingml/2006/main"/>
        </p:blipFill>
        <p:spPr>
          <a:xfrm xmlns:a="http://schemas.openxmlformats.org/drawingml/2006/main">
            <a:off x="1743075" y="1171575"/>
            <a:ext cx="142875" cy="142875"/>
          </a:xfrm>
          <a:prstGeom xmlns:a="http://schemas.openxmlformats.org/drawingml/2006/main" prst="rect">
            <a:avLst/>
          </a:prstGeom>
        </p:spPr>
      </p:pic>
      <p:pic>
        <p:nvPicPr>
          <p:cNvPr id="695" name=""/>
          <p:cNvPicPr>
            <a:picLocks xmlns:a="http://schemas.openxmlformats.org/drawingml/2006/main" noChangeAspect="1"/>
          </p:cNvPicPr>
          <p:nvPr/>
        </p:nvPicPr>
        <p:blipFill>
          <a:blip xmlns:r="http://schemas.openxmlformats.org/officeDocument/2006/relationships" xmlns:a="http://schemas.openxmlformats.org/drawingml/2006/main" r:embed="R3027d286238e4231"/>
          <a:stretch xmlns:a="http://schemas.openxmlformats.org/drawingml/2006/main"/>
        </p:blipFill>
        <p:spPr>
          <a:xfrm xmlns:a="http://schemas.openxmlformats.org/drawingml/2006/main">
            <a:off x="1943100" y="1173317"/>
            <a:ext cx="142875" cy="139390"/>
          </a:xfrm>
          <a:prstGeom xmlns:a="http://schemas.openxmlformats.org/drawingml/2006/main" prst="rect">
            <a:avLst/>
          </a:prstGeom>
        </p:spPr>
      </p:pic>
      <p:pic>
        <p:nvPicPr>
          <p:cNvPr id="696" name=""/>
          <p:cNvPicPr>
            <a:picLocks xmlns:a="http://schemas.openxmlformats.org/drawingml/2006/main" noChangeAspect="1"/>
          </p:cNvPicPr>
          <p:nvPr/>
        </p:nvPicPr>
        <p:blipFill>
          <a:blip xmlns:r="http://schemas.openxmlformats.org/officeDocument/2006/relationships" xmlns:a="http://schemas.openxmlformats.org/drawingml/2006/main" r:embed="R56bfb7df77384f5b"/>
          <a:stretch xmlns:a="http://schemas.openxmlformats.org/drawingml/2006/main"/>
        </p:blipFill>
        <p:spPr>
          <a:xfrm xmlns:a="http://schemas.openxmlformats.org/drawingml/2006/main">
            <a:off x="3648075" y="1173263"/>
            <a:ext cx="323850" cy="101400"/>
          </a:xfrm>
          <a:prstGeom xmlns:a="http://schemas.openxmlformats.org/drawingml/2006/main" prst="rect">
            <a:avLst/>
          </a:prstGeom>
        </p:spPr>
      </p:pic>
      <p:pic>
        <p:nvPicPr>
          <p:cNvPr id="697" name=""/>
          <p:cNvPicPr>
            <a:picLocks xmlns:a="http://schemas.openxmlformats.org/drawingml/2006/main" noChangeAspect="1"/>
          </p:cNvPicPr>
          <p:nvPr/>
        </p:nvPicPr>
        <p:blipFill>
          <a:blip xmlns:r="http://schemas.openxmlformats.org/officeDocument/2006/relationships" xmlns:a="http://schemas.openxmlformats.org/drawingml/2006/main" r:embed="R41a0d10effc5403f"/>
          <a:stretch xmlns:a="http://schemas.openxmlformats.org/drawingml/2006/main"/>
        </p:blipFill>
        <p:spPr>
          <a:xfrm xmlns:a="http://schemas.openxmlformats.org/drawingml/2006/main">
            <a:off x="4029075" y="1143000"/>
            <a:ext cx="171450" cy="171450"/>
          </a:xfrm>
          <a:prstGeom xmlns:a="http://schemas.openxmlformats.org/drawingml/2006/main" prst="rect">
            <a:avLst/>
          </a:prstGeom>
        </p:spPr>
      </p:pic>
      <p:pic>
        <p:nvPicPr>
          <p:cNvPr id="698" name=""/>
          <p:cNvPicPr>
            <a:picLocks xmlns:a="http://schemas.openxmlformats.org/drawingml/2006/main" noChangeAspect="1"/>
          </p:cNvPicPr>
          <p:nvPr/>
        </p:nvPicPr>
        <p:blipFill>
          <a:blip xmlns:r="http://schemas.openxmlformats.org/officeDocument/2006/relationships" xmlns:a="http://schemas.openxmlformats.org/drawingml/2006/main" r:embed="R5755e72c5ca249f4"/>
          <a:stretch xmlns:a="http://schemas.openxmlformats.org/drawingml/2006/main"/>
        </p:blipFill>
        <p:spPr>
          <a:xfrm xmlns:a="http://schemas.openxmlformats.org/drawingml/2006/main">
            <a:off x="5934075" y="1165358"/>
            <a:ext cx="171450" cy="117209"/>
          </a:xfrm>
          <a:prstGeom xmlns:a="http://schemas.openxmlformats.org/drawingml/2006/main" prst="rect">
            <a:avLst/>
          </a:prstGeom>
        </p:spPr>
      </p:pic>
      <p:pic>
        <p:nvPicPr>
          <p:cNvPr id="699" name=""/>
          <p:cNvPicPr>
            <a:picLocks xmlns:a="http://schemas.openxmlformats.org/drawingml/2006/main" noChangeAspect="1"/>
          </p:cNvPicPr>
          <p:nvPr/>
        </p:nvPicPr>
        <p:blipFill>
          <a:blip xmlns:r="http://schemas.openxmlformats.org/officeDocument/2006/relationships" xmlns:a="http://schemas.openxmlformats.org/drawingml/2006/main" r:embed="R5c2be2a51376428e"/>
          <a:stretch xmlns:a="http://schemas.openxmlformats.org/drawingml/2006/main"/>
        </p:blipFill>
        <p:spPr>
          <a:xfrm xmlns:a="http://schemas.openxmlformats.org/drawingml/2006/main">
            <a:off x="6162675" y="1147082"/>
            <a:ext cx="171450" cy="163286"/>
          </a:xfrm>
          <a:prstGeom xmlns:a="http://schemas.openxmlformats.org/drawingml/2006/main" prst="rect">
            <a:avLst/>
          </a:prstGeom>
        </p:spPr>
      </p:pic>
      <p:pic>
        <p:nvPicPr>
          <p:cNvPr id="700" name=""/>
          <p:cNvPicPr>
            <a:picLocks xmlns:a="http://schemas.openxmlformats.org/drawingml/2006/main" noChangeAspect="1"/>
          </p:cNvPicPr>
          <p:nvPr/>
        </p:nvPicPr>
        <p:blipFill>
          <a:blip xmlns:r="http://schemas.openxmlformats.org/officeDocument/2006/relationships" xmlns:a="http://schemas.openxmlformats.org/drawingml/2006/main" r:embed="R596c802787964426"/>
          <a:stretch xmlns:a="http://schemas.openxmlformats.org/drawingml/2006/main"/>
        </p:blipFill>
        <p:spPr>
          <a:xfrm xmlns:a="http://schemas.openxmlformats.org/drawingml/2006/main">
            <a:off x="8181975" y="1900365"/>
            <a:ext cx="533400" cy="123571"/>
          </a:xfrm>
          <a:prstGeom xmlns:a="http://schemas.openxmlformats.org/drawingml/2006/main" prst="rect">
            <a:avLst/>
          </a:prstGeom>
        </p:spPr>
      </p:pic>
      <p:pic>
        <p:nvPicPr>
          <p:cNvPr id="701" name=""/>
          <p:cNvPicPr>
            <a:picLocks xmlns:a="http://schemas.openxmlformats.org/drawingml/2006/main" noChangeAspect="1"/>
          </p:cNvPicPr>
          <p:nvPr/>
        </p:nvPicPr>
        <p:blipFill>
          <a:blip xmlns:r="http://schemas.openxmlformats.org/officeDocument/2006/relationships" xmlns:a="http://schemas.openxmlformats.org/drawingml/2006/main" r:embed="R4b22421067b44ef5"/>
          <a:stretch xmlns:a="http://schemas.openxmlformats.org/drawingml/2006/main"/>
        </p:blipFill>
        <p:spPr>
          <a:xfrm xmlns:a="http://schemas.openxmlformats.org/drawingml/2006/main">
            <a:off x="6200775" y="3781425"/>
            <a:ext cx="161925" cy="161925"/>
          </a:xfrm>
          <a:prstGeom xmlns:a="http://schemas.openxmlformats.org/drawingml/2006/main" prst="rect">
            <a:avLst/>
          </a:prstGeom>
        </p:spPr>
      </p:pic>
      <p:pic>
        <p:nvPicPr>
          <p:cNvPr id="702" name=""/>
          <p:cNvPicPr>
            <a:picLocks xmlns:a="http://schemas.openxmlformats.org/drawingml/2006/main" noChangeAspect="1"/>
          </p:cNvPicPr>
          <p:nvPr/>
        </p:nvPicPr>
        <p:blipFill>
          <a:blip xmlns:r="http://schemas.openxmlformats.org/officeDocument/2006/relationships" xmlns:a="http://schemas.openxmlformats.org/drawingml/2006/main" r:embed="R436ae8cca43147e1"/>
          <a:stretch xmlns:a="http://schemas.openxmlformats.org/drawingml/2006/main"/>
        </p:blipFill>
        <p:spPr>
          <a:xfrm xmlns:a="http://schemas.openxmlformats.org/drawingml/2006/main">
            <a:off x="1743075" y="2733675"/>
            <a:ext cx="142875" cy="142875"/>
          </a:xfrm>
          <a:prstGeom xmlns:a="http://schemas.openxmlformats.org/drawingml/2006/main" prst="rect">
            <a:avLst/>
          </a:prstGeom>
        </p:spPr>
      </p:pic>
      <p:pic>
        <p:nvPicPr>
          <p:cNvPr id="703" name=""/>
          <p:cNvPicPr>
            <a:picLocks xmlns:a="http://schemas.openxmlformats.org/drawingml/2006/main" noChangeAspect="1"/>
          </p:cNvPicPr>
          <p:nvPr/>
        </p:nvPicPr>
        <p:blipFill>
          <a:blip xmlns:r="http://schemas.openxmlformats.org/officeDocument/2006/relationships" xmlns:a="http://schemas.openxmlformats.org/drawingml/2006/main" r:embed="R7d22a59cde1e4104"/>
          <a:stretch xmlns:a="http://schemas.openxmlformats.org/drawingml/2006/main"/>
        </p:blipFill>
        <p:spPr>
          <a:xfrm xmlns:a="http://schemas.openxmlformats.org/drawingml/2006/main">
            <a:off x="1943100" y="2735417"/>
            <a:ext cx="142875" cy="139390"/>
          </a:xfrm>
          <a:prstGeom xmlns:a="http://schemas.openxmlformats.org/drawingml/2006/main" prst="rect">
            <a:avLst/>
          </a:prstGeom>
        </p:spPr>
      </p:pic>
      <p:pic>
        <p:nvPicPr>
          <p:cNvPr id="704" name=""/>
          <p:cNvPicPr>
            <a:picLocks xmlns:a="http://schemas.openxmlformats.org/drawingml/2006/main" noChangeAspect="1"/>
          </p:cNvPicPr>
          <p:nvPr/>
        </p:nvPicPr>
        <p:blipFill>
          <a:blip xmlns:r="http://schemas.openxmlformats.org/officeDocument/2006/relationships" xmlns:a="http://schemas.openxmlformats.org/drawingml/2006/main" r:embed="R3f67226407384594"/>
          <a:stretch xmlns:a="http://schemas.openxmlformats.org/drawingml/2006/main"/>
        </p:blipFill>
        <p:spPr>
          <a:xfrm xmlns:a="http://schemas.openxmlformats.org/drawingml/2006/main">
            <a:off x="3867150" y="2724150"/>
            <a:ext cx="161925" cy="161925"/>
          </a:xfrm>
          <a:prstGeom xmlns:a="http://schemas.openxmlformats.org/drawingml/2006/main" prst="rect">
            <a:avLst/>
          </a:prstGeom>
        </p:spPr>
      </p:pic>
      <p:pic>
        <p:nvPicPr>
          <p:cNvPr id="705" name=""/>
          <p:cNvPicPr>
            <a:picLocks xmlns:a="http://schemas.openxmlformats.org/drawingml/2006/main" noChangeAspect="1"/>
          </p:cNvPicPr>
          <p:nvPr/>
        </p:nvPicPr>
        <p:blipFill>
          <a:blip xmlns:r="http://schemas.openxmlformats.org/officeDocument/2006/relationships" xmlns:a="http://schemas.openxmlformats.org/drawingml/2006/main" r:embed="R6ba3a127ac0d4757"/>
          <a:stretch xmlns:a="http://schemas.openxmlformats.org/drawingml/2006/main"/>
        </p:blipFill>
        <p:spPr>
          <a:xfrm xmlns:a="http://schemas.openxmlformats.org/drawingml/2006/main">
            <a:off x="4086225" y="2724150"/>
            <a:ext cx="161925" cy="161925"/>
          </a:xfrm>
          <a:prstGeom xmlns:a="http://schemas.openxmlformats.org/drawingml/2006/main" prst="rect">
            <a:avLst/>
          </a:prstGeom>
        </p:spPr>
      </p:pic>
      <p:pic>
        <p:nvPicPr>
          <p:cNvPr id="706" name=""/>
          <p:cNvPicPr>
            <a:picLocks xmlns:a="http://schemas.openxmlformats.org/drawingml/2006/main" noChangeAspect="1"/>
          </p:cNvPicPr>
          <p:nvPr/>
        </p:nvPicPr>
        <p:blipFill>
          <a:blip xmlns:r="http://schemas.openxmlformats.org/officeDocument/2006/relationships" xmlns:a="http://schemas.openxmlformats.org/drawingml/2006/main" r:embed="R4af875fc9acb4190"/>
          <a:stretch xmlns:a="http://schemas.openxmlformats.org/drawingml/2006/main"/>
        </p:blipFill>
        <p:spPr>
          <a:xfrm xmlns:a="http://schemas.openxmlformats.org/drawingml/2006/main">
            <a:off x="6162675" y="2724150"/>
            <a:ext cx="161925" cy="161925"/>
          </a:xfrm>
          <a:prstGeom xmlns:a="http://schemas.openxmlformats.org/drawingml/2006/main" prst="rect">
            <a:avLst/>
          </a:prstGeom>
        </p:spPr>
      </p:pic>
      <p:sp>
        <p:nvSpPr>
          <p:cNvPr id="542" name="Ledger scope footnote">
            <a:extLst xmlns:a="http://schemas.openxmlformats.org/drawingml/2006/main">
              <a:ext uri="{FF2B5EF4-FFF2-40B4-BE49-F238E27FC236}">
                <a16:creationId xmlns:a16="http://schemas.microsoft.com/office/drawing/2014/main" id="{5068ED20-46E4-4D0C-9902-C20DAE7EB8E7}"/>
              </a:ext>
            </a:extLst>
          </p:cNvPr>
          <p:cNvSpPr>
            <a:spLocks xmlns:a="http://schemas.openxmlformats.org/drawingml/2006/main" noGrp="1"/>
          </p:cNvSpPr>
          <p:nvPr/>
        </p:nvSpPr>
        <p:spPr>
          <a:xfrm xmlns:a="http://schemas.openxmlformats.org/drawingml/2006/main">
            <a:off x="285750" y="4629150"/>
            <a:ext cx="8572500" cy="104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6000"/>
              </a:lnSpc>
              <a:buNone/>
              <a:defRPr sz="653" b="0" i="0">
                <a:solidFill>
                  <a:srgbClr val="64748B"/>
                </a:solidFill>
                <a:latin typeface="Arial"/>
                <a:ea typeface="Arial"/>
                <a:cs typeface="Arial"/>
              </a:defRPr>
            </a:pPr>
            <a:r>
              <a:rPr sz="653" b="0" i="0">
                <a:solidFill>
                  <a:srgbClr val="64748B"/>
                </a:solidFill>
                <a:latin typeface="Arial"/>
                <a:ea typeface="Arial"/>
                <a:cs typeface="Arial"/>
              </a:rPr>
              <a:t>Signed local ledger: SHA-256 + ECDSA P-256. No credentials in blocks. Gate enforcement and audit are separate.</a:t>
            </a:r>
          </a:p>
        </p:txBody>
      </p:sp>
    </p:spTree>
    <p:extLst>
      <p:ext uri="{BB962C8B-B14F-4D97-AF65-F5344CB8AC3E}">
        <p14:creationId xmlns:p14="http://schemas.microsoft.com/office/powerpoint/2010/main" val="408305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 name="Google Shape;182;p18">
            <a:extLst xmlns:a="http://schemas.openxmlformats.org/drawingml/2006/main">
              <a:ext uri="{FF2B5EF4-FFF2-40B4-BE49-F238E27FC236}">
                <a16:creationId xmlns:a16="http://schemas.microsoft.com/office/drawing/2014/main" id="{134483EA-B6F9-421C-BE57-241B4643D4BC}"/>
              </a:ext>
            </a:extLst>
          </p:cNvPr>
          <p:cNvSpPr>
            <a:spLocks xmlns:a="http://schemas.openxmlformats.org/drawingml/2006/main" noGrp="1"/>
          </p:cNvSpPr>
          <p:nvPr/>
        </p:nvSpPr>
        <p:spPr>
          <a:xfrm xmlns:a="http://schemas.openxmlformats.org/drawingml/2006/main">
            <a:off x="171450" y="100013"/>
            <a:ext cx="314325" cy="3143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pic>
        <p:nvPicPr>
          <p:cNvPr id="221" name="Google Shape;184;p18"/>
          <p:cNvPicPr>
            <a:picLocks xmlns:a="http://schemas.openxmlformats.org/drawingml/2006/main" noChangeAspect="1"/>
          </p:cNvPicPr>
          <p:nvPr/>
        </p:nvPicPr>
        <p:blipFill rotWithShape="1">
          <a:blip xmlns:r="http://schemas.openxmlformats.org/officeDocument/2006/relationships" xmlns:a="http://schemas.openxmlformats.org/drawingml/2006/main" r:embed="Ra5f47396d01446c3">
            <a:alphaModFix/>
          </a:blip>
          <a:srcRect xmlns:a="http://schemas.openxmlformats.org/drawingml/2006/main" l="0" t="0" r="0" b="0"/>
          <a:stretch xmlns:a="http://schemas.openxmlformats.org/drawingml/2006/main"/>
        </p:blipFill>
        <p:spPr>
          <a:xfrm xmlns:a="http://schemas.openxmlformats.org/drawingml/2006/main">
            <a:off x="7537042" y="35719"/>
            <a:ext cx="1342253" cy="628650"/>
          </a:xfrm>
          <a:prstGeom xmlns:a="http://schemas.openxmlformats.org/drawingml/2006/main" prst="rect">
            <a:avLst/>
          </a:prstGeom>
          <a:ln xmlns:a="http://schemas.openxmlformats.org/drawingml/2006/main">
            <a:noFill/>
          </a:ln>
        </p:spPr>
      </p:pic>
      <p:sp>
        <p:nvSpPr>
          <p:cNvPr id="185" name="Google Shape;185;p18">
            <a:extLst xmlns:a="http://schemas.openxmlformats.org/drawingml/2006/main">
              <a:ext uri="{FF2B5EF4-FFF2-40B4-BE49-F238E27FC236}">
                <a16:creationId xmlns:a16="http://schemas.microsoft.com/office/drawing/2014/main" id="{8E769A06-500C-46AD-9247-69FDE13A18CD}"/>
              </a:ext>
            </a:extLst>
          </p:cNvPr>
          <p:cNvSpPr>
            <a:spLocks xmlns:a="http://schemas.openxmlformats.org/drawingml/2006/main" noGrp="1"/>
          </p:cNvSpPr>
          <p:nvPr/>
        </p:nvSpPr>
        <p:spPr>
          <a:xfrm xmlns:a="http://schemas.openxmlformats.org/drawingml/2006/main">
            <a:off x="1464469" y="121444"/>
            <a:ext cx="5929313" cy="3857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4300" tIns="0" rIns="14300" bIns="0" anchor="ctr">
            <a:noAutofit/>
          </a:bodyPr>
          <a:lstStyle xmlns:a="http://schemas.openxmlformats.org/drawingml/2006/main"/>
          <a:p xmlns:a="http://schemas.openxmlformats.org/drawingml/2006/main">
            <a:pPr marL="0" marR="0" lvl="0" indent="0" algn="ctr">
              <a:lnSpc>
                <a:spcPct val="102000"/>
              </a:lnSpc>
              <a:spcBef>
                <a:spcPts val="0"/>
              </a:spcBef>
              <a:spcAft>
                <a:spcPts val="0"/>
              </a:spcAft>
              <a:buClr>
                <a:srgbClr val="050505"/>
              </a:buClr>
              <a:buSzPts val="2200"/>
              <a:buFont typeface="Arial Narrow"/>
              <a:buNone/>
            </a:pPr>
            <a:r>
              <a:rPr sz="2200" b="1" i="0">
                <a:solidFill>
                  <a:srgbClr val="050505"/>
                </a:solidFill>
                <a:latin typeface="Arial Narrow"/>
                <a:ea typeface="Arial Narrow"/>
                <a:cs typeface="Arial Narrow"/>
              </a:rPr>
              <a:t>FEASIBILITY AND VIABILITY</a:t>
            </a:r>
            <a:endParaRPr sz="1100"/>
          </a:p>
        </p:txBody>
      </p:sp>
      <p:sp>
        <p:nvSpPr>
          <p:cNvPr id="186" name="Google Shape;186;p18">
            <a:extLst xmlns:a="http://schemas.openxmlformats.org/drawingml/2006/main">
              <a:ext uri="{FF2B5EF4-FFF2-40B4-BE49-F238E27FC236}">
                <a16:creationId xmlns:a16="http://schemas.microsoft.com/office/drawing/2014/main" id="{C73E4EC6-820F-41CA-BDCE-00B4A84C6167}"/>
              </a:ext>
            </a:extLst>
          </p:cNvPr>
          <p:cNvSpPr>
            <a:spLocks xmlns:a="http://schemas.openxmlformats.org/drawingml/2006/main" noGrp="1"/>
          </p:cNvSpPr>
          <p:nvPr/>
        </p:nvSpPr>
        <p:spPr>
          <a:xfrm xmlns:a="http://schemas.openxmlformats.org/drawingml/2006/main">
            <a:off x="0" y="4764881"/>
            <a:ext cx="9144000" cy="378619"/>
          </a:xfrm>
          <a:prstGeom xmlns:a="http://schemas.openxmlformats.org/drawingml/2006/main" prst="rect">
            <a:avLst/>
          </a:prstGeom>
          <a:solidFill xmlns:a="http://schemas.openxmlformats.org/drawingml/2006/main">
            <a:srgbClr val="087ABD"/>
          </a:solidFill>
          <a:ln xmlns:a="http://schemas.openxmlformats.org/drawingml/2006/main" w="9525" cmpd="sng">
            <a:solidFill>
              <a:srgbClr val="087ABD"/>
            </a:solidFill>
            <a:prstDash val="solid"/>
            <a:headEnd type="none" w="sm" len="sm"/>
            <a:tailEnd type="none" w="sm" len="sm"/>
          </a:ln>
        </p:spPr>
        <p:txBody>
          <a:bodyPr xmlns:a="http://schemas.openxmlformats.org/drawingml/2006/main" spcFirstLastPara="1" wrap="square" lIns="68575" tIns="34275" rIns="68575" bIns="34275" anchor="t">
            <a:noAutofit/>
          </a:bodyPr>
          <a:lstStyle xmlns:a="http://schemas.openxmlformats.org/drawingml/2006/main"/>
          <a:p xmlns:a="http://schemas.openxmlformats.org/drawingml/2006/main">
            <a:pPr marL="0" marR="0" lvl="0" indent="0" algn="l">
              <a:spcBef>
                <a:spcPts val="0"/>
              </a:spcBef>
              <a:spcAft>
                <a:spcPts val="0"/>
              </a:spcAft>
              <a:buNone/>
            </a:pPr>
            <a:endParaRPr sz="1400">
              <a:solidFill>
                <a:schemeClr val="dk1"/>
              </a:solidFill>
              <a:latin typeface="Calibri"/>
              <a:ea typeface="Calibri"/>
              <a:cs typeface="Calibri"/>
            </a:endParaRPr>
          </a:p>
        </p:txBody>
      </p:sp>
      <p:sp>
        <p:nvSpPr>
          <p:cNvPr id="187" name="Google Shape;187;p18">
            <a:extLst xmlns:a="http://schemas.openxmlformats.org/drawingml/2006/main">
              <a:ext uri="{FF2B5EF4-FFF2-40B4-BE49-F238E27FC236}">
                <a16:creationId xmlns:a16="http://schemas.microsoft.com/office/drawing/2014/main" id="{8A8D103E-8124-4669-8608-9D2A8768C89D}"/>
              </a:ext>
            </a:extLst>
          </p:cNvPr>
          <p:cNvSpPr>
            <a:spLocks xmlns:a="http://schemas.openxmlformats.org/drawingml/2006/main" noGrp="1"/>
          </p:cNvSpPr>
          <p:nvPr/>
        </p:nvSpPr>
        <p:spPr>
          <a:xfrm xmlns:a="http://schemas.openxmlformats.org/drawingml/2006/main">
            <a:off x="3157538" y="4786313"/>
            <a:ext cx="2828925" cy="3143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2000"/>
              </a:lnSpc>
              <a:spcBef>
                <a:spcPts val="0"/>
              </a:spcBef>
              <a:spcAft>
                <a:spcPts val="0"/>
              </a:spcAft>
              <a:buClr>
                <a:srgbClr val="FFFFFF"/>
              </a:buClr>
              <a:buSzPts val="1700"/>
              <a:buFont typeface="Arial Narrow"/>
              <a:buNone/>
            </a:pPr>
            <a:r>
              <a:rPr sz="1700" b="1" i="0">
                <a:solidFill>
                  <a:srgbClr val="FFFFFF"/>
                </a:solidFill>
                <a:latin typeface="Arial Narrow"/>
                <a:ea typeface="Arial Narrow"/>
                <a:cs typeface="Arial Narrow"/>
              </a:rPr>
              <a:t>@chr0m1um</a:t>
            </a:r>
            <a:endParaRPr sz="1100"/>
          </a:p>
        </p:txBody>
      </p:sp>
      <p:sp>
        <p:nvSpPr>
          <p:cNvPr id="188" name="Google Shape;188;p18">
            <a:extLst xmlns:a="http://schemas.openxmlformats.org/drawingml/2006/main">
              <a:ext uri="{FF2B5EF4-FFF2-40B4-BE49-F238E27FC236}">
                <a16:creationId xmlns:a16="http://schemas.microsoft.com/office/drawing/2014/main" id="{36E0A301-7653-4200-B365-9AE01B15B410}"/>
              </a:ext>
            </a:extLst>
          </p:cNvPr>
          <p:cNvSpPr>
            <a:spLocks xmlns:a="http://schemas.openxmlformats.org/drawingml/2006/main" noGrp="1"/>
          </p:cNvSpPr>
          <p:nvPr/>
        </p:nvSpPr>
        <p:spPr>
          <a:xfrm xmlns:a="http://schemas.openxmlformats.org/drawingml/2006/main">
            <a:off x="8708231" y="4779169"/>
            <a:ext cx="300038" cy="32146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2000"/>
              </a:lnSpc>
              <a:spcBef>
                <a:spcPts val="0"/>
              </a:spcBef>
              <a:spcAft>
                <a:spcPts val="0"/>
              </a:spcAft>
              <a:buClr>
                <a:srgbClr val="FFFFFF"/>
              </a:buClr>
              <a:buSzPts val="1500"/>
              <a:buFont typeface="Arial Narrow"/>
              <a:buNone/>
            </a:pPr>
            <a:r>
              <a:rPr sz="1500" b="1" i="0">
                <a:solidFill>
                  <a:srgbClr val="FFFFFF"/>
                </a:solidFill>
                <a:latin typeface="Arial Narrow"/>
                <a:ea typeface="Arial Narrow"/>
                <a:cs typeface="Arial Narrow"/>
              </a:rPr>
              <a:t>4</a:t>
            </a:r>
            <a:endParaRPr sz="1100"/>
          </a:p>
        </p:txBody>
      </p:sp>
      <p:sp>
        <p:nvSpPr>
          <p:cNvPr id="203" name="Feasibility subtitle">
            <a:extLst xmlns:a="http://schemas.openxmlformats.org/drawingml/2006/main">
              <a:ext uri="{FF2B5EF4-FFF2-40B4-BE49-F238E27FC236}">
                <a16:creationId xmlns:a16="http://schemas.microsoft.com/office/drawing/2014/main" id="{0A7F4A91-C8A3-4E33-A087-EF84261F08DD}"/>
              </a:ext>
            </a:extLst>
          </p:cNvPr>
          <p:cNvSpPr>
            <a:spLocks xmlns:a="http://schemas.openxmlformats.org/drawingml/2006/main" noGrp="1"/>
          </p:cNvSpPr>
          <p:nvPr/>
        </p:nvSpPr>
        <p:spPr>
          <a:xfrm xmlns:a="http://schemas.openxmlformats.org/drawingml/2006/main">
            <a:off x="952500" y="533400"/>
            <a:ext cx="647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6000"/>
              </a:lnSpc>
              <a:buNone/>
              <a:defRPr sz="900" b="0" i="0">
                <a:solidFill>
                  <a:srgbClr val="64748B"/>
                </a:solidFill>
                <a:latin typeface="Arial"/>
                <a:ea typeface="Arial"/>
                <a:cs typeface="Arial"/>
              </a:defRPr>
            </a:pPr>
            <a:r>
              <a:rPr sz="900" b="0" i="0">
                <a:solidFill>
                  <a:srgbClr val="64748B"/>
                </a:solidFill>
                <a:latin typeface="Arial"/>
                <a:ea typeface="Arial"/>
                <a:cs typeface="Arial"/>
              </a:rPr>
              <a:t>Working prototype with a defined validation path</a:t>
            </a:r>
          </a:p>
        </p:txBody>
      </p:sp>
      <p:sp>
        <p:nvSpPr>
          <p:cNvPr id="204" name="Working today heading">
            <a:extLst xmlns:a="http://schemas.openxmlformats.org/drawingml/2006/main">
              <a:ext uri="{FF2B5EF4-FFF2-40B4-BE49-F238E27FC236}">
                <a16:creationId xmlns:a16="http://schemas.microsoft.com/office/drawing/2014/main" id="{08E63C82-29A9-4A32-A653-3AC793C84C15}"/>
              </a:ext>
            </a:extLst>
          </p:cNvPr>
          <p:cNvSpPr>
            <a:spLocks xmlns:a="http://schemas.openxmlformats.org/drawingml/2006/main" noGrp="1"/>
          </p:cNvSpPr>
          <p:nvPr/>
        </p:nvSpPr>
        <p:spPr>
          <a:xfrm xmlns:a="http://schemas.openxmlformats.org/drawingml/2006/main">
            <a:off x="285750" y="904875"/>
            <a:ext cx="3000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275" b="1" i="0">
                <a:solidFill>
                  <a:srgbClr val="17964B"/>
                </a:solidFill>
                <a:latin typeface="Arial"/>
                <a:ea typeface="Arial"/>
                <a:cs typeface="Arial"/>
              </a:defRPr>
            </a:pPr>
            <a:r>
              <a:rPr sz="1275" b="1" i="0">
                <a:solidFill>
                  <a:srgbClr val="17964B"/>
                </a:solidFill>
                <a:latin typeface="Arial"/>
                <a:ea typeface="Arial"/>
                <a:cs typeface="Arial"/>
              </a:rPr>
              <a:t>WORKING TODAY</a:t>
            </a:r>
          </a:p>
        </p:txBody>
      </p:sp>
      <p:sp>
        <p:nvSpPr>
          <p:cNvPr id="205" name="Feasibility claim 0">
            <a:extLst xmlns:a="http://schemas.openxmlformats.org/drawingml/2006/main">
              <a:ext uri="{FF2B5EF4-FFF2-40B4-BE49-F238E27FC236}">
                <a16:creationId xmlns:a16="http://schemas.microsoft.com/office/drawing/2014/main" id="{5837E96D-3515-458C-9538-71A53EED325A}"/>
              </a:ext>
            </a:extLst>
          </p:cNvPr>
          <p:cNvSpPr>
            <a:spLocks xmlns:a="http://schemas.openxmlformats.org/drawingml/2006/main" noGrp="1"/>
          </p:cNvSpPr>
          <p:nvPr/>
        </p:nvSpPr>
        <p:spPr>
          <a:xfrm xmlns:a="http://schemas.openxmlformats.org/drawingml/2006/main">
            <a:off x="285750" y="1266825"/>
            <a:ext cx="3000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125" b="1" i="0">
                <a:solidFill>
                  <a:srgbClr val="123B5D"/>
                </a:solidFill>
                <a:latin typeface="Arial"/>
                <a:ea typeface="Arial"/>
                <a:cs typeface="Arial"/>
              </a:defRPr>
            </a:pPr>
            <a:r>
              <a:rPr sz="1125" b="1" i="0">
                <a:solidFill>
                  <a:srgbClr val="123B5D"/>
                </a:solidFill>
                <a:latin typeface="Arial"/>
                <a:ea typeface="Arial"/>
                <a:cs typeface="Arial"/>
              </a:rPr>
              <a:t>Chrome extension + local inference</a:t>
            </a:r>
          </a:p>
        </p:txBody>
      </p:sp>
      <p:sp>
        <p:nvSpPr>
          <p:cNvPr id="206" name="Feasibility detail 0">
            <a:extLst xmlns:a="http://schemas.openxmlformats.org/drawingml/2006/main">
              <a:ext uri="{FF2B5EF4-FFF2-40B4-BE49-F238E27FC236}">
                <a16:creationId xmlns:a16="http://schemas.microsoft.com/office/drawing/2014/main" id="{D78993A0-4B7F-4CF6-A159-D20B632B1DC0}"/>
              </a:ext>
            </a:extLst>
          </p:cNvPr>
          <p:cNvSpPr>
            <a:spLocks xmlns:a="http://schemas.openxmlformats.org/drawingml/2006/main" noGrp="1"/>
          </p:cNvSpPr>
          <p:nvPr/>
        </p:nvSpPr>
        <p:spPr>
          <a:xfrm xmlns:a="http://schemas.openxmlformats.org/drawingml/2006/main">
            <a:off x="285750" y="1524000"/>
            <a:ext cx="300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020" b="0" i="0">
                <a:solidFill>
                  <a:srgbClr val="334155"/>
                </a:solidFill>
                <a:latin typeface="Arial"/>
                <a:ea typeface="Arial"/>
                <a:cs typeface="Arial"/>
              </a:defRPr>
            </a:pPr>
            <a:r>
              <a:rPr sz="1020" b="0" i="0">
                <a:solidFill>
                  <a:srgbClr val="334155"/>
                </a:solidFill>
                <a:latin typeface="Arial"/>
                <a:ea typeface="Arial"/>
                <a:cs typeface="Arial"/>
              </a:rPr>
              <a:t>DOM, face detection, OCR and PII filtering run on the device.</a:t>
            </a:r>
          </a:p>
        </p:txBody>
      </p:sp>
      <p:sp>
        <p:nvSpPr>
          <p:cNvPr id="207" name="Feasibility claim 1">
            <a:extLst xmlns:a="http://schemas.openxmlformats.org/drawingml/2006/main">
              <a:ext uri="{FF2B5EF4-FFF2-40B4-BE49-F238E27FC236}">
                <a16:creationId xmlns:a16="http://schemas.microsoft.com/office/drawing/2014/main" id="{130A8038-D013-48F6-A48D-A6D005310AF1}"/>
              </a:ext>
            </a:extLst>
          </p:cNvPr>
          <p:cNvSpPr>
            <a:spLocks xmlns:a="http://schemas.openxmlformats.org/drawingml/2006/main" noGrp="1"/>
          </p:cNvSpPr>
          <p:nvPr/>
        </p:nvSpPr>
        <p:spPr>
          <a:xfrm xmlns:a="http://schemas.openxmlformats.org/drawingml/2006/main">
            <a:off x="285750" y="2028825"/>
            <a:ext cx="3000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125" b="1" i="0">
                <a:solidFill>
                  <a:srgbClr val="123B5D"/>
                </a:solidFill>
                <a:latin typeface="Arial"/>
                <a:ea typeface="Arial"/>
                <a:cs typeface="Arial"/>
              </a:defRPr>
            </a:pPr>
            <a:r>
              <a:rPr sz="1125" b="1" i="0">
                <a:solidFill>
                  <a:srgbClr val="123B5D"/>
                </a:solidFill>
                <a:latin typeface="Arial"/>
                <a:ea typeface="Arial"/>
                <a:cs typeface="Arial"/>
              </a:rPr>
              <a:t>Qwen-assisted railway workflow</a:t>
            </a:r>
          </a:p>
        </p:txBody>
      </p:sp>
      <p:sp>
        <p:nvSpPr>
          <p:cNvPr id="208" name="Feasibility detail 1">
            <a:extLst xmlns:a="http://schemas.openxmlformats.org/drawingml/2006/main">
              <a:ext uri="{FF2B5EF4-FFF2-40B4-BE49-F238E27FC236}">
                <a16:creationId xmlns:a16="http://schemas.microsoft.com/office/drawing/2014/main" id="{31F4DA54-2D52-4022-97EB-E6DDD8F62B03}"/>
              </a:ext>
            </a:extLst>
          </p:cNvPr>
          <p:cNvSpPr>
            <a:spLocks xmlns:a="http://schemas.openxmlformats.org/drawingml/2006/main" noGrp="1"/>
          </p:cNvSpPr>
          <p:nvPr/>
        </p:nvSpPr>
        <p:spPr>
          <a:xfrm xmlns:a="http://schemas.openxmlformats.org/drawingml/2006/main">
            <a:off x="285750" y="2286000"/>
            <a:ext cx="300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020" b="0" i="0">
                <a:solidFill>
                  <a:srgbClr val="334155"/>
                </a:solidFill>
                <a:latin typeface="Arial"/>
                <a:ea typeface="Arial"/>
                <a:cs typeface="Arial"/>
              </a:defRPr>
            </a:pPr>
            <a:r>
              <a:rPr sz="1020" b="0" i="0">
                <a:solidFill>
                  <a:srgbClr val="334155"/>
                </a:solidFill>
                <a:latin typeface="Arial"/>
                <a:ea typeface="Arial"/>
                <a:cs typeface="Arial"/>
              </a:rPr>
              <a:t>Qwen chooses fares. A local adapter handles the remaining known screens.</a:t>
            </a:r>
          </a:p>
        </p:txBody>
      </p:sp>
      <p:sp>
        <p:nvSpPr>
          <p:cNvPr id="209" name="Feasibility claim 2">
            <a:extLst xmlns:a="http://schemas.openxmlformats.org/drawingml/2006/main">
              <a:ext uri="{FF2B5EF4-FFF2-40B4-BE49-F238E27FC236}">
                <a16:creationId xmlns:a16="http://schemas.microsoft.com/office/drawing/2014/main" id="{AD25D8BB-14CE-4796-9D48-D55897F4B680}"/>
              </a:ext>
            </a:extLst>
          </p:cNvPr>
          <p:cNvSpPr>
            <a:spLocks xmlns:a="http://schemas.openxmlformats.org/drawingml/2006/main" noGrp="1"/>
          </p:cNvSpPr>
          <p:nvPr/>
        </p:nvSpPr>
        <p:spPr>
          <a:xfrm xmlns:a="http://schemas.openxmlformats.org/drawingml/2006/main">
            <a:off x="285750" y="2790825"/>
            <a:ext cx="3000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125" b="1" i="0">
                <a:solidFill>
                  <a:srgbClr val="123B5D"/>
                </a:solidFill>
                <a:latin typeface="Arial"/>
                <a:ea typeface="Arial"/>
                <a:cs typeface="Arial"/>
              </a:defRPr>
            </a:pPr>
            <a:r>
              <a:rPr sz="1125" b="1" i="0">
                <a:solidFill>
                  <a:srgbClr val="123B5D"/>
                </a:solidFill>
                <a:latin typeface="Arial"/>
                <a:ea typeface="Arial"/>
                <a:cs typeface="Arial"/>
              </a:rPr>
              <a:t>Permission checks and audit</a:t>
            </a:r>
          </a:p>
        </p:txBody>
      </p:sp>
      <p:sp>
        <p:nvSpPr>
          <p:cNvPr id="210" name="Feasibility detail 2">
            <a:extLst xmlns:a="http://schemas.openxmlformats.org/drawingml/2006/main">
              <a:ext uri="{FF2B5EF4-FFF2-40B4-BE49-F238E27FC236}">
                <a16:creationId xmlns:a16="http://schemas.microsoft.com/office/drawing/2014/main" id="{75513D27-9107-4115-94B0-D3FD062BA06B}"/>
              </a:ext>
            </a:extLst>
          </p:cNvPr>
          <p:cNvSpPr>
            <a:spLocks xmlns:a="http://schemas.openxmlformats.org/drawingml/2006/main" noGrp="1"/>
          </p:cNvSpPr>
          <p:nvPr/>
        </p:nvSpPr>
        <p:spPr>
          <a:xfrm xmlns:a="http://schemas.openxmlformats.org/drawingml/2006/main">
            <a:off x="285750" y="3048000"/>
            <a:ext cx="300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020" b="0" i="0">
                <a:solidFill>
                  <a:srgbClr val="334155"/>
                </a:solidFill>
                <a:latin typeface="Arial"/>
                <a:ea typeface="Arial"/>
                <a:cs typeface="Arial"/>
              </a:defRPr>
            </a:pPr>
            <a:r>
              <a:rPr sz="1020" b="0" i="0">
                <a:solidFill>
                  <a:srgbClr val="334155"/>
                </a:solidFill>
                <a:latin typeface="Arial"/>
                <a:ea typeface="Arial"/>
                <a:cs typeface="Arial"/>
              </a:rPr>
              <a:t>Plans share one private-fill gate. A signed checkpoint anchors the event chain.</a:t>
            </a:r>
          </a:p>
        </p:txBody>
      </p:sp>
      <p:sp>
        <p:nvSpPr>
          <p:cNvPr id="211" name="Readiness separator">
            <a:extLst xmlns:a="http://schemas.openxmlformats.org/drawingml/2006/main">
              <a:ext uri="{FF2B5EF4-FFF2-40B4-BE49-F238E27FC236}">
                <a16:creationId xmlns:a16="http://schemas.microsoft.com/office/drawing/2014/main" id="{18EBAEAC-58D6-4D05-B98D-8FFE39325125}"/>
              </a:ext>
            </a:extLst>
          </p:cNvPr>
          <p:cNvSpPr>
            <a:spLocks xmlns:a="http://schemas.openxmlformats.org/drawingml/2006/main" noGrp="1"/>
          </p:cNvSpPr>
          <p:nvPr/>
        </p:nvSpPr>
        <p:spPr>
          <a:xfrm xmlns:a="http://schemas.openxmlformats.org/drawingml/2006/main">
            <a:off x="285750" y="3600450"/>
            <a:ext cx="3000375" cy="0"/>
          </a:xfrm>
          <a:prstGeom xmlns:a="http://schemas.openxmlformats.org/drawingml/2006/main" prst="line">
            <a:avLst/>
          </a:prstGeom>
          <a:noFill xmlns:a="http://schemas.openxmlformats.org/drawingml/2006/main"/>
          <a:ln xmlns:a="http://schemas.openxmlformats.org/drawingml/2006/main" w="9525">
            <a:solidFill>
              <a:srgbClr val="C4D4DE"/>
            </a:solidFill>
            <a:prstDash val="solid"/>
          </a:ln>
        </p:spPr>
      </p:sp>
      <p:sp>
        <p:nvSpPr>
          <p:cNvPr id="212" name="Deployment priorities heading">
            <a:extLst xmlns:a="http://schemas.openxmlformats.org/drawingml/2006/main">
              <a:ext uri="{FF2B5EF4-FFF2-40B4-BE49-F238E27FC236}">
                <a16:creationId xmlns:a16="http://schemas.microsoft.com/office/drawing/2014/main" id="{789CB6A9-0CCB-47AB-8336-19F884DEFE87}"/>
              </a:ext>
            </a:extLst>
          </p:cNvPr>
          <p:cNvSpPr>
            <a:spLocks xmlns:a="http://schemas.openxmlformats.org/drawingml/2006/main" noGrp="1"/>
          </p:cNvSpPr>
          <p:nvPr/>
        </p:nvSpPr>
        <p:spPr>
          <a:xfrm xmlns:a="http://schemas.openxmlformats.org/drawingml/2006/main">
            <a:off x="285750" y="373380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050" b="1" i="0">
                <a:solidFill>
                  <a:srgbClr val="A66A00"/>
                </a:solidFill>
                <a:latin typeface="Arial"/>
                <a:ea typeface="Arial"/>
                <a:cs typeface="Arial"/>
              </a:defRPr>
            </a:pPr>
            <a:r>
              <a:rPr sz="1050" b="1" i="0">
                <a:solidFill>
                  <a:srgbClr val="A66A00"/>
                </a:solidFill>
                <a:latin typeface="Arial"/>
                <a:ea typeface="Arial"/>
                <a:cs typeface="Arial"/>
              </a:rPr>
              <a:t>BEFORE WIDER DEPLOYMENT</a:t>
            </a:r>
          </a:p>
        </p:txBody>
      </p:sp>
      <p:sp>
        <p:nvSpPr>
          <p:cNvPr id="213" name="Deployment priorities">
            <a:extLst xmlns:a="http://schemas.openxmlformats.org/drawingml/2006/main">
              <a:ext uri="{FF2B5EF4-FFF2-40B4-BE49-F238E27FC236}">
                <a16:creationId xmlns:a16="http://schemas.microsoft.com/office/drawing/2014/main" id="{0343739D-46DD-4575-BE09-776D10DB95E1}"/>
              </a:ext>
            </a:extLst>
          </p:cNvPr>
          <p:cNvSpPr>
            <a:spLocks xmlns:a="http://schemas.openxmlformats.org/drawingml/2006/main" noGrp="1"/>
          </p:cNvSpPr>
          <p:nvPr/>
        </p:nvSpPr>
        <p:spPr>
          <a:xfrm xmlns:a="http://schemas.openxmlformats.org/drawingml/2006/main">
            <a:off x="285750" y="4010025"/>
            <a:ext cx="300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990" b="0" i="0">
                <a:solidFill>
                  <a:srgbClr val="334155"/>
                </a:solidFill>
                <a:latin typeface="Arial"/>
                <a:ea typeface="Arial"/>
                <a:cs typeface="Arial"/>
              </a:defRPr>
            </a:pPr>
            <a:r>
              <a:rPr sz="990" b="0" i="0">
                <a:solidFill>
                  <a:srgbClr val="334155"/>
                </a:solidFill>
                <a:latin typeface="Arial"/>
                <a:ea typeface="Arial"/>
                <a:cs typeface="Arial"/>
              </a:rPr>
              <a:t>Resolve dependency findings. Test Firefox, unseen pages and worker restarts. Audit network traffic and retain checkpoints independently.</a:t>
            </a:r>
          </a:p>
        </p:txBody>
      </p:sp>
      <p:sp>
        <p:nvSpPr>
          <p:cNvPr id="214" name="Evaluation heading">
            <a:extLst xmlns:a="http://schemas.openxmlformats.org/drawingml/2006/main">
              <a:ext uri="{FF2B5EF4-FFF2-40B4-BE49-F238E27FC236}">
                <a16:creationId xmlns:a16="http://schemas.microsoft.com/office/drawing/2014/main" id="{DF4AAD95-CB7F-4359-A799-6F37652947E2}"/>
              </a:ext>
            </a:extLst>
          </p:cNvPr>
          <p:cNvSpPr>
            <a:spLocks xmlns:a="http://schemas.openxmlformats.org/drawingml/2006/main" noGrp="1"/>
          </p:cNvSpPr>
          <p:nvPr/>
        </p:nvSpPr>
        <p:spPr>
          <a:xfrm xmlns:a="http://schemas.openxmlformats.org/drawingml/2006/main">
            <a:off x="3667125" y="904875"/>
            <a:ext cx="5191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275" b="1" i="0">
                <a:solidFill>
                  <a:srgbClr val="087ABD"/>
                </a:solidFill>
                <a:latin typeface="Arial"/>
                <a:ea typeface="Arial"/>
                <a:cs typeface="Arial"/>
              </a:defRPr>
            </a:pPr>
            <a:r>
              <a:rPr sz="1275" b="1" i="0">
                <a:solidFill>
                  <a:srgbClr val="087ABD"/>
                </a:solidFill>
                <a:latin typeface="Arial"/>
                <a:ea typeface="Arial"/>
                <a:cs typeface="Arial"/>
              </a:rPr>
              <a:t>NEXT VALIDATION</a:t>
            </a:r>
          </a:p>
        </p:txBody>
      </p:sp>
      <p:graphicFrame>
        <p:nvGraphicFramePr>
          <p:cNvPr id="238" name=""/>
          <p:cNvGraphicFramePr/>
          <p:nvPr/>
        </p:nvGraphicFramePr>
        <p:xfrm>
          <a:off xmlns:a="http://schemas.openxmlformats.org/drawingml/2006/main" x="3667125" y="1257300"/>
          <a:ext xmlns:a="http://schemas.openxmlformats.org/drawingml/2006/main" cx="5191125" cy="2466975"/>
        </p:xfrm>
        <a:graphic xmlns:a="http://schemas.openxmlformats.org/drawingml/2006/main">
          <a:graphicData uri="http://schemas.openxmlformats.org/drawingml/2006/table">
            <a:tbl>
              <a:tblPr firstRow="0" bandRow="0"/>
              <a:tblGrid>
                <a:gridCol w="1666875"/>
                <a:gridCol w="3524250"/>
              </a:tblGrid>
              <a:tr h="323850">
                <a:tc>
                  <a:txBody>
                    <a:bodyPr wrap="square" lIns="95250" tIns="66675" rIns="95250" bIns="66675">
                      <a:noAutofit/>
                    </a:bodyPr>
                    <a:lstStyle/>
                    <a:p>
                      <a:pPr algn="l">
                        <a:lnSpc>
                          <a:spcPct val="106000"/>
                        </a:lnSpc>
                        <a:buNone/>
                      </a:pPr>
                      <a:r>
                        <a:rPr sz="990" b="1">
                          <a:solidFill>
                            <a:srgbClr val="FFFFFF"/>
                          </a:solidFill>
                          <a:latin typeface="Arial"/>
                          <a:ea typeface="Arial"/>
                          <a:cs typeface="Arial"/>
                        </a:rPr>
                        <a:t>EVALUATION AREA</a:t>
                      </a:r>
                    </a:p>
                  </a:txBody>
                  <a:tcPr marL="91440" marR="91440" marT="45720" marB="45720" anchor="ctr">
                    <a:solidFill>
                      <a:srgbClr val="123B5D"/>
                    </a:solidFill>
                  </a:tcPr>
                </a:tc>
                <a:tc>
                  <a:txBody>
                    <a:bodyPr wrap="square" lIns="95250" tIns="66675" rIns="95250" bIns="66675">
                      <a:noAutofit/>
                    </a:bodyPr>
                    <a:lstStyle/>
                    <a:p>
                      <a:pPr algn="l">
                        <a:lnSpc>
                          <a:spcPct val="106000"/>
                        </a:lnSpc>
                        <a:buNone/>
                      </a:pPr>
                      <a:r>
                        <a:rPr sz="990" b="1">
                          <a:solidFill>
                            <a:srgbClr val="FFFFFF"/>
                          </a:solidFill>
                          <a:latin typeface="Arial"/>
                          <a:ea typeface="Arial"/>
                          <a:cs typeface="Arial"/>
                        </a:rPr>
                        <a:t>MEASUREMENT PLAN</a:t>
                      </a:r>
                    </a:p>
                  </a:txBody>
                  <a:tcPr marL="91440" marR="91440" marT="45720" marB="45720" anchor="ctr">
                    <a:solidFill>
                      <a:srgbClr val="17964B"/>
                    </a:solidFill>
                  </a:tcPr>
                </a:tc>
              </a:tr>
              <a:tr h="428625">
                <a:tc>
                  <a:txBody>
                    <a:bodyPr wrap="square" lIns="95250" tIns="66675" rIns="95250" bIns="66675">
                      <a:noAutofit/>
                    </a:bodyPr>
                    <a:lstStyle/>
                    <a:p>
                      <a:pPr algn="l">
                        <a:lnSpc>
                          <a:spcPct val="106000"/>
                        </a:lnSpc>
                        <a:buNone/>
                      </a:pPr>
                      <a:r>
                        <a:rPr sz="990" b="0">
                          <a:solidFill>
                            <a:srgbClr val="334155"/>
                          </a:solidFill>
                          <a:latin typeface="Arial"/>
                          <a:ea typeface="Arial"/>
                          <a:cs typeface="Arial"/>
                        </a:rPr>
                        <a:t>Visual understanding</a:t>
                      </a:r>
                    </a:p>
                  </a:txBody>
                  <a:tcPr marL="91440" marR="91440" marT="45720" marB="45720" anchor="ctr">
                    <a:solidFill>
                      <a:srgbClr val="FFFFFF"/>
                    </a:solidFill>
                  </a:tcPr>
                </a:tc>
                <a:tc>
                  <a:txBody>
                    <a:bodyPr wrap="square" lIns="95250" tIns="66675" rIns="95250" bIns="66675">
                      <a:noAutofit/>
                    </a:bodyPr>
                    <a:lstStyle/>
                    <a:p>
                      <a:pPr algn="l">
                        <a:lnSpc>
                          <a:spcPct val="106000"/>
                        </a:lnSpc>
                        <a:buNone/>
                      </a:pPr>
                      <a:r>
                        <a:rPr sz="990" b="0">
                          <a:solidFill>
                            <a:srgbClr val="334155"/>
                          </a:solidFill>
                          <a:latin typeface="Arial"/>
                          <a:ea typeface="Arial"/>
                          <a:cs typeface="Arial"/>
                        </a:rPr>
                        <a:t>Annotated screenshots and</a:t>
                      </a:r>
                    </a:p>
                    <a:p>
                      <a:pPr algn="l">
                        <a:lnSpc>
                          <a:spcPct val="106000"/>
                        </a:lnSpc>
                        <a:buNone/>
                      </a:pPr>
                      <a:r>
                        <a:rPr sz="990" b="0">
                          <a:solidFill>
                            <a:srgbClr val="334155"/>
                          </a:solidFill>
                          <a:latin typeface="Arial"/>
                          <a:ea typeface="Arial"/>
                          <a:cs typeface="Arial"/>
                        </a:rPr>
                        <a:t>visual-only tasks</a:t>
                      </a:r>
                    </a:p>
                  </a:txBody>
                  <a:tcPr marL="91440" marR="91440" marT="45720" marB="45720" anchor="ctr">
                    <a:solidFill>
                      <a:srgbClr val="FFFFFF"/>
                    </a:solidFill>
                  </a:tcPr>
                </a:tc>
              </a:tr>
              <a:tr h="428625">
                <a:tc>
                  <a:txBody>
                    <a:bodyPr wrap="square" lIns="95250" tIns="66675" rIns="95250" bIns="66675">
                      <a:noAutofit/>
                    </a:bodyPr>
                    <a:lstStyle/>
                    <a:p>
                      <a:pPr algn="l">
                        <a:lnSpc>
                          <a:spcPct val="106000"/>
                        </a:lnSpc>
                        <a:buNone/>
                      </a:pPr>
                      <a:r>
                        <a:rPr sz="990" b="0">
                          <a:solidFill>
                            <a:srgbClr val="334155"/>
                          </a:solidFill>
                          <a:latin typeface="Arial"/>
                          <a:ea typeface="Arial"/>
                          <a:cs typeface="Arial"/>
                        </a:rPr>
                        <a:t>PII detection</a:t>
                      </a:r>
                    </a:p>
                  </a:txBody>
                  <a:tcPr marL="91440" marR="91440" marT="45720" marB="45720" anchor="ctr">
                    <a:solidFill>
                      <a:srgbClr val="F4F8FA"/>
                    </a:solidFill>
                  </a:tcPr>
                </a:tc>
                <a:tc>
                  <a:txBody>
                    <a:bodyPr wrap="square" lIns="95250" tIns="66675" rIns="95250" bIns="66675">
                      <a:noAutofit/>
                    </a:bodyPr>
                    <a:lstStyle/>
                    <a:p>
                      <a:pPr algn="l">
                        <a:lnSpc>
                          <a:spcPct val="106000"/>
                        </a:lnSpc>
                        <a:buNone/>
                      </a:pPr>
                      <a:r>
                        <a:rPr sz="990" b="0">
                          <a:solidFill>
                            <a:srgbClr val="334155"/>
                          </a:solidFill>
                          <a:latin typeface="Arial"/>
                          <a:ea typeface="Arial"/>
                          <a:cs typeface="Arial"/>
                        </a:rPr>
                        <a:t>Precision / recall on</a:t>
                      </a:r>
                    </a:p>
                    <a:p>
                      <a:pPr algn="l">
                        <a:lnSpc>
                          <a:spcPct val="106000"/>
                        </a:lnSpc>
                        <a:buNone/>
                      </a:pPr>
                      <a:r>
                        <a:rPr sz="990" b="0">
                          <a:solidFill>
                            <a:srgbClr val="334155"/>
                          </a:solidFill>
                          <a:latin typeface="Arial"/>
                          <a:ea typeface="Arial"/>
                          <a:cs typeface="Arial"/>
                        </a:rPr>
                        <a:t>unseen labelled data</a:t>
                      </a:r>
                    </a:p>
                  </a:txBody>
                  <a:tcPr marL="91440" marR="91440" marT="45720" marB="45720" anchor="ctr">
                    <a:solidFill>
                      <a:srgbClr val="F4F8FA"/>
                    </a:solidFill>
                  </a:tcPr>
                </a:tc>
              </a:tr>
              <a:tr h="428625">
                <a:tc>
                  <a:txBody>
                    <a:bodyPr wrap="square" lIns="95250" tIns="66675" rIns="95250" bIns="66675">
                      <a:noAutofit/>
                    </a:bodyPr>
                    <a:lstStyle/>
                    <a:p>
                      <a:pPr algn="l">
                        <a:lnSpc>
                          <a:spcPct val="106000"/>
                        </a:lnSpc>
                        <a:buNone/>
                      </a:pPr>
                      <a:r>
                        <a:rPr sz="990" b="0">
                          <a:solidFill>
                            <a:srgbClr val="334155"/>
                          </a:solidFill>
                          <a:latin typeface="Arial"/>
                          <a:ea typeface="Arial"/>
                          <a:cs typeface="Arial"/>
                        </a:rPr>
                        <a:t>Redaction quality</a:t>
                      </a:r>
                    </a:p>
                  </a:txBody>
                  <a:tcPr marL="91440" marR="91440" marT="45720" marB="45720" anchor="ctr">
                    <a:solidFill>
                      <a:srgbClr val="FFFFFF"/>
                    </a:solidFill>
                  </a:tcPr>
                </a:tc>
                <a:tc>
                  <a:txBody>
                    <a:bodyPr wrap="square" lIns="95250" tIns="66675" rIns="95250" bIns="66675">
                      <a:noAutofit/>
                    </a:bodyPr>
                    <a:lstStyle/>
                    <a:p>
                      <a:pPr algn="l">
                        <a:lnSpc>
                          <a:spcPct val="106000"/>
                        </a:lnSpc>
                        <a:buNone/>
                      </a:pPr>
                      <a:r>
                        <a:rPr sz="990" b="0">
                          <a:solidFill>
                            <a:srgbClr val="334155"/>
                          </a:solidFill>
                          <a:latin typeface="Arial"/>
                          <a:ea typeface="Arial"/>
                          <a:cs typeface="Arial"/>
                        </a:rPr>
                        <a:t>Sensitive regions missed and</a:t>
                      </a:r>
                    </a:p>
                    <a:p>
                      <a:pPr algn="l">
                        <a:lnSpc>
                          <a:spcPct val="106000"/>
                        </a:lnSpc>
                        <a:buNone/>
                      </a:pPr>
                      <a:r>
                        <a:rPr sz="990" b="0">
                          <a:solidFill>
                            <a:srgbClr val="334155"/>
                          </a:solidFill>
                          <a:latin typeface="Arial"/>
                          <a:ea typeface="Arial"/>
                          <a:cs typeface="Arial"/>
                        </a:rPr>
                        <a:t>safe content retained</a:t>
                      </a:r>
                    </a:p>
                  </a:txBody>
                  <a:tcPr marL="91440" marR="91440" marT="45720" marB="45720" anchor="ctr">
                    <a:solidFill>
                      <a:srgbClr val="FFFFFF"/>
                    </a:solidFill>
                  </a:tcPr>
                </a:tc>
              </a:tr>
              <a:tr h="428625">
                <a:tc>
                  <a:txBody>
                    <a:bodyPr wrap="square" lIns="95250" tIns="66675" rIns="95250" bIns="66675">
                      <a:noAutofit/>
                    </a:bodyPr>
                    <a:lstStyle/>
                    <a:p>
                      <a:pPr algn="l">
                        <a:lnSpc>
                          <a:spcPct val="106000"/>
                        </a:lnSpc>
                        <a:buNone/>
                      </a:pPr>
                      <a:r>
                        <a:rPr sz="990" b="0">
                          <a:solidFill>
                            <a:srgbClr val="334155"/>
                          </a:solidFill>
                          <a:latin typeface="Arial"/>
                          <a:ea typeface="Arial"/>
                          <a:cs typeface="Arial"/>
                        </a:rPr>
                        <a:t>Client resources</a:t>
                      </a:r>
                    </a:p>
                  </a:txBody>
                  <a:tcPr marL="91440" marR="91440" marT="45720" marB="45720" anchor="ctr">
                    <a:solidFill>
                      <a:srgbClr val="F4F8FA"/>
                    </a:solidFill>
                  </a:tcPr>
                </a:tc>
                <a:tc>
                  <a:txBody>
                    <a:bodyPr wrap="square" lIns="95250" tIns="66675" rIns="95250" bIns="66675">
                      <a:noAutofit/>
                    </a:bodyPr>
                    <a:lstStyle/>
                    <a:p>
                      <a:pPr algn="l">
                        <a:lnSpc>
                          <a:spcPct val="106000"/>
                        </a:lnSpc>
                        <a:buNone/>
                      </a:pPr>
                      <a:r>
                        <a:rPr sz="990" b="0">
                          <a:solidFill>
                            <a:srgbClr val="334155"/>
                          </a:solidFill>
                          <a:latin typeface="Arial"/>
                          <a:ea typeface="Arial"/>
                          <a:cs typeface="Arial"/>
                        </a:rPr>
                        <a:t>Incremental RAM / CPU and</a:t>
                      </a:r>
                    </a:p>
                    <a:p>
                      <a:pPr algn="l">
                        <a:lnSpc>
                          <a:spcPct val="106000"/>
                        </a:lnSpc>
                        <a:buNone/>
                      </a:pPr>
                      <a:r>
                        <a:rPr sz="990" b="0">
                          <a:solidFill>
                            <a:srgbClr val="334155"/>
                          </a:solidFill>
                          <a:latin typeface="Arial"/>
                          <a:ea typeface="Arial"/>
                          <a:cs typeface="Arial"/>
                        </a:rPr>
                        <a:t>cold / warm inference</a:t>
                      </a:r>
                    </a:p>
                  </a:txBody>
                  <a:tcPr marL="91440" marR="91440" marT="45720" marB="45720" anchor="ctr">
                    <a:solidFill>
                      <a:srgbClr val="F4F8FA"/>
                    </a:solidFill>
                  </a:tcPr>
                </a:tc>
              </a:tr>
              <a:tr h="428625">
                <a:tc>
                  <a:txBody>
                    <a:bodyPr wrap="square" lIns="95250" tIns="66675" rIns="95250" bIns="66675">
                      <a:noAutofit/>
                    </a:bodyPr>
                    <a:lstStyle/>
                    <a:p>
                      <a:pPr algn="l">
                        <a:lnSpc>
                          <a:spcPct val="106000"/>
                        </a:lnSpc>
                        <a:buNone/>
                      </a:pPr>
                      <a:r>
                        <a:rPr sz="990" b="0">
                          <a:solidFill>
                            <a:srgbClr val="334155"/>
                          </a:solidFill>
                          <a:latin typeface="Arial"/>
                          <a:ea typeface="Arial"/>
                          <a:cs typeface="Arial"/>
                        </a:rPr>
                        <a:t>End-to-end latency</a:t>
                      </a:r>
                    </a:p>
                  </a:txBody>
                  <a:tcPr marL="91440" marR="91440" marT="45720" marB="45720" anchor="ctr">
                    <a:solidFill>
                      <a:srgbClr val="FFFFFF"/>
                    </a:solidFill>
                  </a:tcPr>
                </a:tc>
                <a:tc>
                  <a:txBody>
                    <a:bodyPr wrap="square" lIns="95250" tIns="66675" rIns="95250" bIns="66675">
                      <a:noAutofit/>
                    </a:bodyPr>
                    <a:lstStyle/>
                    <a:p>
                      <a:pPr algn="l">
                        <a:lnSpc>
                          <a:spcPct val="106000"/>
                        </a:lnSpc>
                        <a:buNone/>
                      </a:pPr>
                      <a:r>
                        <a:rPr sz="990" b="0">
                          <a:solidFill>
                            <a:srgbClr val="334155"/>
                          </a:solidFill>
                          <a:latin typeface="Arial"/>
                          <a:ea typeface="Arial"/>
                          <a:cs typeface="Arial"/>
                        </a:rPr>
                        <a:t>Median / p95, task success</a:t>
                      </a:r>
                    </a:p>
                    <a:p>
                      <a:pPr algn="l">
                        <a:lnSpc>
                          <a:spcPct val="106000"/>
                        </a:lnSpc>
                        <a:buNone/>
                      </a:pPr>
                      <a:r>
                        <a:rPr sz="990" b="0">
                          <a:solidFill>
                            <a:srgbClr val="334155"/>
                          </a:solidFill>
                          <a:latin typeface="Arial"/>
                          <a:ea typeface="Arial"/>
                          <a:cs typeface="Arial"/>
                        </a:rPr>
                        <a:t>and failures reported</a:t>
                      </a:r>
                    </a:p>
                  </a:txBody>
                  <a:tcPr marL="91440" marR="91440" marT="45720" marB="45720" anchor="ctr">
                    <a:solidFill>
                      <a:srgbClr val="FFFFFF"/>
                    </a:solidFill>
                  </a:tcPr>
                </a:tc>
              </a:tr>
            </a:tbl>
          </a:graphicData>
        </a:graphic>
      </p:graphicFrame>
      <p:sp>
        <p:nvSpPr>
          <p:cNvPr id="216" name="Baseline comparison">
            <a:extLst xmlns:a="http://schemas.openxmlformats.org/drawingml/2006/main">
              <a:ext uri="{FF2B5EF4-FFF2-40B4-BE49-F238E27FC236}">
                <a16:creationId xmlns:a16="http://schemas.microsoft.com/office/drawing/2014/main" id="{3F0C1EA0-A82F-49F3-A335-93093A7C848D}"/>
              </a:ext>
            </a:extLst>
          </p:cNvPr>
          <p:cNvSpPr>
            <a:spLocks xmlns:a="http://schemas.openxmlformats.org/drawingml/2006/main" noGrp="1"/>
          </p:cNvSpPr>
          <p:nvPr/>
        </p:nvSpPr>
        <p:spPr>
          <a:xfrm xmlns:a="http://schemas.openxmlformats.org/drawingml/2006/main">
            <a:off x="3667125" y="3876675"/>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990" b="1" i="0">
                <a:solidFill>
                  <a:srgbClr val="123B5D"/>
                </a:solidFill>
                <a:latin typeface="Arial"/>
                <a:ea typeface="Arial"/>
                <a:cs typeface="Arial"/>
              </a:defRPr>
            </a:pPr>
            <a:r>
              <a:rPr sz="990" b="1" i="0">
                <a:solidFill>
                  <a:srgbClr val="123B5D"/>
                </a:solidFill>
                <a:latin typeface="Arial"/>
                <a:ea typeface="Arial"/>
                <a:cs typeface="Arial"/>
              </a:rPr>
              <a:t>Same tasks and hardware: DOM-only baseline versus full local perception. Report added utility and privacy cost.</a:t>
            </a:r>
          </a:p>
        </p:txBody>
      </p:sp>
      <p:sp>
        <p:nvSpPr>
          <p:cNvPr id="217" name="Planned evaluation disclosure">
            <a:extLst xmlns:a="http://schemas.openxmlformats.org/drawingml/2006/main">
              <a:ext uri="{FF2B5EF4-FFF2-40B4-BE49-F238E27FC236}">
                <a16:creationId xmlns:a16="http://schemas.microsoft.com/office/drawing/2014/main" id="{CB978521-3AFF-4E61-BB47-7CFA54D86B3B}"/>
              </a:ext>
            </a:extLst>
          </p:cNvPr>
          <p:cNvSpPr>
            <a:spLocks xmlns:a="http://schemas.openxmlformats.org/drawingml/2006/main" noGrp="1"/>
          </p:cNvSpPr>
          <p:nvPr/>
        </p:nvSpPr>
        <p:spPr>
          <a:xfrm xmlns:a="http://schemas.openxmlformats.org/drawingml/2006/main">
            <a:off x="3667125" y="4419600"/>
            <a:ext cx="5191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863" b="0" i="0">
                <a:solidFill>
                  <a:srgbClr val="64748B"/>
                </a:solidFill>
                <a:latin typeface="Arial"/>
                <a:ea typeface="Arial"/>
                <a:cs typeface="Arial"/>
              </a:defRPr>
            </a:pPr>
            <a:r>
              <a:rPr sz="863" b="0" i="0">
                <a:solidFill>
                  <a:srgbClr val="64748B"/>
                </a:solidFill>
                <a:latin typeface="Arial"/>
                <a:ea typeface="Arial"/>
                <a:cs typeface="Arial"/>
              </a:rPr>
              <a:t>Planned evaluation </a:t>
            </a:r>
            <a:r>
              <a:rPr sz="863" b="0" i="0">
                <a:solidFill>
                  <a:srgbClr val="64748B"/>
                </a:solidFill>
                <a:latin typeface="Arial"/>
                <a:ea typeface="Arial"/>
                <a:cs typeface="Arial"/>
                <a:hlinkClick xmlns:r="http://schemas.openxmlformats.org/officeDocument/2006/relationships" r:id="Ra6de4428c15a4e2e"/>
              </a:rPr>
              <a:t>[4–6]</a:t>
            </a:r>
            <a:r>
              <a:rPr sz="863" b="0" i="0">
                <a:solidFill>
                  <a:srgbClr val="64748B"/>
                </a:solidFill>
                <a:latin typeface="Arial"/>
                <a:ea typeface="Arial"/>
                <a:cs typeface="Arial"/>
              </a:rPr>
              <a:t>. No benchmark score is claimed.</a:t>
            </a:r>
          </a:p>
        </p:txBody>
      </p:sp>
    </p:spTree>
    <p:extLst>
      <p:ext uri="{BB962C8B-B14F-4D97-AF65-F5344CB8AC3E}">
        <p14:creationId xmlns:p14="http://schemas.microsoft.com/office/powerpoint/2010/main" val="9623901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7" name="Google Shape;207;p19">
            <a:extLst xmlns:a="http://schemas.openxmlformats.org/drawingml/2006/main">
              <a:ext uri="{FF2B5EF4-FFF2-40B4-BE49-F238E27FC236}">
                <a16:creationId xmlns:a16="http://schemas.microsoft.com/office/drawing/2014/main" id="{37AA10EA-5296-4728-8869-58EEEEBF160F}"/>
              </a:ext>
            </a:extLst>
          </p:cNvPr>
          <p:cNvSpPr>
            <a:spLocks xmlns:a="http://schemas.openxmlformats.org/drawingml/2006/main" noGrp="1"/>
          </p:cNvSpPr>
          <p:nvPr/>
        </p:nvSpPr>
        <p:spPr>
          <a:xfrm xmlns:a="http://schemas.openxmlformats.org/drawingml/2006/main">
            <a:off x="171450" y="100013"/>
            <a:ext cx="314325" cy="3143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pic>
        <p:nvPicPr>
          <p:cNvPr id="328" name="Google Shape;209;p19"/>
          <p:cNvPicPr>
            <a:picLocks xmlns:a="http://schemas.openxmlformats.org/drawingml/2006/main" noChangeAspect="1"/>
          </p:cNvPicPr>
          <p:nvPr/>
        </p:nvPicPr>
        <p:blipFill rotWithShape="1">
          <a:blip xmlns:r="http://schemas.openxmlformats.org/officeDocument/2006/relationships" xmlns:a="http://schemas.openxmlformats.org/drawingml/2006/main" r:embed="R7b64bfad167f4e14">
            <a:alphaModFix/>
          </a:blip>
          <a:srcRect xmlns:a="http://schemas.openxmlformats.org/drawingml/2006/main" l="0" t="0" r="0" b="0"/>
          <a:stretch xmlns:a="http://schemas.openxmlformats.org/drawingml/2006/main"/>
        </p:blipFill>
        <p:spPr>
          <a:xfrm xmlns:a="http://schemas.openxmlformats.org/drawingml/2006/main">
            <a:off x="7537042" y="35719"/>
            <a:ext cx="1342253" cy="628650"/>
          </a:xfrm>
          <a:prstGeom xmlns:a="http://schemas.openxmlformats.org/drawingml/2006/main" prst="rect">
            <a:avLst/>
          </a:prstGeom>
          <a:ln xmlns:a="http://schemas.openxmlformats.org/drawingml/2006/main">
            <a:noFill/>
          </a:ln>
        </p:spPr>
      </p:pic>
      <p:sp>
        <p:nvSpPr>
          <p:cNvPr id="210" name="Google Shape;210;p19">
            <a:extLst xmlns:a="http://schemas.openxmlformats.org/drawingml/2006/main">
              <a:ext uri="{FF2B5EF4-FFF2-40B4-BE49-F238E27FC236}">
                <a16:creationId xmlns:a16="http://schemas.microsoft.com/office/drawing/2014/main" id="{DC4C13CE-4410-451C-A124-A23B8B5E2FC6}"/>
              </a:ext>
            </a:extLst>
          </p:cNvPr>
          <p:cNvSpPr>
            <a:spLocks xmlns:a="http://schemas.openxmlformats.org/drawingml/2006/main" noGrp="1"/>
          </p:cNvSpPr>
          <p:nvPr/>
        </p:nvSpPr>
        <p:spPr>
          <a:xfrm xmlns:a="http://schemas.openxmlformats.org/drawingml/2006/main">
            <a:off x="1464469" y="121444"/>
            <a:ext cx="5929313" cy="3857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4300" tIns="0" rIns="14300" bIns="0" anchor="ctr">
            <a:noAutofit/>
          </a:bodyPr>
          <a:lstStyle xmlns:a="http://schemas.openxmlformats.org/drawingml/2006/main"/>
          <a:p xmlns:a="http://schemas.openxmlformats.org/drawingml/2006/main">
            <a:pPr marL="0" marR="0" lvl="0" indent="0" algn="ctr">
              <a:lnSpc>
                <a:spcPct val="102000"/>
              </a:lnSpc>
              <a:spcBef>
                <a:spcPts val="0"/>
              </a:spcBef>
              <a:spcAft>
                <a:spcPts val="0"/>
              </a:spcAft>
              <a:buClr>
                <a:srgbClr val="050505"/>
              </a:buClr>
              <a:buSzPts val="2200"/>
              <a:buFont typeface="Arial Narrow"/>
              <a:buNone/>
            </a:pPr>
            <a:r>
              <a:rPr sz="2200" b="1" i="0">
                <a:solidFill>
                  <a:srgbClr val="050505"/>
                </a:solidFill>
                <a:latin typeface="Arial Narrow"/>
                <a:ea typeface="Arial Narrow"/>
                <a:cs typeface="Arial Narrow"/>
              </a:rPr>
              <a:t>IMPACTS &amp; BENEFITS</a:t>
            </a:r>
            <a:endParaRPr sz="1100"/>
          </a:p>
        </p:txBody>
      </p:sp>
      <p:sp>
        <p:nvSpPr>
          <p:cNvPr id="211" name="Google Shape;211;p19">
            <a:extLst xmlns:a="http://schemas.openxmlformats.org/drawingml/2006/main">
              <a:ext uri="{FF2B5EF4-FFF2-40B4-BE49-F238E27FC236}">
                <a16:creationId xmlns:a16="http://schemas.microsoft.com/office/drawing/2014/main" id="{148F7B7D-42B1-45B0-84D6-7AAEBA79C773}"/>
              </a:ext>
            </a:extLst>
          </p:cNvPr>
          <p:cNvSpPr>
            <a:spLocks xmlns:a="http://schemas.openxmlformats.org/drawingml/2006/main" noGrp="1"/>
          </p:cNvSpPr>
          <p:nvPr/>
        </p:nvSpPr>
        <p:spPr>
          <a:xfrm xmlns:a="http://schemas.openxmlformats.org/drawingml/2006/main">
            <a:off x="0" y="4764881"/>
            <a:ext cx="9144000" cy="378619"/>
          </a:xfrm>
          <a:prstGeom xmlns:a="http://schemas.openxmlformats.org/drawingml/2006/main" prst="rect">
            <a:avLst/>
          </a:prstGeom>
          <a:solidFill xmlns:a="http://schemas.openxmlformats.org/drawingml/2006/main">
            <a:srgbClr val="087ABD"/>
          </a:solidFill>
          <a:ln xmlns:a="http://schemas.openxmlformats.org/drawingml/2006/main" w="9525" cmpd="sng">
            <a:solidFill>
              <a:srgbClr val="087ABD"/>
            </a:solidFill>
            <a:prstDash val="solid"/>
            <a:headEnd type="none" w="sm" len="sm"/>
            <a:tailEnd type="none" w="sm" len="sm"/>
          </a:ln>
        </p:spPr>
        <p:txBody>
          <a:bodyPr xmlns:a="http://schemas.openxmlformats.org/drawingml/2006/main" spcFirstLastPara="1" wrap="square" lIns="68575" tIns="34275" rIns="68575" bIns="34275" anchor="t">
            <a:noAutofit/>
          </a:bodyPr>
          <a:lstStyle xmlns:a="http://schemas.openxmlformats.org/drawingml/2006/main"/>
          <a:p xmlns:a="http://schemas.openxmlformats.org/drawingml/2006/main">
            <a:pPr marL="0" marR="0" lvl="0" indent="0" algn="l">
              <a:spcBef>
                <a:spcPts val="0"/>
              </a:spcBef>
              <a:spcAft>
                <a:spcPts val="0"/>
              </a:spcAft>
              <a:buNone/>
            </a:pPr>
            <a:endParaRPr sz="1400">
              <a:solidFill>
                <a:schemeClr val="dk1"/>
              </a:solidFill>
              <a:latin typeface="Calibri"/>
              <a:ea typeface="Calibri"/>
              <a:cs typeface="Calibri"/>
            </a:endParaRPr>
          </a:p>
        </p:txBody>
      </p:sp>
      <p:sp>
        <p:nvSpPr>
          <p:cNvPr id="212" name="Google Shape;212;p19">
            <a:extLst xmlns:a="http://schemas.openxmlformats.org/drawingml/2006/main">
              <a:ext uri="{FF2B5EF4-FFF2-40B4-BE49-F238E27FC236}">
                <a16:creationId xmlns:a16="http://schemas.microsoft.com/office/drawing/2014/main" id="{AB55C4A5-4E6B-4074-AABC-83FF717BF316}"/>
              </a:ext>
            </a:extLst>
          </p:cNvPr>
          <p:cNvSpPr>
            <a:spLocks xmlns:a="http://schemas.openxmlformats.org/drawingml/2006/main" noGrp="1"/>
          </p:cNvSpPr>
          <p:nvPr/>
        </p:nvSpPr>
        <p:spPr>
          <a:xfrm xmlns:a="http://schemas.openxmlformats.org/drawingml/2006/main">
            <a:off x="3157538" y="4786313"/>
            <a:ext cx="2828925" cy="3143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2000"/>
              </a:lnSpc>
              <a:spcBef>
                <a:spcPts val="0"/>
              </a:spcBef>
              <a:spcAft>
                <a:spcPts val="0"/>
              </a:spcAft>
              <a:buClr>
                <a:srgbClr val="FFFFFF"/>
              </a:buClr>
              <a:buSzPts val="1700"/>
              <a:buFont typeface="Arial Narrow"/>
              <a:buNone/>
            </a:pPr>
            <a:r>
              <a:rPr sz="1700" b="1" i="0">
                <a:solidFill>
                  <a:srgbClr val="FFFFFF"/>
                </a:solidFill>
                <a:latin typeface="Arial Narrow"/>
                <a:ea typeface="Arial Narrow"/>
                <a:cs typeface="Arial Narrow"/>
              </a:rPr>
              <a:t>@chr0m1um</a:t>
            </a:r>
            <a:endParaRPr sz="1100"/>
          </a:p>
        </p:txBody>
      </p:sp>
      <p:sp>
        <p:nvSpPr>
          <p:cNvPr id="213" name="Google Shape;213;p19">
            <a:extLst xmlns:a="http://schemas.openxmlformats.org/drawingml/2006/main">
              <a:ext uri="{FF2B5EF4-FFF2-40B4-BE49-F238E27FC236}">
                <a16:creationId xmlns:a16="http://schemas.microsoft.com/office/drawing/2014/main" id="{49D59F47-AF6F-40F9-AC28-C6546DF1E68B}"/>
              </a:ext>
            </a:extLst>
          </p:cNvPr>
          <p:cNvSpPr>
            <a:spLocks xmlns:a="http://schemas.openxmlformats.org/drawingml/2006/main" noGrp="1"/>
          </p:cNvSpPr>
          <p:nvPr/>
        </p:nvSpPr>
        <p:spPr>
          <a:xfrm xmlns:a="http://schemas.openxmlformats.org/drawingml/2006/main">
            <a:off x="8708231" y="4779169"/>
            <a:ext cx="300038" cy="32146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2000"/>
              </a:lnSpc>
              <a:spcBef>
                <a:spcPts val="0"/>
              </a:spcBef>
              <a:spcAft>
                <a:spcPts val="0"/>
              </a:spcAft>
              <a:buClr>
                <a:srgbClr val="FFFFFF"/>
              </a:buClr>
              <a:buSzPts val="1500"/>
              <a:buFont typeface="Arial Narrow"/>
              <a:buNone/>
            </a:pPr>
            <a:r>
              <a:rPr sz="1500" b="1" i="0">
                <a:solidFill>
                  <a:srgbClr val="FFFFFF"/>
                </a:solidFill>
                <a:latin typeface="Arial Narrow"/>
                <a:ea typeface="Arial Narrow"/>
                <a:cs typeface="Arial Narrow"/>
              </a:rPr>
              <a:t>5</a:t>
            </a:r>
            <a:endParaRPr sz="1100"/>
          </a:p>
        </p:txBody>
      </p:sp>
      <p:sp>
        <p:nvSpPr>
          <p:cNvPr id="311" name="Evidence subtitle">
            <a:extLst xmlns:a="http://schemas.openxmlformats.org/drawingml/2006/main">
              <a:ext uri="{FF2B5EF4-FFF2-40B4-BE49-F238E27FC236}">
                <a16:creationId xmlns:a16="http://schemas.microsoft.com/office/drawing/2014/main" id="{9047C74C-B114-4739-B7E4-4C632A44F1DB}"/>
              </a:ext>
            </a:extLst>
          </p:cNvPr>
          <p:cNvSpPr>
            <a:spLocks xmlns:a="http://schemas.openxmlformats.org/drawingml/2006/main" noGrp="1"/>
          </p:cNvSpPr>
          <p:nvPr/>
        </p:nvSpPr>
        <p:spPr>
          <a:xfrm xmlns:a="http://schemas.openxmlformats.org/drawingml/2006/main">
            <a:off x="952500" y="533400"/>
            <a:ext cx="647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6000"/>
              </a:lnSpc>
              <a:buNone/>
              <a:defRPr sz="900" b="0" i="0">
                <a:solidFill>
                  <a:srgbClr val="64748B"/>
                </a:solidFill>
                <a:latin typeface="Arial"/>
                <a:ea typeface="Arial"/>
                <a:cs typeface="Arial"/>
              </a:defRPr>
            </a:pPr>
            <a:r>
              <a:rPr sz="900" b="0" i="0">
                <a:solidFill>
                  <a:srgbClr val="64748B"/>
                </a:solidFill>
                <a:latin typeface="Arial"/>
                <a:ea typeface="Arial"/>
                <a:cs typeface="Arial"/>
              </a:rPr>
              <a:t>Controlled evidence from the v1.5 railway demonstration</a:t>
            </a:r>
          </a:p>
        </p:txBody>
      </p:sp>
      <p:sp>
        <p:nvSpPr>
          <p:cNvPr id="312" name="Outcome 0 heading">
            <a:extLst xmlns:a="http://schemas.openxmlformats.org/drawingml/2006/main">
              <a:ext uri="{FF2B5EF4-FFF2-40B4-BE49-F238E27FC236}">
                <a16:creationId xmlns:a16="http://schemas.microsoft.com/office/drawing/2014/main" id="{46E9C981-AC52-461A-90E7-40236DBFE9EB}"/>
              </a:ext>
            </a:extLst>
          </p:cNvPr>
          <p:cNvSpPr>
            <a:spLocks xmlns:a="http://schemas.openxmlformats.org/drawingml/2006/main" noGrp="1"/>
          </p:cNvSpPr>
          <p:nvPr/>
        </p:nvSpPr>
        <p:spPr>
          <a:xfrm xmlns:a="http://schemas.openxmlformats.org/drawingml/2006/main">
            <a:off x="285750" y="1028700"/>
            <a:ext cx="419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275" b="1" i="0">
                <a:solidFill>
                  <a:srgbClr val="17964B"/>
                </a:solidFill>
                <a:latin typeface="Arial"/>
                <a:ea typeface="Arial"/>
                <a:cs typeface="Arial"/>
              </a:defRPr>
            </a:pPr>
            <a:r>
              <a:rPr sz="1275" b="1" i="0">
                <a:solidFill>
                  <a:srgbClr val="17964B"/>
                </a:solidFill>
                <a:latin typeface="Arial"/>
                <a:ea typeface="Arial"/>
                <a:cs typeface="Arial"/>
              </a:rPr>
              <a:t>01  BOOKING COMPLETED</a:t>
            </a:r>
          </a:p>
        </p:txBody>
      </p:sp>
      <p:sp>
        <p:nvSpPr>
          <p:cNvPr id="313" name="Outcome 0 detail">
            <a:extLst xmlns:a="http://schemas.openxmlformats.org/drawingml/2006/main">
              <a:ext uri="{FF2B5EF4-FFF2-40B4-BE49-F238E27FC236}">
                <a16:creationId xmlns:a16="http://schemas.microsoft.com/office/drawing/2014/main" id="{0F8F26F3-9698-4D14-8855-3148C673BB92}"/>
              </a:ext>
            </a:extLst>
          </p:cNvPr>
          <p:cNvSpPr>
            <a:spLocks xmlns:a="http://schemas.openxmlformats.org/drawingml/2006/main" noGrp="1"/>
          </p:cNvSpPr>
          <p:nvPr/>
        </p:nvSpPr>
        <p:spPr>
          <a:xfrm xmlns:a="http://schemas.openxmlformats.org/drawingml/2006/main">
            <a:off x="285750" y="1371600"/>
            <a:ext cx="41624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125" b="0" i="0">
                <a:solidFill>
                  <a:srgbClr val="334155"/>
                </a:solidFill>
                <a:latin typeface="Arial"/>
                <a:ea typeface="Arial"/>
                <a:cs typeface="Arial"/>
              </a:defRPr>
            </a:pPr>
            <a:r>
              <a:rPr sz="1125" b="0" i="0">
                <a:solidFill>
                  <a:srgbClr val="334155"/>
                </a:solidFill>
                <a:latin typeface="Arial"/>
                <a:ea typeface="Arial"/>
                <a:cs typeface="Arial"/>
              </a:rPr>
              <a:t>The packaged extension reached a simulated ticket in assisted and rehearsal tests.</a:t>
            </a:r>
          </a:p>
        </p:txBody>
      </p:sp>
      <p:sp>
        <p:nvSpPr>
          <p:cNvPr id="314" name="Outcome 0 separator">
            <a:extLst xmlns:a="http://schemas.openxmlformats.org/drawingml/2006/main">
              <a:ext uri="{FF2B5EF4-FFF2-40B4-BE49-F238E27FC236}">
                <a16:creationId xmlns:a16="http://schemas.microsoft.com/office/drawing/2014/main" id="{AE152976-9D6B-4672-9111-A8815E855DE3}"/>
              </a:ext>
            </a:extLst>
          </p:cNvPr>
          <p:cNvSpPr>
            <a:spLocks xmlns:a="http://schemas.openxmlformats.org/drawingml/2006/main" noGrp="1"/>
          </p:cNvSpPr>
          <p:nvPr/>
        </p:nvSpPr>
        <p:spPr>
          <a:xfrm xmlns:a="http://schemas.openxmlformats.org/drawingml/2006/main">
            <a:off x="285750" y="1924050"/>
            <a:ext cx="4162425" cy="0"/>
          </a:xfrm>
          <a:prstGeom xmlns:a="http://schemas.openxmlformats.org/drawingml/2006/main" prst="line">
            <a:avLst/>
          </a:prstGeom>
          <a:noFill xmlns:a="http://schemas.openxmlformats.org/drawingml/2006/main"/>
          <a:ln xmlns:a="http://schemas.openxmlformats.org/drawingml/2006/main" w="9525">
            <a:solidFill>
              <a:srgbClr val="C4D4DE"/>
            </a:solidFill>
            <a:prstDash val="solid"/>
          </a:ln>
        </p:spPr>
      </p:sp>
      <p:sp>
        <p:nvSpPr>
          <p:cNvPr id="315" name="Outcome 1 heading">
            <a:extLst xmlns:a="http://schemas.openxmlformats.org/drawingml/2006/main">
              <a:ext uri="{FF2B5EF4-FFF2-40B4-BE49-F238E27FC236}">
                <a16:creationId xmlns:a16="http://schemas.microsoft.com/office/drawing/2014/main" id="{C701D571-5D89-4A92-B4B7-64987DDFE94F}"/>
              </a:ext>
            </a:extLst>
          </p:cNvPr>
          <p:cNvSpPr>
            <a:spLocks xmlns:a="http://schemas.openxmlformats.org/drawingml/2006/main" noGrp="1"/>
          </p:cNvSpPr>
          <p:nvPr/>
        </p:nvSpPr>
        <p:spPr>
          <a:xfrm xmlns:a="http://schemas.openxmlformats.org/drawingml/2006/main">
            <a:off x="285750" y="2066925"/>
            <a:ext cx="419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275" b="1" i="0">
                <a:solidFill>
                  <a:srgbClr val="087ABD"/>
                </a:solidFill>
                <a:latin typeface="Arial"/>
                <a:ea typeface="Arial"/>
                <a:cs typeface="Arial"/>
              </a:defRPr>
            </a:pPr>
            <a:r>
              <a:rPr sz="1275" b="1" i="0">
                <a:solidFill>
                  <a:srgbClr val="087ABD"/>
                </a:solidFill>
                <a:latin typeface="Arial"/>
                <a:ea typeface="Arial"/>
                <a:cs typeface="Arial"/>
              </a:rPr>
              <a:t>02  HOSTILE PRIVATE FILL BLOCKED</a:t>
            </a:r>
          </a:p>
        </p:txBody>
      </p:sp>
      <p:sp>
        <p:nvSpPr>
          <p:cNvPr id="316" name="Outcome 1 detail">
            <a:extLst xmlns:a="http://schemas.openxmlformats.org/drawingml/2006/main">
              <a:ext uri="{FF2B5EF4-FFF2-40B4-BE49-F238E27FC236}">
                <a16:creationId xmlns:a16="http://schemas.microsoft.com/office/drawing/2014/main" id="{2CBC9734-35F1-4C94-A7C3-4FFE431E0225}"/>
              </a:ext>
            </a:extLst>
          </p:cNvPr>
          <p:cNvSpPr>
            <a:spLocks xmlns:a="http://schemas.openxmlformats.org/drawingml/2006/main" noGrp="1"/>
          </p:cNvSpPr>
          <p:nvPr/>
        </p:nvSpPr>
        <p:spPr>
          <a:xfrm xmlns:a="http://schemas.openxmlformats.org/drawingml/2006/main">
            <a:off x="285750" y="2409825"/>
            <a:ext cx="41624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125" b="0" i="0">
                <a:solidFill>
                  <a:srgbClr val="334155"/>
                </a:solidFill>
                <a:latin typeface="Arial"/>
                <a:ea typeface="Arial"/>
                <a:cs typeface="Arial"/>
              </a:defRPr>
            </a:pPr>
            <a:r>
              <a:rPr sz="1125" b="0" i="0">
                <a:solidFill>
                  <a:srgbClr val="334155"/>
                </a:solidFill>
                <a:latin typeface="Arial"/>
                <a:ea typeface="Arial"/>
                <a:cs typeface="Arial"/>
              </a:rPr>
              <a:t>A malicious server action targeted an unrelated field. The field stayed empty and the gate recorded BLOCKED.</a:t>
            </a:r>
          </a:p>
        </p:txBody>
      </p:sp>
      <p:sp>
        <p:nvSpPr>
          <p:cNvPr id="317" name="Outcome 1 separator">
            <a:extLst xmlns:a="http://schemas.openxmlformats.org/drawingml/2006/main">
              <a:ext uri="{FF2B5EF4-FFF2-40B4-BE49-F238E27FC236}">
                <a16:creationId xmlns:a16="http://schemas.microsoft.com/office/drawing/2014/main" id="{C5FEF8EA-2294-4A9A-A562-07C63AB4E47E}"/>
              </a:ext>
            </a:extLst>
          </p:cNvPr>
          <p:cNvSpPr>
            <a:spLocks xmlns:a="http://schemas.openxmlformats.org/drawingml/2006/main" noGrp="1"/>
          </p:cNvSpPr>
          <p:nvPr/>
        </p:nvSpPr>
        <p:spPr>
          <a:xfrm xmlns:a="http://schemas.openxmlformats.org/drawingml/2006/main">
            <a:off x="285750" y="2962275"/>
            <a:ext cx="4162425" cy="0"/>
          </a:xfrm>
          <a:prstGeom xmlns:a="http://schemas.openxmlformats.org/drawingml/2006/main" prst="line">
            <a:avLst/>
          </a:prstGeom>
          <a:noFill xmlns:a="http://schemas.openxmlformats.org/drawingml/2006/main"/>
          <a:ln xmlns:a="http://schemas.openxmlformats.org/drawingml/2006/main" w="9525">
            <a:solidFill>
              <a:srgbClr val="C4D4DE"/>
            </a:solidFill>
            <a:prstDash val="solid"/>
          </a:ln>
        </p:spPr>
      </p:sp>
      <p:sp>
        <p:nvSpPr>
          <p:cNvPr id="318" name="Outcome 2 heading">
            <a:extLst xmlns:a="http://schemas.openxmlformats.org/drawingml/2006/main">
              <a:ext uri="{FF2B5EF4-FFF2-40B4-BE49-F238E27FC236}">
                <a16:creationId xmlns:a16="http://schemas.microsoft.com/office/drawing/2014/main" id="{E21DC07C-8C5A-4F10-9115-ED6D887B8646}"/>
              </a:ext>
            </a:extLst>
          </p:cNvPr>
          <p:cNvSpPr>
            <a:spLocks xmlns:a="http://schemas.openxmlformats.org/drawingml/2006/main" noGrp="1"/>
          </p:cNvSpPr>
          <p:nvPr/>
        </p:nvSpPr>
        <p:spPr>
          <a:xfrm xmlns:a="http://schemas.openxmlformats.org/drawingml/2006/main">
            <a:off x="285750" y="3105150"/>
            <a:ext cx="419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275" b="1" i="0">
                <a:solidFill>
                  <a:srgbClr val="17964B"/>
                </a:solidFill>
                <a:latin typeface="Arial"/>
                <a:ea typeface="Arial"/>
                <a:cs typeface="Arial"/>
              </a:defRPr>
            </a:pPr>
            <a:r>
              <a:rPr sz="1275" b="1" i="0">
                <a:solidFill>
                  <a:srgbClr val="17964B"/>
                </a:solidFill>
                <a:latin typeface="Arial"/>
                <a:ea typeface="Arial"/>
                <a:cs typeface="Arial"/>
              </a:rPr>
              <a:t>03  MODIFIED LOG REJECTED</a:t>
            </a:r>
          </a:p>
        </p:txBody>
      </p:sp>
      <p:sp>
        <p:nvSpPr>
          <p:cNvPr id="319" name="Outcome 2 detail">
            <a:extLst xmlns:a="http://schemas.openxmlformats.org/drawingml/2006/main">
              <a:ext uri="{FF2B5EF4-FFF2-40B4-BE49-F238E27FC236}">
                <a16:creationId xmlns:a16="http://schemas.microsoft.com/office/drawing/2014/main" id="{39A51795-0909-403E-98AF-0F2C201161BC}"/>
              </a:ext>
            </a:extLst>
          </p:cNvPr>
          <p:cNvSpPr>
            <a:spLocks xmlns:a="http://schemas.openxmlformats.org/drawingml/2006/main" noGrp="1"/>
          </p:cNvSpPr>
          <p:nvPr/>
        </p:nvSpPr>
        <p:spPr>
          <a:xfrm xmlns:a="http://schemas.openxmlformats.org/drawingml/2006/main">
            <a:off x="285750" y="3448050"/>
            <a:ext cx="41624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125" b="0" i="0">
                <a:solidFill>
                  <a:srgbClr val="334155"/>
                </a:solidFill>
                <a:latin typeface="Arial"/>
                <a:ea typeface="Arial"/>
                <a:cs typeface="Arial"/>
              </a:defRPr>
            </a:pPr>
            <a:r>
              <a:rPr sz="1125" b="0" i="0">
                <a:solidFill>
                  <a:srgbClr val="334155"/>
                </a:solidFill>
                <a:latin typeface="Arial"/>
                <a:ea typeface="Arial"/>
                <a:cs typeface="Arial"/>
              </a:rPr>
              <a:t>An edited ledger copy failed integrity verification. A separately retained checkpoint anchors the check.</a:t>
            </a:r>
          </a:p>
        </p:txBody>
      </p:sp>
      <p:sp>
        <p:nvSpPr>
          <p:cNvPr id="320" name="Demo image heading">
            <a:extLst xmlns:a="http://schemas.openxmlformats.org/drawingml/2006/main">
              <a:ext uri="{FF2B5EF4-FFF2-40B4-BE49-F238E27FC236}">
                <a16:creationId xmlns:a16="http://schemas.microsoft.com/office/drawing/2014/main" id="{98A346A0-CA84-4D9D-9E3C-AAE9279B1482}"/>
              </a:ext>
            </a:extLst>
          </p:cNvPr>
          <p:cNvSpPr>
            <a:spLocks xmlns:a="http://schemas.openxmlformats.org/drawingml/2006/main" noGrp="1"/>
          </p:cNvSpPr>
          <p:nvPr/>
        </p:nvSpPr>
        <p:spPr>
          <a:xfrm xmlns:a="http://schemas.openxmlformats.org/drawingml/2006/main">
            <a:off x="4857750" y="102870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200" b="1" i="0">
                <a:solidFill>
                  <a:srgbClr val="123B5D"/>
                </a:solidFill>
                <a:latin typeface="Arial"/>
                <a:ea typeface="Arial"/>
                <a:cs typeface="Arial"/>
              </a:defRPr>
            </a:pPr>
            <a:r>
              <a:rPr sz="1200" b="1" i="0">
                <a:solidFill>
                  <a:srgbClr val="123B5D"/>
                </a:solidFill>
                <a:latin typeface="Arial"/>
                <a:ea typeface="Arial"/>
                <a:cs typeface="Arial"/>
              </a:rPr>
              <a:t>END-TO-END SANDBOX JOURNEY</a:t>
            </a:r>
          </a:p>
        </p:txBody>
      </p:sp>
      <p:pic>
        <p:nvPicPr>
          <p:cNvPr id="343" name=""/>
          <p:cNvPicPr>
            <a:picLocks xmlns:a="http://schemas.openxmlformats.org/drawingml/2006/main" noChangeAspect="1"/>
          </p:cNvPicPr>
          <p:nvPr/>
        </p:nvPicPr>
        <p:blipFill>
          <a:blip xmlns:r="http://schemas.openxmlformats.org/officeDocument/2006/relationships" xmlns:a="http://schemas.openxmlformats.org/drawingml/2006/main" r:embed="R20b2799057324b49"/>
          <a:srcRect xmlns:a="http://schemas.openxmlformats.org/drawingml/2006/main" l="14008" t="0" r="14008" b="0"/>
          <a:stretch xmlns:a="http://schemas.openxmlformats.org/drawingml/2006/main">
            <a:fillRect l="0" t="0" r="0" b="0"/>
          </a:stretch>
        </p:blipFill>
        <p:spPr>
          <a:xfrm xmlns:a="http://schemas.openxmlformats.org/drawingml/2006/main">
            <a:off x="5105400" y="1352550"/>
            <a:ext cx="3486150" cy="2724150"/>
          </a:xfrm>
          <a:prstGeom xmlns:a="http://schemas.openxmlformats.org/drawingml/2006/main" prst="rect">
            <a:avLst/>
          </a:prstGeom>
        </p:spPr>
      </p:pic>
      <p:sp>
        <p:nvSpPr>
          <p:cNvPr id="322" name="Screenshot caption">
            <a:extLst xmlns:a="http://schemas.openxmlformats.org/drawingml/2006/main">
              <a:ext uri="{FF2B5EF4-FFF2-40B4-BE49-F238E27FC236}">
                <a16:creationId xmlns:a16="http://schemas.microsoft.com/office/drawing/2014/main" id="{111658B3-E0B3-4C88-80BB-E5740E722472}"/>
              </a:ext>
            </a:extLst>
          </p:cNvPr>
          <p:cNvSpPr>
            <a:spLocks xmlns:a="http://schemas.openxmlformats.org/drawingml/2006/main" noGrp="1"/>
          </p:cNvSpPr>
          <p:nvPr/>
        </p:nvSpPr>
        <p:spPr>
          <a:xfrm xmlns:a="http://schemas.openxmlformats.org/drawingml/2006/main">
            <a:off x="4857750" y="41243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6000"/>
              </a:lnSpc>
              <a:buNone/>
              <a:defRPr sz="825" b="0" i="0">
                <a:solidFill>
                  <a:srgbClr val="64748B"/>
                </a:solidFill>
                <a:latin typeface="Arial"/>
                <a:ea typeface="Arial"/>
                <a:cs typeface="Arial"/>
              </a:defRPr>
            </a:pPr>
            <a:r>
              <a:rPr sz="825" b="0" i="0">
                <a:solidFill>
                  <a:srgbClr val="64748B"/>
                </a:solidFill>
                <a:latin typeface="Arial"/>
                <a:ea typeface="Arial"/>
                <a:cs typeface="Arial"/>
              </a:rPr>
              <a:t>Actual sandbox UI. Synthetic data and payment.</a:t>
            </a:r>
          </a:p>
          <a:p xmlns:a="http://schemas.openxmlformats.org/drawingml/2006/main">
            <a:pPr algn="ctr">
              <a:lnSpc>
                <a:spcPct val="106000"/>
              </a:lnSpc>
              <a:buNone/>
              <a:defRPr sz="825" b="0" i="0">
                <a:solidFill>
                  <a:srgbClr val="64748B"/>
                </a:solidFill>
                <a:latin typeface="Arial"/>
                <a:ea typeface="Arial"/>
                <a:cs typeface="Arial"/>
              </a:defRPr>
            </a:pPr>
            <a:r>
              <a:rPr sz="825" b="0" i="0">
                <a:solidFill>
                  <a:srgbClr val="64748B"/>
                </a:solidFill>
                <a:latin typeface="Arial"/>
                <a:ea typeface="Arial"/>
                <a:cs typeface="Arial"/>
              </a:rPr>
              <a:t>No IRCTC affiliation or live reservation.</a:t>
            </a:r>
          </a:p>
        </p:txBody>
      </p:sp>
      <p:sp>
        <p:nvSpPr>
          <p:cNvPr id="323" name="Evidence provenance">
            <a:extLst xmlns:a="http://schemas.openxmlformats.org/drawingml/2006/main">
              <a:ext uri="{FF2B5EF4-FFF2-40B4-BE49-F238E27FC236}">
                <a16:creationId xmlns:a16="http://schemas.microsoft.com/office/drawing/2014/main" id="{C3C600AF-BFDE-40E6-A1C7-EA5D16B9CC80}"/>
              </a:ext>
            </a:extLst>
          </p:cNvPr>
          <p:cNvSpPr>
            <a:spLocks xmlns:a="http://schemas.openxmlformats.org/drawingml/2006/main" noGrp="1"/>
          </p:cNvSpPr>
          <p:nvPr/>
        </p:nvSpPr>
        <p:spPr>
          <a:xfrm xmlns:a="http://schemas.openxmlformats.org/drawingml/2006/main">
            <a:off x="285750" y="4419600"/>
            <a:ext cx="8572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6000"/>
              </a:lnSpc>
              <a:buNone/>
              <a:defRPr sz="803" b="0" i="0">
                <a:solidFill>
                  <a:srgbClr val="64748B"/>
                </a:solidFill>
                <a:latin typeface="Arial"/>
                <a:ea typeface="Arial"/>
                <a:cs typeface="Arial"/>
              </a:defRPr>
            </a:pPr>
            <a:r>
              <a:rPr sz="803" b="0" i="0">
                <a:solidFill>
                  <a:srgbClr val="64748B"/>
                </a:solidFill>
                <a:latin typeface="Arial"/>
                <a:ea typeface="Arial"/>
                <a:cs typeface="Arial"/>
              </a:rPr>
              <a:t>18 Sep 2026 validation: 96 unit tests, 19 backend tests, 8 Chrome scenarios. Controlled fixtures with automated consent.</a:t>
            </a:r>
          </a:p>
        </p:txBody>
      </p:sp>
      <p:sp>
        <p:nvSpPr>
          <p:cNvPr id="324" name="Evidence limits">
            <a:extLst xmlns:a="http://schemas.openxmlformats.org/drawingml/2006/main">
              <a:ext uri="{FF2B5EF4-FFF2-40B4-BE49-F238E27FC236}">
                <a16:creationId xmlns:a16="http://schemas.microsoft.com/office/drawing/2014/main" id="{B7042E57-A86E-425E-8CA9-A7973B72D484}"/>
              </a:ext>
            </a:extLst>
          </p:cNvPr>
          <p:cNvSpPr>
            <a:spLocks xmlns:a="http://schemas.openxmlformats.org/drawingml/2006/main" noGrp="1"/>
          </p:cNvSpPr>
          <p:nvPr/>
        </p:nvSpPr>
        <p:spPr>
          <a:xfrm xmlns:a="http://schemas.openxmlformats.org/drawingml/2006/main">
            <a:off x="285750" y="4600575"/>
            <a:ext cx="85725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6000"/>
              </a:lnSpc>
              <a:buNone/>
              <a:defRPr sz="735" b="0" i="0">
                <a:solidFill>
                  <a:srgbClr val="64748B"/>
                </a:solidFill>
                <a:latin typeface="Arial"/>
                <a:ea typeface="Arial"/>
                <a:cs typeface="Arial"/>
              </a:defRPr>
            </a:pPr>
            <a:r>
              <a:rPr sz="735" b="0" i="0">
                <a:solidFill>
                  <a:srgbClr val="64748B"/>
                </a:solidFill>
                <a:latin typeface="Arial"/>
                <a:ea typeface="Arial"/>
                <a:cs typeface="Arial"/>
              </a:rPr>
              <a:t>Unseen-site accuracy, memory and latency remain unmeasured. These tests do not establish universal injection resistance.</a:t>
            </a:r>
          </a:p>
        </p:txBody>
      </p:sp>
    </p:spTree>
    <p:extLst>
      <p:ext uri="{BB962C8B-B14F-4D97-AF65-F5344CB8AC3E}">
        <p14:creationId xmlns:p14="http://schemas.microsoft.com/office/powerpoint/2010/main" val="5889510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9" name="Google Shape;259;p20">
            <a:extLst xmlns:a="http://schemas.openxmlformats.org/drawingml/2006/main">
              <a:ext uri="{FF2B5EF4-FFF2-40B4-BE49-F238E27FC236}">
                <a16:creationId xmlns:a16="http://schemas.microsoft.com/office/drawing/2014/main" id="{0BDEF455-789C-44EF-8A8A-FEBE4D1FCD61}"/>
              </a:ext>
            </a:extLst>
          </p:cNvPr>
          <p:cNvSpPr>
            <a:spLocks xmlns:a="http://schemas.openxmlformats.org/drawingml/2006/main" noGrp="1"/>
          </p:cNvSpPr>
          <p:nvPr/>
        </p:nvSpPr>
        <p:spPr>
          <a:xfrm xmlns:a="http://schemas.openxmlformats.org/drawingml/2006/main">
            <a:off x="171450" y="100013"/>
            <a:ext cx="314325" cy="3143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pic>
        <p:nvPicPr>
          <p:cNvPr id="329" name="Google Shape;261;p20"/>
          <p:cNvPicPr>
            <a:picLocks xmlns:a="http://schemas.openxmlformats.org/drawingml/2006/main" noChangeAspect="1"/>
          </p:cNvPicPr>
          <p:nvPr/>
        </p:nvPicPr>
        <p:blipFill rotWithShape="1">
          <a:blip xmlns:r="http://schemas.openxmlformats.org/officeDocument/2006/relationships" xmlns:a="http://schemas.openxmlformats.org/drawingml/2006/main" r:embed="Rfc2814ef2aa84a73">
            <a:alphaModFix/>
          </a:blip>
          <a:srcRect xmlns:a="http://schemas.openxmlformats.org/drawingml/2006/main" l="0" t="0" r="0" b="0"/>
          <a:stretch xmlns:a="http://schemas.openxmlformats.org/drawingml/2006/main"/>
        </p:blipFill>
        <p:spPr>
          <a:xfrm xmlns:a="http://schemas.openxmlformats.org/drawingml/2006/main">
            <a:off x="7537042" y="35719"/>
            <a:ext cx="1342253" cy="628650"/>
          </a:xfrm>
          <a:prstGeom xmlns:a="http://schemas.openxmlformats.org/drawingml/2006/main" prst="rect">
            <a:avLst/>
          </a:prstGeom>
          <a:ln xmlns:a="http://schemas.openxmlformats.org/drawingml/2006/main">
            <a:noFill/>
          </a:ln>
        </p:spPr>
      </p:pic>
      <p:sp>
        <p:nvSpPr>
          <p:cNvPr id="262" name="Google Shape;262;p20">
            <a:extLst xmlns:a="http://schemas.openxmlformats.org/drawingml/2006/main">
              <a:ext uri="{FF2B5EF4-FFF2-40B4-BE49-F238E27FC236}">
                <a16:creationId xmlns:a16="http://schemas.microsoft.com/office/drawing/2014/main" id="{6E9EFE87-E2A6-4568-B4E5-520B95C6DE93}"/>
              </a:ext>
            </a:extLst>
          </p:cNvPr>
          <p:cNvSpPr>
            <a:spLocks xmlns:a="http://schemas.openxmlformats.org/drawingml/2006/main" noGrp="1"/>
          </p:cNvSpPr>
          <p:nvPr/>
        </p:nvSpPr>
        <p:spPr>
          <a:xfrm xmlns:a="http://schemas.openxmlformats.org/drawingml/2006/main">
            <a:off x="1464469" y="121444"/>
            <a:ext cx="5929313" cy="3857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4300" tIns="0" rIns="14300" bIns="0" anchor="ctr">
            <a:noAutofit/>
          </a:bodyPr>
          <a:lstStyle xmlns:a="http://schemas.openxmlformats.org/drawingml/2006/main"/>
          <a:p xmlns:a="http://schemas.openxmlformats.org/drawingml/2006/main">
            <a:pPr marL="0" marR="0" lvl="0" indent="0" algn="ctr">
              <a:lnSpc>
                <a:spcPct val="102000"/>
              </a:lnSpc>
              <a:spcBef>
                <a:spcPts val="0"/>
              </a:spcBef>
              <a:spcAft>
                <a:spcPts val="0"/>
              </a:spcAft>
              <a:buClr>
                <a:srgbClr val="050505"/>
              </a:buClr>
              <a:buSzPts val="2200"/>
              <a:buFont typeface="Arial Narrow"/>
              <a:buNone/>
            </a:pPr>
            <a:r>
              <a:rPr sz="2200" b="1" i="0">
                <a:solidFill>
                  <a:srgbClr val="050505"/>
                </a:solidFill>
                <a:latin typeface="Arial Narrow"/>
                <a:ea typeface="Arial Narrow"/>
                <a:cs typeface="Arial Narrow"/>
              </a:rPr>
              <a:t>RESEARCH AND REFERENCES</a:t>
            </a:r>
            <a:endParaRPr sz="1100"/>
          </a:p>
        </p:txBody>
      </p:sp>
      <p:sp>
        <p:nvSpPr>
          <p:cNvPr id="263" name="Google Shape;263;p20">
            <a:extLst xmlns:a="http://schemas.openxmlformats.org/drawingml/2006/main">
              <a:ext uri="{FF2B5EF4-FFF2-40B4-BE49-F238E27FC236}">
                <a16:creationId xmlns:a16="http://schemas.microsoft.com/office/drawing/2014/main" id="{783D222C-D696-41B7-A318-D0B737D7A67A}"/>
              </a:ext>
            </a:extLst>
          </p:cNvPr>
          <p:cNvSpPr>
            <a:spLocks xmlns:a="http://schemas.openxmlformats.org/drawingml/2006/main" noGrp="1"/>
          </p:cNvSpPr>
          <p:nvPr/>
        </p:nvSpPr>
        <p:spPr>
          <a:xfrm xmlns:a="http://schemas.openxmlformats.org/drawingml/2006/main">
            <a:off x="0" y="4764881"/>
            <a:ext cx="9144000" cy="378619"/>
          </a:xfrm>
          <a:prstGeom xmlns:a="http://schemas.openxmlformats.org/drawingml/2006/main" prst="rect">
            <a:avLst/>
          </a:prstGeom>
          <a:solidFill xmlns:a="http://schemas.openxmlformats.org/drawingml/2006/main">
            <a:srgbClr val="087ABD"/>
          </a:solidFill>
          <a:ln xmlns:a="http://schemas.openxmlformats.org/drawingml/2006/main" w="9525" cmpd="sng">
            <a:solidFill>
              <a:srgbClr val="087ABD"/>
            </a:solidFill>
            <a:prstDash val="solid"/>
            <a:headEnd type="none" w="sm" len="sm"/>
            <a:tailEnd type="none" w="sm" len="sm"/>
          </a:ln>
        </p:spPr>
        <p:txBody>
          <a:bodyPr xmlns:a="http://schemas.openxmlformats.org/drawingml/2006/main" spcFirstLastPara="1" wrap="square" lIns="68575" tIns="34275" rIns="68575" bIns="34275" anchor="t">
            <a:noAutofit/>
          </a:bodyPr>
          <a:lstStyle xmlns:a="http://schemas.openxmlformats.org/drawingml/2006/main"/>
          <a:p xmlns:a="http://schemas.openxmlformats.org/drawingml/2006/main">
            <a:pPr marL="0" marR="0" lvl="0" indent="0" algn="l">
              <a:spcBef>
                <a:spcPts val="0"/>
              </a:spcBef>
              <a:spcAft>
                <a:spcPts val="0"/>
              </a:spcAft>
              <a:buNone/>
            </a:pPr>
            <a:endParaRPr sz="1400">
              <a:solidFill>
                <a:schemeClr val="dk1"/>
              </a:solidFill>
              <a:latin typeface="Calibri"/>
              <a:ea typeface="Calibri"/>
              <a:cs typeface="Calibri"/>
            </a:endParaRPr>
          </a:p>
        </p:txBody>
      </p:sp>
      <p:sp>
        <p:nvSpPr>
          <p:cNvPr id="264" name="Google Shape;264;p20">
            <a:extLst xmlns:a="http://schemas.openxmlformats.org/drawingml/2006/main">
              <a:ext uri="{FF2B5EF4-FFF2-40B4-BE49-F238E27FC236}">
                <a16:creationId xmlns:a16="http://schemas.microsoft.com/office/drawing/2014/main" id="{8763C1CE-DEFE-464E-85B5-7075277C9712}"/>
              </a:ext>
            </a:extLst>
          </p:cNvPr>
          <p:cNvSpPr>
            <a:spLocks xmlns:a="http://schemas.openxmlformats.org/drawingml/2006/main" noGrp="1"/>
          </p:cNvSpPr>
          <p:nvPr/>
        </p:nvSpPr>
        <p:spPr>
          <a:xfrm xmlns:a="http://schemas.openxmlformats.org/drawingml/2006/main">
            <a:off x="3157538" y="4786313"/>
            <a:ext cx="2828925" cy="3143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2000"/>
              </a:lnSpc>
              <a:spcBef>
                <a:spcPts val="0"/>
              </a:spcBef>
              <a:spcAft>
                <a:spcPts val="0"/>
              </a:spcAft>
              <a:buClr>
                <a:srgbClr val="FFFFFF"/>
              </a:buClr>
              <a:buSzPts val="1700"/>
              <a:buFont typeface="Arial Narrow"/>
              <a:buNone/>
            </a:pPr>
            <a:r>
              <a:rPr sz="1700" b="1" i="0">
                <a:solidFill>
                  <a:srgbClr val="FFFFFF"/>
                </a:solidFill>
                <a:latin typeface="Arial Narrow"/>
                <a:ea typeface="Arial Narrow"/>
                <a:cs typeface="Arial Narrow"/>
              </a:rPr>
              <a:t>@chr0m1um</a:t>
            </a:r>
            <a:endParaRPr sz="1100"/>
          </a:p>
        </p:txBody>
      </p:sp>
      <p:sp>
        <p:nvSpPr>
          <p:cNvPr id="265" name="Google Shape;265;p20">
            <a:extLst xmlns:a="http://schemas.openxmlformats.org/drawingml/2006/main">
              <a:ext uri="{FF2B5EF4-FFF2-40B4-BE49-F238E27FC236}">
                <a16:creationId xmlns:a16="http://schemas.microsoft.com/office/drawing/2014/main" id="{82BBF6A7-5299-4190-BEDC-E825EEC05F64}"/>
              </a:ext>
            </a:extLst>
          </p:cNvPr>
          <p:cNvSpPr>
            <a:spLocks xmlns:a="http://schemas.openxmlformats.org/drawingml/2006/main" noGrp="1"/>
          </p:cNvSpPr>
          <p:nvPr/>
        </p:nvSpPr>
        <p:spPr>
          <a:xfrm xmlns:a="http://schemas.openxmlformats.org/drawingml/2006/main">
            <a:off x="8708231" y="4779169"/>
            <a:ext cx="300038" cy="32146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2000"/>
              </a:lnSpc>
              <a:spcBef>
                <a:spcPts val="0"/>
              </a:spcBef>
              <a:spcAft>
                <a:spcPts val="0"/>
              </a:spcAft>
              <a:buClr>
                <a:srgbClr val="FFFFFF"/>
              </a:buClr>
              <a:buSzPts val="1500"/>
              <a:buFont typeface="Arial Narrow"/>
              <a:buNone/>
            </a:pPr>
            <a:r>
              <a:rPr sz="1500" b="1" i="0">
                <a:solidFill>
                  <a:srgbClr val="FFFFFF"/>
                </a:solidFill>
                <a:latin typeface="Arial Narrow"/>
                <a:ea typeface="Arial Narrow"/>
                <a:cs typeface="Arial Narrow"/>
              </a:rPr>
              <a:t>6</a:t>
            </a:r>
            <a:endParaRPr sz="1100"/>
          </a:p>
        </p:txBody>
      </p:sp>
      <p:sp>
        <p:nvSpPr>
          <p:cNvPr id="266" name="Google Shape;266;p20">
            <a:extLst xmlns:a="http://schemas.openxmlformats.org/drawingml/2006/main">
              <a:ext uri="{FF2B5EF4-FFF2-40B4-BE49-F238E27FC236}">
                <a16:creationId xmlns:a16="http://schemas.microsoft.com/office/drawing/2014/main" id="{E5E10A18-7D76-4BEA-8B22-479C7836E9FF}"/>
              </a:ext>
            </a:extLst>
          </p:cNvPr>
          <p:cNvSpPr>
            <a:spLocks xmlns:a="http://schemas.openxmlformats.org/drawingml/2006/main" noGrp="1"/>
          </p:cNvSpPr>
          <p:nvPr/>
        </p:nvSpPr>
        <p:spPr>
          <a:xfrm xmlns:a="http://schemas.openxmlformats.org/drawingml/2006/main">
            <a:off x="271463" y="707231"/>
            <a:ext cx="8601075" cy="3236119"/>
          </a:xfrm>
          <a:prstGeom xmlns:a="http://schemas.openxmlformats.org/drawingml/2006/main" prst="roundRect">
            <a:avLst>
              <a:gd name="adj" fmla="val 9333"/>
            </a:avLst>
          </a:prstGeom>
          <a:solidFill xmlns:a="http://schemas.openxmlformats.org/drawingml/2006/main">
            <a:srgbClr val="EAF5FB"/>
          </a:solidFill>
          <a:ln xmlns:a="http://schemas.openxmlformats.org/drawingml/2006/main" w="11425" cmpd="sng">
            <a:solidFill>
              <a:srgbClr val="A8CFE5"/>
            </a:solidFill>
            <a:prstDash val="solid"/>
            <a:headEnd type="none" w="sm" len="sm"/>
            <a:tailEnd type="none" w="sm" len="sm"/>
          </a:ln>
        </p:spPr>
        <p:txBody>
          <a:bodyPr xmlns:a="http://schemas.openxmlformats.org/drawingml/2006/main" spcFirstLastPara="1" wrap="square" lIns="68575" tIns="34275" rIns="68575" bIns="34275" anchor="t">
            <a:noAutofit/>
          </a:bodyPr>
          <a:lstStyle xmlns:a="http://schemas.openxmlformats.org/drawingml/2006/main"/>
          <a:p xmlns:a="http://schemas.openxmlformats.org/drawingml/2006/main">
            <a:pPr marL="0" marR="0" lvl="0" indent="0" algn="l">
              <a:spcBef>
                <a:spcPts val="0"/>
              </a:spcBef>
              <a:spcAft>
                <a:spcPts val="0"/>
              </a:spcAft>
              <a:buNone/>
            </a:pPr>
            <a:endParaRPr sz="1400">
              <a:solidFill>
                <a:schemeClr val="dk1"/>
              </a:solidFill>
              <a:latin typeface="Calibri"/>
              <a:ea typeface="Calibri"/>
              <a:cs typeface="Calibri"/>
            </a:endParaRPr>
          </a:p>
        </p:txBody>
      </p:sp>
      <p:sp>
        <p:nvSpPr>
          <p:cNvPr id="294" name="Perception and browser research heading">
            <a:extLst xmlns:a="http://schemas.openxmlformats.org/drawingml/2006/main">
              <a:ext uri="{FF2B5EF4-FFF2-40B4-BE49-F238E27FC236}">
                <a16:creationId xmlns:a16="http://schemas.microsoft.com/office/drawing/2014/main" id="{A8E8360D-3CB5-4355-8A81-E03132F26B18}"/>
              </a:ext>
            </a:extLst>
          </p:cNvPr>
          <p:cNvSpPr>
            <a:spLocks xmlns:a="http://schemas.openxmlformats.org/drawingml/2006/main" noGrp="1"/>
          </p:cNvSpPr>
          <p:nvPr/>
        </p:nvSpPr>
        <p:spPr>
          <a:xfrm xmlns:a="http://schemas.openxmlformats.org/drawingml/2006/main">
            <a:off x="400050" y="790575"/>
            <a:ext cx="40576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900" b="1" i="0">
                <a:solidFill>
                  <a:srgbClr val="123B5D"/>
                </a:solidFill>
                <a:latin typeface="Arial Narrow"/>
                <a:ea typeface="Arial Narrow"/>
                <a:cs typeface="Arial Narrow"/>
              </a:defRPr>
            </a:pPr>
            <a:r>
              <a:rPr sz="900" b="1" i="0">
                <a:solidFill>
                  <a:srgbClr val="123B5D"/>
                </a:solidFill>
                <a:latin typeface="Arial Narrow"/>
                <a:ea typeface="Arial Narrow"/>
                <a:cs typeface="Arial Narrow"/>
              </a:rPr>
              <a:t>PERCEPTION &amp; BROWSER AGENTS</a:t>
            </a:r>
          </a:p>
        </p:txBody>
      </p:sp>
      <p:sp>
        <p:nvSpPr>
          <p:cNvPr id="295" name="Security research heading">
            <a:extLst xmlns:a="http://schemas.openxmlformats.org/drawingml/2006/main">
              <a:ext uri="{FF2B5EF4-FFF2-40B4-BE49-F238E27FC236}">
                <a16:creationId xmlns:a16="http://schemas.microsoft.com/office/drawing/2014/main" id="{8F250208-38C0-412F-B85F-865058BACCBD}"/>
              </a:ext>
            </a:extLst>
          </p:cNvPr>
          <p:cNvSpPr>
            <a:spLocks xmlns:a="http://schemas.openxmlformats.org/drawingml/2006/main" noGrp="1"/>
          </p:cNvSpPr>
          <p:nvPr/>
        </p:nvSpPr>
        <p:spPr>
          <a:xfrm xmlns:a="http://schemas.openxmlformats.org/drawingml/2006/main">
            <a:off x="4686300" y="790575"/>
            <a:ext cx="40576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900" b="1" i="0">
                <a:solidFill>
                  <a:srgbClr val="123B5D"/>
                </a:solidFill>
                <a:latin typeface="Arial Narrow"/>
                <a:ea typeface="Arial Narrow"/>
                <a:cs typeface="Arial Narrow"/>
              </a:defRPr>
            </a:pPr>
            <a:r>
              <a:rPr sz="900" b="1" i="0">
                <a:solidFill>
                  <a:srgbClr val="123B5D"/>
                </a:solidFill>
                <a:latin typeface="Arial Narrow"/>
                <a:ea typeface="Arial Narrow"/>
                <a:cs typeface="Arial Narrow"/>
              </a:rPr>
              <a:t>PROMPT INJECTION, AUTHORIZATION &amp; AUDIT</a:t>
            </a:r>
          </a:p>
        </p:txBody>
      </p:sp>
      <p:sp>
        <p:nvSpPr>
          <p:cNvPr id="296" name="Research 1 metadata">
            <a:extLst xmlns:a="http://schemas.openxmlformats.org/drawingml/2006/main">
              <a:ext uri="{FF2B5EF4-FFF2-40B4-BE49-F238E27FC236}">
                <a16:creationId xmlns:a16="http://schemas.microsoft.com/office/drawing/2014/main" id="{F1115D4D-7B68-459C-9502-982CDF028FC6}"/>
              </a:ext>
            </a:extLst>
          </p:cNvPr>
          <p:cNvSpPr>
            <a:spLocks xmlns:a="http://schemas.openxmlformats.org/drawingml/2006/main" noGrp="1"/>
          </p:cNvSpPr>
          <p:nvPr/>
        </p:nvSpPr>
        <p:spPr>
          <a:xfrm xmlns:a="http://schemas.openxmlformats.org/drawingml/2006/main">
            <a:off x="400050" y="1000125"/>
            <a:ext cx="405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800" b="0" i="0">
                <a:solidFill>
                  <a:srgbClr val="64748B"/>
                </a:solidFill>
                <a:latin typeface="Arial"/>
                <a:ea typeface="Arial"/>
                <a:cs typeface="Arial"/>
              </a:defRPr>
            </a:pPr>
            <a:r>
              <a:rPr sz="800" b="0" i="0">
                <a:solidFill>
                  <a:srgbClr val="64748B"/>
                </a:solidFill>
                <a:latin typeface="Arial"/>
                <a:ea typeface="Arial"/>
                <a:cs typeface="Arial"/>
              </a:rPr>
              <a:t>[1] Ge et al., 2021. Technical report (arXiv)</a:t>
            </a:r>
          </a:p>
        </p:txBody>
      </p:sp>
      <p:sp>
        <p:nvSpPr>
          <p:cNvPr id="297" name="Research 1 title">
            <a:extLst xmlns:a="http://schemas.openxmlformats.org/drawingml/2006/main">
              <a:ext uri="{FF2B5EF4-FFF2-40B4-BE49-F238E27FC236}">
                <a16:creationId xmlns:a16="http://schemas.microsoft.com/office/drawing/2014/main" id="{D841D1D6-A051-4318-8443-16BF20DED5F9}"/>
              </a:ext>
            </a:extLst>
          </p:cNvPr>
          <p:cNvSpPr>
            <a:spLocks xmlns:a="http://schemas.openxmlformats.org/drawingml/2006/main" noGrp="1"/>
          </p:cNvSpPr>
          <p:nvPr/>
        </p:nvSpPr>
        <p:spPr>
          <a:xfrm xmlns:a="http://schemas.openxmlformats.org/drawingml/2006/main">
            <a:off x="400050" y="1143000"/>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900" b="1" i="0">
                <a:solidFill>
                  <a:srgbClr val="087ABD"/>
                </a:solidFill>
                <a:latin typeface="Arial"/>
                <a:ea typeface="Arial"/>
                <a:cs typeface="Arial"/>
              </a:defRPr>
            </a:pPr>
            <a:r>
              <a:rPr sz="900" b="1" i="0">
                <a:solidFill>
                  <a:srgbClr val="087ABD"/>
                </a:solidFill>
                <a:latin typeface="Arial"/>
                <a:ea typeface="Arial"/>
                <a:cs typeface="Arial"/>
                <a:hlinkClick xmlns:r="http://schemas.openxmlformats.org/officeDocument/2006/relationships" r:id="R55381e7e01d242c3"/>
              </a:rPr>
              <a:t>YOLOX: Exceeding YOLO Series in 2021</a:t>
            </a:r>
          </a:p>
        </p:txBody>
      </p:sp>
      <p:sp>
        <p:nvSpPr>
          <p:cNvPr id="298" name="Research 1 relevance">
            <a:extLst xmlns:a="http://schemas.openxmlformats.org/drawingml/2006/main">
              <a:ext uri="{FF2B5EF4-FFF2-40B4-BE49-F238E27FC236}">
                <a16:creationId xmlns:a16="http://schemas.microsoft.com/office/drawing/2014/main" id="{FDCBD054-968D-4A2C-9AFE-B4AB228611CE}"/>
              </a:ext>
            </a:extLst>
          </p:cNvPr>
          <p:cNvSpPr>
            <a:spLocks xmlns:a="http://schemas.openxmlformats.org/drawingml/2006/main" noGrp="1"/>
          </p:cNvSpPr>
          <p:nvPr/>
        </p:nvSpPr>
        <p:spPr>
          <a:xfrm xmlns:a="http://schemas.openxmlformats.org/drawingml/2006/main">
            <a:off x="400050" y="1447800"/>
            <a:ext cx="4057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800" b="0" i="0">
                <a:solidFill>
                  <a:srgbClr val="334155"/>
                </a:solidFill>
                <a:latin typeface="Arial"/>
                <a:ea typeface="Arial"/>
                <a:cs typeface="Arial"/>
              </a:defRPr>
            </a:pPr>
            <a:r>
              <a:rPr sz="800" b="0" i="0">
                <a:solidFill>
                  <a:srgbClr val="334155"/>
                </a:solidFill>
                <a:latin typeface="Arial"/>
                <a:ea typeface="Arial"/>
                <a:cs typeface="Arial"/>
              </a:rPr>
              <a:t>Detector design. The face checkpoint needs separate validation.</a:t>
            </a:r>
          </a:p>
        </p:txBody>
      </p:sp>
      <p:sp>
        <p:nvSpPr>
          <p:cNvPr id="299" name="Research 2 metadata">
            <a:extLst xmlns:a="http://schemas.openxmlformats.org/drawingml/2006/main">
              <a:ext uri="{FF2B5EF4-FFF2-40B4-BE49-F238E27FC236}">
                <a16:creationId xmlns:a16="http://schemas.microsoft.com/office/drawing/2014/main" id="{C80B882E-0B62-4045-AF33-DCD3747F0FD8}"/>
              </a:ext>
            </a:extLst>
          </p:cNvPr>
          <p:cNvSpPr>
            <a:spLocks xmlns:a="http://schemas.openxmlformats.org/drawingml/2006/main" noGrp="1"/>
          </p:cNvSpPr>
          <p:nvPr/>
        </p:nvSpPr>
        <p:spPr>
          <a:xfrm xmlns:a="http://schemas.openxmlformats.org/drawingml/2006/main">
            <a:off x="400050" y="1704975"/>
            <a:ext cx="405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800" b="0" i="0">
                <a:solidFill>
                  <a:srgbClr val="64748B"/>
                </a:solidFill>
                <a:latin typeface="Arial"/>
                <a:ea typeface="Arial"/>
                <a:cs typeface="Arial"/>
              </a:defRPr>
            </a:pPr>
            <a:r>
              <a:rPr sz="800" b="0" i="0">
                <a:solidFill>
                  <a:srgbClr val="64748B"/>
                </a:solidFill>
                <a:latin typeface="Arial"/>
                <a:ea typeface="Arial"/>
                <a:cs typeface="Arial"/>
              </a:rPr>
              <a:t>[2] Du et al., 2020. Technical report (arXiv)</a:t>
            </a:r>
          </a:p>
        </p:txBody>
      </p:sp>
      <p:sp>
        <p:nvSpPr>
          <p:cNvPr id="300" name="Research 2 title">
            <a:extLst xmlns:a="http://schemas.openxmlformats.org/drawingml/2006/main">
              <a:ext uri="{FF2B5EF4-FFF2-40B4-BE49-F238E27FC236}">
                <a16:creationId xmlns:a16="http://schemas.microsoft.com/office/drawing/2014/main" id="{9C4411E5-27F9-4207-9A7C-91B4512DABBC}"/>
              </a:ext>
            </a:extLst>
          </p:cNvPr>
          <p:cNvSpPr>
            <a:spLocks xmlns:a="http://schemas.openxmlformats.org/drawingml/2006/main" noGrp="1"/>
          </p:cNvSpPr>
          <p:nvPr/>
        </p:nvSpPr>
        <p:spPr>
          <a:xfrm xmlns:a="http://schemas.openxmlformats.org/drawingml/2006/main">
            <a:off x="400050" y="1847850"/>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900" b="1" i="0">
                <a:solidFill>
                  <a:srgbClr val="087ABD"/>
                </a:solidFill>
                <a:latin typeface="Arial"/>
                <a:ea typeface="Arial"/>
                <a:cs typeface="Arial"/>
              </a:defRPr>
            </a:pPr>
            <a:r>
              <a:rPr sz="900" b="1" i="0">
                <a:solidFill>
                  <a:srgbClr val="087ABD"/>
                </a:solidFill>
                <a:latin typeface="Arial"/>
                <a:ea typeface="Arial"/>
                <a:cs typeface="Arial"/>
                <a:hlinkClick xmlns:r="http://schemas.openxmlformats.org/officeDocument/2006/relationships" r:id="R563c9bd37f0e4915"/>
              </a:rPr>
              <a:t>PP-OCR: A Practical Ultra Lightweight OCR System</a:t>
            </a:r>
          </a:p>
        </p:txBody>
      </p:sp>
      <p:sp>
        <p:nvSpPr>
          <p:cNvPr id="301" name="Research 2 relevance">
            <a:extLst xmlns:a="http://schemas.openxmlformats.org/drawingml/2006/main">
              <a:ext uri="{FF2B5EF4-FFF2-40B4-BE49-F238E27FC236}">
                <a16:creationId xmlns:a16="http://schemas.microsoft.com/office/drawing/2014/main" id="{321A7530-8855-475A-AFA5-C35C43D0AADA}"/>
              </a:ext>
            </a:extLst>
          </p:cNvPr>
          <p:cNvSpPr>
            <a:spLocks xmlns:a="http://schemas.openxmlformats.org/drawingml/2006/main" noGrp="1"/>
          </p:cNvSpPr>
          <p:nvPr/>
        </p:nvSpPr>
        <p:spPr>
          <a:xfrm xmlns:a="http://schemas.openxmlformats.org/drawingml/2006/main">
            <a:off x="400050" y="2152650"/>
            <a:ext cx="4057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800" b="0" i="0">
                <a:solidFill>
                  <a:srgbClr val="334155"/>
                </a:solidFill>
                <a:latin typeface="Arial"/>
                <a:ea typeface="Arial"/>
                <a:cs typeface="Arial"/>
              </a:defRPr>
            </a:pPr>
            <a:r>
              <a:rPr sz="800" b="0" i="0">
                <a:solidFill>
                  <a:srgbClr val="334155"/>
                </a:solidFill>
                <a:latin typeface="Arial"/>
                <a:ea typeface="Arial"/>
                <a:cs typeface="Arial"/>
              </a:rPr>
              <a:t>Lightweight OCR family. Deployed v6 files are cited in notes.</a:t>
            </a:r>
          </a:p>
        </p:txBody>
      </p:sp>
      <p:sp>
        <p:nvSpPr>
          <p:cNvPr id="302" name="Research 3 metadata">
            <a:extLst xmlns:a="http://schemas.openxmlformats.org/drawingml/2006/main">
              <a:ext uri="{FF2B5EF4-FFF2-40B4-BE49-F238E27FC236}">
                <a16:creationId xmlns:a16="http://schemas.microsoft.com/office/drawing/2014/main" id="{0C7FB1A5-D0B2-4B60-BC2D-8E1B30D4C94D}"/>
              </a:ext>
            </a:extLst>
          </p:cNvPr>
          <p:cNvSpPr>
            <a:spLocks xmlns:a="http://schemas.openxmlformats.org/drawingml/2006/main" noGrp="1"/>
          </p:cNvSpPr>
          <p:nvPr/>
        </p:nvSpPr>
        <p:spPr>
          <a:xfrm xmlns:a="http://schemas.openxmlformats.org/drawingml/2006/main">
            <a:off x="400050" y="2409825"/>
            <a:ext cx="405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800" b="0" i="0">
                <a:solidFill>
                  <a:srgbClr val="64748B"/>
                </a:solidFill>
                <a:latin typeface="Arial"/>
                <a:ea typeface="Arial"/>
                <a:cs typeface="Arial"/>
              </a:defRPr>
            </a:pPr>
            <a:r>
              <a:rPr sz="800" b="0" i="0">
                <a:solidFill>
                  <a:srgbClr val="64748B"/>
                </a:solidFill>
                <a:latin typeface="Arial"/>
                <a:ea typeface="Arial"/>
                <a:cs typeface="Arial"/>
              </a:rPr>
              <a:t>[3] Bai et al., 2025. Technical report (arXiv)</a:t>
            </a:r>
          </a:p>
        </p:txBody>
      </p:sp>
      <p:sp>
        <p:nvSpPr>
          <p:cNvPr id="303" name="Research 3 title">
            <a:extLst xmlns:a="http://schemas.openxmlformats.org/drawingml/2006/main">
              <a:ext uri="{FF2B5EF4-FFF2-40B4-BE49-F238E27FC236}">
                <a16:creationId xmlns:a16="http://schemas.microsoft.com/office/drawing/2014/main" id="{489D5129-E8C7-443B-82F9-1B3AC5D41183}"/>
              </a:ext>
            </a:extLst>
          </p:cNvPr>
          <p:cNvSpPr>
            <a:spLocks xmlns:a="http://schemas.openxmlformats.org/drawingml/2006/main" noGrp="1"/>
          </p:cNvSpPr>
          <p:nvPr/>
        </p:nvSpPr>
        <p:spPr>
          <a:xfrm xmlns:a="http://schemas.openxmlformats.org/drawingml/2006/main">
            <a:off x="400050" y="2552700"/>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900" b="1" i="0">
                <a:solidFill>
                  <a:srgbClr val="087ABD"/>
                </a:solidFill>
                <a:latin typeface="Arial"/>
                <a:ea typeface="Arial"/>
                <a:cs typeface="Arial"/>
              </a:defRPr>
            </a:pPr>
            <a:r>
              <a:rPr sz="900" b="1" i="0">
                <a:solidFill>
                  <a:srgbClr val="087ABD"/>
                </a:solidFill>
                <a:latin typeface="Arial"/>
                <a:ea typeface="Arial"/>
                <a:cs typeface="Arial"/>
                <a:hlinkClick xmlns:r="http://schemas.openxmlformats.org/officeDocument/2006/relationships" r:id="R535aef2f0df04b47"/>
              </a:rPr>
              <a:t>Qwen3-VL Technical Report</a:t>
            </a:r>
          </a:p>
        </p:txBody>
      </p:sp>
      <p:sp>
        <p:nvSpPr>
          <p:cNvPr id="304" name="Research 3 relevance">
            <a:extLst xmlns:a="http://schemas.openxmlformats.org/drawingml/2006/main">
              <a:ext uri="{FF2B5EF4-FFF2-40B4-BE49-F238E27FC236}">
                <a16:creationId xmlns:a16="http://schemas.microsoft.com/office/drawing/2014/main" id="{7118B60D-5DD5-4B1F-8568-BE4E92F2851F}"/>
              </a:ext>
            </a:extLst>
          </p:cNvPr>
          <p:cNvSpPr>
            <a:spLocks xmlns:a="http://schemas.openxmlformats.org/drawingml/2006/main" noGrp="1"/>
          </p:cNvSpPr>
          <p:nvPr/>
        </p:nvSpPr>
        <p:spPr>
          <a:xfrm xmlns:a="http://schemas.openxmlformats.org/drawingml/2006/main">
            <a:off x="400050" y="2857500"/>
            <a:ext cx="4057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800" b="0" i="0">
                <a:solidFill>
                  <a:srgbClr val="334155"/>
                </a:solidFill>
                <a:latin typeface="Arial"/>
                <a:ea typeface="Arial"/>
                <a:cs typeface="Arial"/>
              </a:defRPr>
            </a:pPr>
            <a:r>
              <a:rPr sz="800" b="0" i="0">
                <a:solidFill>
                  <a:srgbClr val="334155"/>
                </a:solidFill>
                <a:latin typeface="Arial"/>
                <a:ea typeface="Arial"/>
                <a:cs typeface="Arial"/>
              </a:rPr>
              <a:t>Multimodal reasoning background. No privacy guarantee.</a:t>
            </a:r>
          </a:p>
        </p:txBody>
      </p:sp>
      <p:sp>
        <p:nvSpPr>
          <p:cNvPr id="305" name="Research 4 metadata">
            <a:extLst xmlns:a="http://schemas.openxmlformats.org/drawingml/2006/main">
              <a:ext uri="{FF2B5EF4-FFF2-40B4-BE49-F238E27FC236}">
                <a16:creationId xmlns:a16="http://schemas.microsoft.com/office/drawing/2014/main" id="{61E24227-D970-40BB-B3A8-BBB1146DB90C}"/>
              </a:ext>
            </a:extLst>
          </p:cNvPr>
          <p:cNvSpPr>
            <a:spLocks xmlns:a="http://schemas.openxmlformats.org/drawingml/2006/main" noGrp="1"/>
          </p:cNvSpPr>
          <p:nvPr/>
        </p:nvSpPr>
        <p:spPr>
          <a:xfrm xmlns:a="http://schemas.openxmlformats.org/drawingml/2006/main">
            <a:off x="400050" y="3114675"/>
            <a:ext cx="405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800" b="0" i="0">
                <a:solidFill>
                  <a:srgbClr val="64748B"/>
                </a:solidFill>
                <a:latin typeface="Arial"/>
                <a:ea typeface="Arial"/>
                <a:cs typeface="Arial"/>
              </a:defRPr>
            </a:pPr>
            <a:r>
              <a:rPr sz="800" b="0" i="0">
                <a:solidFill>
                  <a:srgbClr val="64748B"/>
                </a:solidFill>
                <a:latin typeface="Arial"/>
                <a:ea typeface="Arial"/>
                <a:cs typeface="Arial"/>
              </a:rPr>
              <a:t>[4] Koh et al., 2024. ACL</a:t>
            </a:r>
          </a:p>
        </p:txBody>
      </p:sp>
      <p:sp>
        <p:nvSpPr>
          <p:cNvPr id="306" name="Research 4 title">
            <a:extLst xmlns:a="http://schemas.openxmlformats.org/drawingml/2006/main">
              <a:ext uri="{FF2B5EF4-FFF2-40B4-BE49-F238E27FC236}">
                <a16:creationId xmlns:a16="http://schemas.microsoft.com/office/drawing/2014/main" id="{5CFC6510-A0DA-4567-83BE-B7C232FC2AC6}"/>
              </a:ext>
            </a:extLst>
          </p:cNvPr>
          <p:cNvSpPr>
            <a:spLocks xmlns:a="http://schemas.openxmlformats.org/drawingml/2006/main" noGrp="1"/>
          </p:cNvSpPr>
          <p:nvPr/>
        </p:nvSpPr>
        <p:spPr>
          <a:xfrm xmlns:a="http://schemas.openxmlformats.org/drawingml/2006/main">
            <a:off x="400050" y="3257550"/>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900" b="1" i="0">
                <a:solidFill>
                  <a:srgbClr val="087ABD"/>
                </a:solidFill>
                <a:latin typeface="Arial"/>
                <a:ea typeface="Arial"/>
                <a:cs typeface="Arial"/>
              </a:defRPr>
            </a:pPr>
            <a:r>
              <a:rPr sz="900" b="1" i="0">
                <a:solidFill>
                  <a:srgbClr val="087ABD"/>
                </a:solidFill>
                <a:latin typeface="Arial"/>
                <a:ea typeface="Arial"/>
                <a:cs typeface="Arial"/>
                <a:hlinkClick xmlns:r="http://schemas.openxmlformats.org/officeDocument/2006/relationships" r:id="Rc6191ee8cdff4841"/>
              </a:rPr>
              <a:t>VisualWebArena: Evaluating Multimodal Agents on Realistic Visual Web Tasks</a:t>
            </a:r>
          </a:p>
        </p:txBody>
      </p:sp>
      <p:sp>
        <p:nvSpPr>
          <p:cNvPr id="307" name="Research 4 relevance">
            <a:extLst xmlns:a="http://schemas.openxmlformats.org/drawingml/2006/main">
              <a:ext uri="{FF2B5EF4-FFF2-40B4-BE49-F238E27FC236}">
                <a16:creationId xmlns:a16="http://schemas.microsoft.com/office/drawing/2014/main" id="{27E3FEC6-E73A-4730-B19F-32301A773B65}"/>
              </a:ext>
            </a:extLst>
          </p:cNvPr>
          <p:cNvSpPr>
            <a:spLocks xmlns:a="http://schemas.openxmlformats.org/drawingml/2006/main" noGrp="1"/>
          </p:cNvSpPr>
          <p:nvPr/>
        </p:nvSpPr>
        <p:spPr>
          <a:xfrm xmlns:a="http://schemas.openxmlformats.org/drawingml/2006/main">
            <a:off x="400050" y="3562350"/>
            <a:ext cx="4057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800" b="0" i="0">
                <a:solidFill>
                  <a:srgbClr val="334155"/>
                </a:solidFill>
                <a:latin typeface="Arial"/>
                <a:ea typeface="Arial"/>
                <a:cs typeface="Arial"/>
              </a:defRPr>
            </a:pPr>
            <a:r>
              <a:rPr sz="800" b="0" i="0">
                <a:solidFill>
                  <a:srgbClr val="334155"/>
                </a:solidFill>
                <a:latin typeface="Arial"/>
                <a:ea typeface="Arial"/>
                <a:cs typeface="Arial"/>
              </a:rPr>
              <a:t>Evaluation of web tasks that need visual information.</a:t>
            </a:r>
          </a:p>
        </p:txBody>
      </p:sp>
      <p:sp>
        <p:nvSpPr>
          <p:cNvPr id="308" name="Research 5 metadata">
            <a:extLst xmlns:a="http://schemas.openxmlformats.org/drawingml/2006/main">
              <a:ext uri="{FF2B5EF4-FFF2-40B4-BE49-F238E27FC236}">
                <a16:creationId xmlns:a16="http://schemas.microsoft.com/office/drawing/2014/main" id="{91BA188D-1027-4497-B462-1A7CF100CCF8}"/>
              </a:ext>
            </a:extLst>
          </p:cNvPr>
          <p:cNvSpPr>
            <a:spLocks xmlns:a="http://schemas.openxmlformats.org/drawingml/2006/main" noGrp="1"/>
          </p:cNvSpPr>
          <p:nvPr/>
        </p:nvSpPr>
        <p:spPr>
          <a:xfrm xmlns:a="http://schemas.openxmlformats.org/drawingml/2006/main">
            <a:off x="4686300" y="1000125"/>
            <a:ext cx="405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800" b="0" i="0">
                <a:solidFill>
                  <a:srgbClr val="64748B"/>
                </a:solidFill>
                <a:latin typeface="Arial"/>
                <a:ea typeface="Arial"/>
                <a:cs typeface="Arial"/>
              </a:defRPr>
            </a:pPr>
            <a:r>
              <a:rPr sz="800" b="0" i="0">
                <a:solidFill>
                  <a:srgbClr val="64748B"/>
                </a:solidFill>
                <a:latin typeface="Arial"/>
                <a:ea typeface="Arial"/>
                <a:cs typeface="Arial"/>
              </a:rPr>
              <a:t>[5] Debenedetti et al., 2024. NeurIPS</a:t>
            </a:r>
          </a:p>
        </p:txBody>
      </p:sp>
      <p:sp>
        <p:nvSpPr>
          <p:cNvPr id="309" name="Research 5 title">
            <a:extLst xmlns:a="http://schemas.openxmlformats.org/drawingml/2006/main">
              <a:ext uri="{FF2B5EF4-FFF2-40B4-BE49-F238E27FC236}">
                <a16:creationId xmlns:a16="http://schemas.microsoft.com/office/drawing/2014/main" id="{E037FF6A-7549-46FD-BF99-AF5AB2A768C0}"/>
              </a:ext>
            </a:extLst>
          </p:cNvPr>
          <p:cNvSpPr>
            <a:spLocks xmlns:a="http://schemas.openxmlformats.org/drawingml/2006/main" noGrp="1"/>
          </p:cNvSpPr>
          <p:nvPr/>
        </p:nvSpPr>
        <p:spPr>
          <a:xfrm xmlns:a="http://schemas.openxmlformats.org/drawingml/2006/main">
            <a:off x="4686300" y="1143000"/>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900" b="1" i="0">
                <a:solidFill>
                  <a:srgbClr val="087ABD"/>
                </a:solidFill>
                <a:latin typeface="Arial"/>
                <a:ea typeface="Arial"/>
                <a:cs typeface="Arial"/>
              </a:defRPr>
            </a:pPr>
            <a:r>
              <a:rPr sz="900" b="1" i="0">
                <a:solidFill>
                  <a:srgbClr val="087ABD"/>
                </a:solidFill>
                <a:latin typeface="Arial"/>
                <a:ea typeface="Arial"/>
                <a:cs typeface="Arial"/>
                <a:hlinkClick xmlns:r="http://schemas.openxmlformats.org/officeDocument/2006/relationships" r:id="Rb8f0a738757b485c"/>
              </a:rPr>
              <a:t>AgentDojo: A Dynamic Environment to Evaluate Prompt Injection Attacks and Defenses for LLM Agents</a:t>
            </a:r>
          </a:p>
        </p:txBody>
      </p:sp>
      <p:sp>
        <p:nvSpPr>
          <p:cNvPr id="310" name="Research 5 relevance">
            <a:extLst xmlns:a="http://schemas.openxmlformats.org/drawingml/2006/main">
              <a:ext uri="{FF2B5EF4-FFF2-40B4-BE49-F238E27FC236}">
                <a16:creationId xmlns:a16="http://schemas.microsoft.com/office/drawing/2014/main" id="{E0B0E787-EB2F-4CF3-870D-8AF8A2E76AC3}"/>
              </a:ext>
            </a:extLst>
          </p:cNvPr>
          <p:cNvSpPr>
            <a:spLocks xmlns:a="http://schemas.openxmlformats.org/drawingml/2006/main" noGrp="1"/>
          </p:cNvSpPr>
          <p:nvPr/>
        </p:nvSpPr>
        <p:spPr>
          <a:xfrm xmlns:a="http://schemas.openxmlformats.org/drawingml/2006/main">
            <a:off x="4686300" y="1447800"/>
            <a:ext cx="4057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800" b="0" i="0">
                <a:solidFill>
                  <a:srgbClr val="334155"/>
                </a:solidFill>
                <a:latin typeface="Arial"/>
                <a:ea typeface="Arial"/>
                <a:cs typeface="Arial"/>
              </a:defRPr>
            </a:pPr>
            <a:r>
              <a:rPr sz="800" b="0" i="0">
                <a:solidFill>
                  <a:srgbClr val="334155"/>
                </a:solidFill>
                <a:latin typeface="Arial"/>
                <a:ea typeface="Arial"/>
                <a:cs typeface="Arial"/>
              </a:rPr>
              <a:t>Evaluate task success alongside resistance to attacks.</a:t>
            </a:r>
          </a:p>
        </p:txBody>
      </p:sp>
      <p:sp>
        <p:nvSpPr>
          <p:cNvPr id="311" name="Research 6 metadata">
            <a:extLst xmlns:a="http://schemas.openxmlformats.org/drawingml/2006/main">
              <a:ext uri="{FF2B5EF4-FFF2-40B4-BE49-F238E27FC236}">
                <a16:creationId xmlns:a16="http://schemas.microsoft.com/office/drawing/2014/main" id="{B9064243-66B6-4989-BC77-730A136C4048}"/>
              </a:ext>
            </a:extLst>
          </p:cNvPr>
          <p:cNvSpPr>
            <a:spLocks xmlns:a="http://schemas.openxmlformats.org/drawingml/2006/main" noGrp="1"/>
          </p:cNvSpPr>
          <p:nvPr/>
        </p:nvSpPr>
        <p:spPr>
          <a:xfrm xmlns:a="http://schemas.openxmlformats.org/drawingml/2006/main">
            <a:off x="4686300" y="1704975"/>
            <a:ext cx="405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800" b="0" i="0">
                <a:solidFill>
                  <a:srgbClr val="64748B"/>
                </a:solidFill>
                <a:latin typeface="Arial"/>
                <a:ea typeface="Arial"/>
                <a:cs typeface="Arial"/>
              </a:defRPr>
            </a:pPr>
            <a:r>
              <a:rPr sz="800" b="0" i="0">
                <a:solidFill>
                  <a:srgbClr val="64748B"/>
                </a:solidFill>
                <a:latin typeface="Arial"/>
                <a:ea typeface="Arial"/>
                <a:cs typeface="Arial"/>
              </a:rPr>
              <a:t>[6] Zhan et al., 2024. Findings of ACL</a:t>
            </a:r>
          </a:p>
        </p:txBody>
      </p:sp>
      <p:sp>
        <p:nvSpPr>
          <p:cNvPr id="312" name="Research 6 title">
            <a:extLst xmlns:a="http://schemas.openxmlformats.org/drawingml/2006/main">
              <a:ext uri="{FF2B5EF4-FFF2-40B4-BE49-F238E27FC236}">
                <a16:creationId xmlns:a16="http://schemas.microsoft.com/office/drawing/2014/main" id="{7A1E882E-E1D8-4204-B476-40B4AC7A80DF}"/>
              </a:ext>
            </a:extLst>
          </p:cNvPr>
          <p:cNvSpPr>
            <a:spLocks xmlns:a="http://schemas.openxmlformats.org/drawingml/2006/main" noGrp="1"/>
          </p:cNvSpPr>
          <p:nvPr/>
        </p:nvSpPr>
        <p:spPr>
          <a:xfrm xmlns:a="http://schemas.openxmlformats.org/drawingml/2006/main">
            <a:off x="4686300" y="1847850"/>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900" b="1" i="0">
                <a:solidFill>
                  <a:srgbClr val="087ABD"/>
                </a:solidFill>
                <a:latin typeface="Arial"/>
                <a:ea typeface="Arial"/>
                <a:cs typeface="Arial"/>
              </a:defRPr>
            </a:pPr>
            <a:r>
              <a:rPr sz="900" b="1" i="0">
                <a:solidFill>
                  <a:srgbClr val="087ABD"/>
                </a:solidFill>
                <a:latin typeface="Arial"/>
                <a:ea typeface="Arial"/>
                <a:cs typeface="Arial"/>
                <a:hlinkClick xmlns:r="http://schemas.openxmlformats.org/officeDocument/2006/relationships" r:id="Re4d4524dfaa6433a"/>
              </a:rPr>
              <a:t>InjecAgent: Benchmarking Indirect Prompt Injections in Tool-Integrated Large Language Model Agents</a:t>
            </a:r>
          </a:p>
        </p:txBody>
      </p:sp>
      <p:sp>
        <p:nvSpPr>
          <p:cNvPr id="313" name="Research 6 relevance">
            <a:extLst xmlns:a="http://schemas.openxmlformats.org/drawingml/2006/main">
              <a:ext uri="{FF2B5EF4-FFF2-40B4-BE49-F238E27FC236}">
                <a16:creationId xmlns:a16="http://schemas.microsoft.com/office/drawing/2014/main" id="{200C70F6-FA1A-4833-ABEC-5975CDC2636D}"/>
              </a:ext>
            </a:extLst>
          </p:cNvPr>
          <p:cNvSpPr>
            <a:spLocks xmlns:a="http://schemas.openxmlformats.org/drawingml/2006/main" noGrp="1"/>
          </p:cNvSpPr>
          <p:nvPr/>
        </p:nvSpPr>
        <p:spPr>
          <a:xfrm xmlns:a="http://schemas.openxmlformats.org/drawingml/2006/main">
            <a:off x="4686300" y="2152650"/>
            <a:ext cx="4057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800" b="0" i="0">
                <a:solidFill>
                  <a:srgbClr val="334155"/>
                </a:solidFill>
                <a:latin typeface="Arial"/>
                <a:ea typeface="Arial"/>
                <a:cs typeface="Arial"/>
              </a:defRPr>
            </a:pPr>
            <a:r>
              <a:rPr sz="800" b="0" i="0">
                <a:solidFill>
                  <a:srgbClr val="334155"/>
                </a:solidFill>
                <a:latin typeface="Arial"/>
                <a:ea typeface="Arial"/>
                <a:cs typeface="Arial"/>
              </a:rPr>
              <a:t>Malicious external content and private-data exfiltration.</a:t>
            </a:r>
          </a:p>
        </p:txBody>
      </p:sp>
      <p:sp>
        <p:nvSpPr>
          <p:cNvPr id="314" name="Research 7 metadata">
            <a:extLst xmlns:a="http://schemas.openxmlformats.org/drawingml/2006/main">
              <a:ext uri="{FF2B5EF4-FFF2-40B4-BE49-F238E27FC236}">
                <a16:creationId xmlns:a16="http://schemas.microsoft.com/office/drawing/2014/main" id="{21A64145-3A98-4F53-B5AB-CCBE32C0EBD6}"/>
              </a:ext>
            </a:extLst>
          </p:cNvPr>
          <p:cNvSpPr>
            <a:spLocks xmlns:a="http://schemas.openxmlformats.org/drawingml/2006/main" noGrp="1"/>
          </p:cNvSpPr>
          <p:nvPr/>
        </p:nvSpPr>
        <p:spPr>
          <a:xfrm xmlns:a="http://schemas.openxmlformats.org/drawingml/2006/main">
            <a:off x="4686300" y="2409825"/>
            <a:ext cx="405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800" b="0" i="0">
                <a:solidFill>
                  <a:srgbClr val="64748B"/>
                </a:solidFill>
                <a:latin typeface="Arial"/>
                <a:ea typeface="Arial"/>
                <a:cs typeface="Arial"/>
              </a:defRPr>
            </a:pPr>
            <a:r>
              <a:rPr sz="800" b="0" i="0">
                <a:solidFill>
                  <a:srgbClr val="64748B"/>
                </a:solidFill>
                <a:latin typeface="Arial"/>
                <a:ea typeface="Arial"/>
                <a:cs typeface="Arial"/>
              </a:rPr>
              <a:t>[7] Saltzer &amp; Schroeder, 1975. Proceedings of the IEEE</a:t>
            </a:r>
          </a:p>
        </p:txBody>
      </p:sp>
      <p:sp>
        <p:nvSpPr>
          <p:cNvPr id="315" name="Research 7 title">
            <a:extLst xmlns:a="http://schemas.openxmlformats.org/drawingml/2006/main">
              <a:ext uri="{FF2B5EF4-FFF2-40B4-BE49-F238E27FC236}">
                <a16:creationId xmlns:a16="http://schemas.microsoft.com/office/drawing/2014/main" id="{91FE5500-3218-4E4A-9751-BA7D933B1D42}"/>
              </a:ext>
            </a:extLst>
          </p:cNvPr>
          <p:cNvSpPr>
            <a:spLocks xmlns:a="http://schemas.openxmlformats.org/drawingml/2006/main" noGrp="1"/>
          </p:cNvSpPr>
          <p:nvPr/>
        </p:nvSpPr>
        <p:spPr>
          <a:xfrm xmlns:a="http://schemas.openxmlformats.org/drawingml/2006/main">
            <a:off x="4686300" y="2552700"/>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900" b="1" i="0">
                <a:solidFill>
                  <a:srgbClr val="087ABD"/>
                </a:solidFill>
                <a:latin typeface="Arial"/>
                <a:ea typeface="Arial"/>
                <a:cs typeface="Arial"/>
              </a:defRPr>
            </a:pPr>
            <a:r>
              <a:rPr sz="900" b="1" i="0">
                <a:solidFill>
                  <a:srgbClr val="087ABD"/>
                </a:solidFill>
                <a:latin typeface="Arial"/>
                <a:ea typeface="Arial"/>
                <a:cs typeface="Arial"/>
                <a:hlinkClick xmlns:r="http://schemas.openxmlformats.org/officeDocument/2006/relationships" r:id="Rd07c8c73e13c449a"/>
              </a:rPr>
              <a:t>The Protection of Information in Computer Systems</a:t>
            </a:r>
          </a:p>
        </p:txBody>
      </p:sp>
      <p:sp>
        <p:nvSpPr>
          <p:cNvPr id="316" name="Research 7 relevance">
            <a:extLst xmlns:a="http://schemas.openxmlformats.org/drawingml/2006/main">
              <a:ext uri="{FF2B5EF4-FFF2-40B4-BE49-F238E27FC236}">
                <a16:creationId xmlns:a16="http://schemas.microsoft.com/office/drawing/2014/main" id="{4F0F558C-DE43-402A-BE65-C59297335640}"/>
              </a:ext>
            </a:extLst>
          </p:cNvPr>
          <p:cNvSpPr>
            <a:spLocks xmlns:a="http://schemas.openxmlformats.org/drawingml/2006/main" noGrp="1"/>
          </p:cNvSpPr>
          <p:nvPr/>
        </p:nvSpPr>
        <p:spPr>
          <a:xfrm xmlns:a="http://schemas.openxmlformats.org/drawingml/2006/main">
            <a:off x="4686300" y="2857500"/>
            <a:ext cx="4057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800" b="0" i="0">
                <a:solidFill>
                  <a:srgbClr val="334155"/>
                </a:solidFill>
                <a:latin typeface="Arial"/>
                <a:ea typeface="Arial"/>
                <a:cs typeface="Arial"/>
              </a:defRPr>
            </a:pPr>
            <a:r>
              <a:rPr sz="800" b="0" i="0">
                <a:solidFill>
                  <a:srgbClr val="334155"/>
                </a:solidFill>
                <a:latin typeface="Arial"/>
                <a:ea typeface="Arial"/>
                <a:cs typeface="Arial"/>
              </a:rPr>
              <a:t>Least privilege and authorization checks on every release.</a:t>
            </a:r>
          </a:p>
        </p:txBody>
      </p:sp>
      <p:sp>
        <p:nvSpPr>
          <p:cNvPr id="317" name="Research 8 metadata">
            <a:extLst xmlns:a="http://schemas.openxmlformats.org/drawingml/2006/main">
              <a:ext uri="{FF2B5EF4-FFF2-40B4-BE49-F238E27FC236}">
                <a16:creationId xmlns:a16="http://schemas.microsoft.com/office/drawing/2014/main" id="{8E546CF2-8271-4FCE-A733-370A10B9C263}"/>
              </a:ext>
            </a:extLst>
          </p:cNvPr>
          <p:cNvSpPr>
            <a:spLocks xmlns:a="http://schemas.openxmlformats.org/drawingml/2006/main" noGrp="1"/>
          </p:cNvSpPr>
          <p:nvPr/>
        </p:nvSpPr>
        <p:spPr>
          <a:xfrm xmlns:a="http://schemas.openxmlformats.org/drawingml/2006/main">
            <a:off x="4686300" y="3114675"/>
            <a:ext cx="405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800" b="0" i="0">
                <a:solidFill>
                  <a:srgbClr val="64748B"/>
                </a:solidFill>
                <a:latin typeface="Arial"/>
                <a:ea typeface="Arial"/>
                <a:cs typeface="Arial"/>
              </a:defRPr>
            </a:pPr>
            <a:r>
              <a:rPr sz="800" b="0" i="0">
                <a:solidFill>
                  <a:srgbClr val="64748B"/>
                </a:solidFill>
                <a:latin typeface="Arial"/>
                <a:ea typeface="Arial"/>
                <a:cs typeface="Arial"/>
              </a:rPr>
              <a:t>[8] Schneier &amp; Kelsey, 1999. ACM TISSEC</a:t>
            </a:r>
          </a:p>
        </p:txBody>
      </p:sp>
      <p:sp>
        <p:nvSpPr>
          <p:cNvPr id="318" name="Research 8 title">
            <a:extLst xmlns:a="http://schemas.openxmlformats.org/drawingml/2006/main">
              <a:ext uri="{FF2B5EF4-FFF2-40B4-BE49-F238E27FC236}">
                <a16:creationId xmlns:a16="http://schemas.microsoft.com/office/drawing/2014/main" id="{27F2CA1C-94EF-4EAE-8385-F206C66AAF55}"/>
              </a:ext>
            </a:extLst>
          </p:cNvPr>
          <p:cNvSpPr>
            <a:spLocks xmlns:a="http://schemas.openxmlformats.org/drawingml/2006/main" noGrp="1"/>
          </p:cNvSpPr>
          <p:nvPr/>
        </p:nvSpPr>
        <p:spPr>
          <a:xfrm xmlns:a="http://schemas.openxmlformats.org/drawingml/2006/main">
            <a:off x="4686300" y="3257550"/>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900" b="1" i="0">
                <a:solidFill>
                  <a:srgbClr val="087ABD"/>
                </a:solidFill>
                <a:latin typeface="Arial"/>
                <a:ea typeface="Arial"/>
                <a:cs typeface="Arial"/>
              </a:defRPr>
            </a:pPr>
            <a:r>
              <a:rPr sz="900" b="1" i="0">
                <a:solidFill>
                  <a:srgbClr val="087ABD"/>
                </a:solidFill>
                <a:latin typeface="Arial"/>
                <a:ea typeface="Arial"/>
                <a:cs typeface="Arial"/>
                <a:hlinkClick xmlns:r="http://schemas.openxmlformats.org/officeDocument/2006/relationships" r:id="R4d2d5bc4c9ee48a6"/>
              </a:rPr>
              <a:t>Secure Audit Logs to Support Computer Forensics</a:t>
            </a:r>
          </a:p>
        </p:txBody>
      </p:sp>
      <p:sp>
        <p:nvSpPr>
          <p:cNvPr id="319" name="Research 8 relevance">
            <a:extLst xmlns:a="http://schemas.openxmlformats.org/drawingml/2006/main">
              <a:ext uri="{FF2B5EF4-FFF2-40B4-BE49-F238E27FC236}">
                <a16:creationId xmlns:a16="http://schemas.microsoft.com/office/drawing/2014/main" id="{E77A62C6-B068-4302-8A58-687F08CAB493}"/>
              </a:ext>
            </a:extLst>
          </p:cNvPr>
          <p:cNvSpPr>
            <a:spLocks xmlns:a="http://schemas.openxmlformats.org/drawingml/2006/main" noGrp="1"/>
          </p:cNvSpPr>
          <p:nvPr/>
        </p:nvSpPr>
        <p:spPr>
          <a:xfrm xmlns:a="http://schemas.openxmlformats.org/drawingml/2006/main">
            <a:off x="4686300" y="3562350"/>
            <a:ext cx="4057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800" b="0" i="0">
                <a:solidFill>
                  <a:srgbClr val="334155"/>
                </a:solidFill>
                <a:latin typeface="Arial"/>
                <a:ea typeface="Arial"/>
                <a:cs typeface="Arial"/>
              </a:defRPr>
            </a:pPr>
            <a:r>
              <a:rPr sz="800" b="0" i="0">
                <a:solidFill>
                  <a:srgbClr val="334155"/>
                </a:solidFill>
                <a:latin typeface="Arial"/>
                <a:ea typeface="Arial"/>
                <a:cs typeface="Arial"/>
              </a:rPr>
              <a:t>Audit-log integrity. Our local ledger has narrower guarantees.</a:t>
            </a:r>
          </a:p>
        </p:txBody>
      </p:sp>
      <p:sp>
        <p:nvSpPr>
          <p:cNvPr id="320" name="Research interpretation disclosure">
            <a:extLst xmlns:a="http://schemas.openxmlformats.org/drawingml/2006/main">
              <a:ext uri="{FF2B5EF4-FFF2-40B4-BE49-F238E27FC236}">
                <a16:creationId xmlns:a16="http://schemas.microsoft.com/office/drawing/2014/main" id="{4598779F-B521-4F47-8689-87D92F596526}"/>
              </a:ext>
            </a:extLst>
          </p:cNvPr>
          <p:cNvSpPr>
            <a:spLocks xmlns:a="http://schemas.openxmlformats.org/drawingml/2006/main" noGrp="1"/>
          </p:cNvSpPr>
          <p:nvPr/>
        </p:nvSpPr>
        <p:spPr>
          <a:xfrm xmlns:a="http://schemas.openxmlformats.org/drawingml/2006/main">
            <a:off x="285750" y="401955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3000"/>
              </a:lnSpc>
              <a:buNone/>
              <a:defRPr sz="800" b="0" i="0">
                <a:solidFill>
                  <a:srgbClr val="64748B"/>
                </a:solidFill>
                <a:latin typeface="Arial"/>
                <a:ea typeface="Arial"/>
                <a:cs typeface="Arial"/>
              </a:defRPr>
            </a:pPr>
            <a:r>
              <a:rPr sz="800" b="0" i="0">
                <a:solidFill>
                  <a:srgbClr val="64748B"/>
                </a:solidFill>
                <a:latin typeface="Arial"/>
                <a:ea typeface="Arial"/>
                <a:cs typeface="Arial"/>
              </a:rPr>
              <a:t>Research informs the design. ContextShield has not yet run benchmarks [4–6].</a:t>
            </a:r>
          </a:p>
        </p:txBody>
      </p:sp>
      <p:sp>
        <p:nvSpPr>
          <p:cNvPr id="323" name="Public source link">
            <a:extLst xmlns:a="http://schemas.openxmlformats.org/drawingml/2006/main">
              <a:ext uri="{FF2B5EF4-FFF2-40B4-BE49-F238E27FC236}">
                <a16:creationId xmlns:a16="http://schemas.microsoft.com/office/drawing/2014/main" id="{EF20E014-54A2-4702-B403-3651209780B8}"/>
              </a:ext>
            </a:extLst>
          </p:cNvPr>
          <p:cNvSpPr>
            <a:spLocks xmlns:a="http://schemas.openxmlformats.org/drawingml/2006/main" noGrp="1"/>
          </p:cNvSpPr>
          <p:nvPr/>
        </p:nvSpPr>
        <p:spPr>
          <a:xfrm xmlns:a="http://schemas.openxmlformats.org/drawingml/2006/main">
            <a:off x="285750" y="42957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975" b="1" i="0">
                <a:solidFill>
                  <a:srgbClr val="087ABD"/>
                </a:solidFill>
                <a:latin typeface="Arial"/>
                <a:ea typeface="Arial"/>
                <a:cs typeface="Arial"/>
              </a:defRPr>
            </a:pPr>
            <a:r>
              <a:rPr sz="975" b="1" i="0">
                <a:solidFill>
                  <a:srgbClr val="087ABD"/>
                </a:solidFill>
                <a:latin typeface="Arial"/>
                <a:ea typeface="Arial"/>
                <a:cs typeface="Arial"/>
                <a:hlinkClick xmlns:r="http://schemas.openxmlformats.org/officeDocument/2006/relationships" r:id="R2e17b2cc55f84140"/>
              </a:rPr>
              <a:t>SOURCE CODE</a:t>
            </a:r>
          </a:p>
        </p:txBody>
      </p:sp>
      <p:sp>
        <p:nvSpPr>
          <p:cNvPr id="324" name="Public setup link">
            <a:extLst xmlns:a="http://schemas.openxmlformats.org/drawingml/2006/main">
              <a:ext uri="{FF2B5EF4-FFF2-40B4-BE49-F238E27FC236}">
                <a16:creationId xmlns:a16="http://schemas.microsoft.com/office/drawing/2014/main" id="{711A458F-A11F-4D00-A5D3-B4930B16B2FE}"/>
              </a:ext>
            </a:extLst>
          </p:cNvPr>
          <p:cNvSpPr>
            <a:spLocks xmlns:a="http://schemas.openxmlformats.org/drawingml/2006/main" noGrp="1"/>
          </p:cNvSpPr>
          <p:nvPr/>
        </p:nvSpPr>
        <p:spPr>
          <a:xfrm xmlns:a="http://schemas.openxmlformats.org/drawingml/2006/main">
            <a:off x="3095625" y="42957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975" b="1" i="0">
                <a:solidFill>
                  <a:srgbClr val="087ABD"/>
                </a:solidFill>
                <a:latin typeface="Arial"/>
                <a:ea typeface="Arial"/>
                <a:cs typeface="Arial"/>
              </a:defRPr>
            </a:pPr>
            <a:r>
              <a:rPr sz="975" b="1" i="0">
                <a:solidFill>
                  <a:srgbClr val="087ABD"/>
                </a:solidFill>
                <a:latin typeface="Arial"/>
                <a:ea typeface="Arial"/>
                <a:cs typeface="Arial"/>
                <a:hlinkClick xmlns:r="http://schemas.openxmlformats.org/officeDocument/2006/relationships" r:id="R4fc058cb0ebf457c"/>
              </a:rPr>
              <a:t>VALIDATION REPORT</a:t>
            </a:r>
          </a:p>
        </p:txBody>
      </p:sp>
      <p:sp>
        <p:nvSpPr>
          <p:cNvPr id="325" name="Local demo availability">
            <a:extLst xmlns:a="http://schemas.openxmlformats.org/drawingml/2006/main">
              <a:ext uri="{FF2B5EF4-FFF2-40B4-BE49-F238E27FC236}">
                <a16:creationId xmlns:a16="http://schemas.microsoft.com/office/drawing/2014/main" id="{08F91601-C41F-4BDC-862A-C6B75C5E3233}"/>
              </a:ext>
            </a:extLst>
          </p:cNvPr>
          <p:cNvSpPr>
            <a:spLocks xmlns:a="http://schemas.openxmlformats.org/drawingml/2006/main" noGrp="1"/>
          </p:cNvSpPr>
          <p:nvPr/>
        </p:nvSpPr>
        <p:spPr>
          <a:xfrm xmlns:a="http://schemas.openxmlformats.org/drawingml/2006/main">
            <a:off x="5657850" y="4295775"/>
            <a:ext cx="320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975" b="1" i="0">
                <a:solidFill>
                  <a:srgbClr val="123B5D"/>
                </a:solidFill>
                <a:latin typeface="Arial"/>
                <a:ea typeface="Arial"/>
                <a:cs typeface="Arial"/>
              </a:defRPr>
            </a:pPr>
            <a:r>
              <a:rPr sz="975" b="1" i="0">
                <a:solidFill>
                  <a:srgbClr val="123B5D"/>
                </a:solidFill>
                <a:latin typeface="Arial"/>
                <a:ea typeface="Arial"/>
                <a:cs typeface="Arial"/>
                <a:hlinkClick xmlns:r="http://schemas.openxmlformats.org/officeDocument/2006/relationships" r:id="R3aa0370771dc417f"/>
              </a:rPr>
              <a:t>RAILWAY DEMO GUIDE</a:t>
            </a:r>
          </a:p>
        </p:txBody>
      </p:sp>
      <p:sp>
        <p:nvSpPr>
          <p:cNvPr id="326" name="Link availability disclosure">
            <a:extLst xmlns:a="http://schemas.openxmlformats.org/drawingml/2006/main">
              <a:ext uri="{FF2B5EF4-FFF2-40B4-BE49-F238E27FC236}">
                <a16:creationId xmlns:a16="http://schemas.microsoft.com/office/drawing/2014/main" id="{8A060DC4-AFAF-40EE-999F-B4AF4673A0E5}"/>
              </a:ext>
            </a:extLst>
          </p:cNvPr>
          <p:cNvSpPr>
            <a:spLocks xmlns:a="http://schemas.openxmlformats.org/drawingml/2006/main" noGrp="1"/>
          </p:cNvSpPr>
          <p:nvPr/>
        </p:nvSpPr>
        <p:spPr>
          <a:xfrm xmlns:a="http://schemas.openxmlformats.org/drawingml/2006/main">
            <a:off x="285750" y="4581525"/>
            <a:ext cx="8572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6000"/>
              </a:lnSpc>
              <a:buNone/>
              <a:defRPr sz="803" b="0" i="0">
                <a:solidFill>
                  <a:srgbClr val="64748B"/>
                </a:solidFill>
                <a:latin typeface="Arial"/>
                <a:ea typeface="Arial"/>
                <a:cs typeface="Arial"/>
              </a:defRPr>
            </a:pPr>
            <a:r>
              <a:rPr sz="803" b="0" i="0">
                <a:solidFill>
                  <a:srgbClr val="64748B"/>
                </a:solidFill>
                <a:latin typeface="Arial"/>
                <a:ea typeface="Arial"/>
                <a:cs typeface="Arial"/>
              </a:rPr>
              <a:t>Source, demo guide and validation report are linked above. The running demo remains local.</a:t>
            </a:r>
          </a:p>
        </p:txBody>
      </p:sp>
    </p:spTree>
    <p:extLst>
      <p:ext uri="{BB962C8B-B14F-4D97-AF65-F5344CB8AC3E}">
        <p14:creationId xmlns:p14="http://schemas.microsoft.com/office/powerpoint/2010/main" val="557788022"/>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2026-09-19T13:45:29.9350000Z</dcterms:created>
  <dcterms:modified xsi:type="dcterms:W3CDTF">2026-09-19T13:45:29.9350000Z</dcterms:modified>
</coreProperties>
</file>