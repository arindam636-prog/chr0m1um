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842daf35f498e" /><Relationship Type="http://schemas.openxmlformats.org/officeDocument/2006/relationships/extended-properties" Target="/docProps/app.xml" Id="R0bb0be0236e74d41" /><Relationship Type="http://schemas.openxmlformats.org/officeDocument/2006/relationships/officeDocument" Target="/ppt/presentation.xml" Id="R7899029a785246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350630daa4967"/>
  </p:sldMasterIdLst>
  <p:notesMasterIdLst>
    <p:notesMasterId xmlns:r="http://schemas.openxmlformats.org/officeDocument/2006/relationships" r:id="Rb81b165c98ac46d7"/>
  </p:notesMasterIdLst>
  <p:sldIdLst>
    <p:sldId xmlns:r="http://schemas.openxmlformats.org/officeDocument/2006/relationships" id="256" r:id="Rff39ddfa44644e5e"/>
    <p:sldId xmlns:r="http://schemas.openxmlformats.org/officeDocument/2006/relationships" id="257" r:id="Rce8b4546aeb74a16"/>
    <p:sldId xmlns:r="http://schemas.openxmlformats.org/officeDocument/2006/relationships" id="258" r:id="Recb329399caa4638"/>
    <p:sldId xmlns:r="http://schemas.openxmlformats.org/officeDocument/2006/relationships" id="259" r:id="R7191b5b312a54213"/>
    <p:sldId xmlns:r="http://schemas.openxmlformats.org/officeDocument/2006/relationships" id="260" r:id="Reed9e9b09607454a"/>
    <p:sldId xmlns:r="http://schemas.openxmlformats.org/officeDocument/2006/relationships" id="261" r:id="R67df6adbed0f48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295813af9c4534" /><Relationship Type="http://schemas.openxmlformats.org/officeDocument/2006/relationships/slideMaster" Target="/ppt/slideMasters/slideMaster1.xml" Id="Ra5a350630daa4967" /><Relationship Type="http://schemas.openxmlformats.org/officeDocument/2006/relationships/notesMaster" Target="/ppt/notesMasters/notesMaster1.xml" Id="Rb81b165c98ac46d7" /><Relationship Type="http://schemas.openxmlformats.org/officeDocument/2006/relationships/presProps" Target="/ppt/presProps.xml" Id="R77fe4bb7c7d94f85" /><Relationship Type="http://schemas.openxmlformats.org/officeDocument/2006/relationships/tableStyles" Target="/ppt/tableStyles.xml" Id="R592cd26649874e56" /><Relationship Type="http://schemas.openxmlformats.org/officeDocument/2006/relationships/slide" Target="/ppt/slides/slide1.xml" Id="Rff39ddfa44644e5e" /><Relationship Type="http://schemas.openxmlformats.org/officeDocument/2006/relationships/slide" Target="/ppt/slides/slide2.xml" Id="Rce8b4546aeb74a16" /><Relationship Type="http://schemas.openxmlformats.org/officeDocument/2006/relationships/slide" Target="/ppt/slides/slide3.xml" Id="Recb329399caa4638" /><Relationship Type="http://schemas.openxmlformats.org/officeDocument/2006/relationships/slide" Target="/ppt/slides/slide4.xml" Id="R7191b5b312a54213" /><Relationship Type="http://schemas.openxmlformats.org/officeDocument/2006/relationships/slide" Target="/ppt/slides/slide5.xml" Id="Reed9e9b09607454a" /><Relationship Type="http://schemas.openxmlformats.org/officeDocument/2006/relationships/slide" Target="/ppt/slides/slide6.xml" Id="R67df6adbed0f48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917f2c3cbf45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8cf64aba9444aa" /><Relationship Type="http://schemas.openxmlformats.org/officeDocument/2006/relationships/notesMaster" Target="/ppt/notesMasters/notesMaster1.xml" Id="R358b678a6831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42ac5c0460486b" /><Relationship Type="http://schemas.openxmlformats.org/officeDocument/2006/relationships/notesMaster" Target="/ppt/notesMasters/notesMaster1.xml" Id="Ra9daa18c1a6544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9d9bf3479546b2" /><Relationship Type="http://schemas.openxmlformats.org/officeDocument/2006/relationships/notesMaster" Target="/ppt/notesMasters/notesMaster1.xml" Id="R20779ee41949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a945e21bc04af3" /><Relationship Type="http://schemas.openxmlformats.org/officeDocument/2006/relationships/notesMaster" Target="/ppt/notesMasters/notesMaster1.xml" Id="Re3a1c78e354e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c893d2545a4683" /><Relationship Type="http://schemas.openxmlformats.org/officeDocument/2006/relationships/notesMaster" Target="/ppt/notesMasters/notesMaster1.xml" Id="R7769a2eeca6d4e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e3b594baef49dd" /><Relationship Type="http://schemas.openxmlformats.org/officeDocument/2006/relationships/notesMaster" Target="/ppt/notesMasters/notesMaster1.xml" Id="R21fa6fb021c8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Browser agents are useful only when users can trust what leaves their device.</a:t>
            </a:r>
          </a:p>
          <a:p xmlns:a="http://schemas.openxmlformats.org/drawingml/2006/main">
            <a:r>
              <a:t>Introduce ContextShield as a privacy-preserving browser agent boundary built by Chr0m1um.</a:t>
            </a:r>
          </a:p>
          <a:p xmlns:a="http://schemas.openxmlformats.org/drawingml/2006/main">
            <a:r>
              <a:t>Verify Team ID 12345 before final submission if the SIH portal assigns a different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/Users/arindam/Downloads/demo SIH.pdf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privacy boundary, not the model list.</a:t>
            </a:r>
          </a:p>
          <a:p xmlns:a="http://schemas.openxmlformats.org/drawingml/2006/main">
            <a:r>
              <a:t>The novelty is the combination of task-aware disclosure, local secret handles and a local action gate.</a:t>
            </a:r>
          </a:p>
          <a:p xmlns:a="http://schemas.openxmlformats.org/drawingml/2006/main">
            <a:r>
              <a:t>Click OPEN PRIVACY PROOF for the controlled visual redaction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SIH 2026 problem statement</a:t>
            </a:r>
          </a:p>
          <a:p xmlns:a="http://schemas.openxmlformats.org/drawingml/2006/main">
            <a:r>
              <a:t>- /Users/arindam/Documents/SIH 2026/contextshield/README.md</a:t>
            </a:r>
          </a:p>
          <a:p xmlns:a="http://schemas.openxmlformats.org/drawingml/2006/main">
            <a:r>
              <a:t>- /Users/arindam/Documents/SIH 2026/contextshield/docs/api-contract.md</a:t>
            </a:r>
          </a:p>
          <a:p xmlns:a="http://schemas.openxmlformats.org/drawingml/2006/main">
            <a:r>
              <a:t>- http://127.0.0.1:4173/privacy-proof.html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boundary left to right, then the typed action loop right to left.</a:t>
            </a:r>
          </a:p>
          <a:p xmlns:a="http://schemas.openxmlformats.org/drawingml/2006/main">
            <a:r>
              <a:t>The central claim is simple: pixels and identity are processed locally; only SanitizedContext crosses.</a:t>
            </a:r>
          </a:p>
          <a:p xmlns:a="http://schemas.openxmlformats.org/drawingml/2006/main">
            <a:r>
              <a:t>If the action cannot be grounded or verified, the controller stops safely instead of improvising.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/Users/arindam/Documents/SIH 2026/contextshield/README.md</a:t>
            </a:r>
          </a:p>
          <a:p xmlns:a="http://schemas.openxmlformats.org/drawingml/2006/main">
            <a:r>
              <a:t>- /Users/arindam/Documents/SIH 2026/contextshield/docs/api-contract.md</a:t>
            </a:r>
          </a:p>
          <a:p xmlns:a="http://schemas.openxmlformats.org/drawingml/2006/main">
            <a:r>
              <a:t>- /Users/arindam/Documents/SIH 2026/contextshield/docs/full-setup.md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both feasibility and honesty: the architecture is buildable, and the claims are explicitly scoped.</a:t>
            </a:r>
          </a:p>
          <a:p xmlns:a="http://schemas.openxmlformats.org/drawingml/2006/main">
            <a:r>
              <a:t>The enterprise path is policy and audit capability; the privacy contract stays the same.</a:t>
            </a:r>
          </a:p>
          <a:p xmlns:a="http://schemas.openxmlformats.org/drawingml/2006/main">
            <a:r>
              <a:t>Mention that independent production-scale evaluation is the next milestone, not a completed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/Users/arindam/Documents/SIH 2026/contextshield/README.md</a:t>
            </a:r>
          </a:p>
          <a:p xmlns:a="http://schemas.openxmlformats.org/drawingml/2006/main">
            <a:r>
              <a:t>- /Users/arindam/Documents/SIH 2026/contextshield/docs/SIH-RELEASE-v1.3.0.md</a:t>
            </a:r>
          </a:p>
          <a:p xmlns:a="http://schemas.openxmlformats.org/drawingml/2006/main">
            <a:r>
              <a:t>- /Users/arindam/Documents/SIH 2026/contextshield/demo/evidence.json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the five dark-panel rows directly to the official evaluation metrics.</a:t>
            </a:r>
          </a:p>
          <a:p xmlns:a="http://schemas.openxmlformats.org/drawingml/2006/main">
            <a:r>
              <a:t>State the scope aloud: controlled screens and synthetic PII cases validate the prototype, not every website.</a:t>
            </a:r>
          </a:p>
          <a:p xmlns:a="http://schemas.openxmlformats.org/drawingml/2006/main">
            <a:r>
              <a:t>Then use the three modes to explain end-to-end user value in simple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official SIH evaluation metrics</a:t>
            </a:r>
          </a:p>
          <a:p xmlns:a="http://schemas.openxmlformats.org/drawingml/2006/main">
            <a:r>
              <a:t>- /Users/arindam/Documents/SIH 2026/contextshield/demo/evidence.json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blue/green resource label is a real PowerPoint hyperlink.</a:t>
            </a:r>
          </a:p>
          <a:p xmlns:a="http://schemas.openxmlformats.org/drawingml/2006/main">
            <a:r>
              <a:t>The local prototype link assumes START.sh has been run on the presentation laptop.</a:t>
            </a:r>
          </a:p>
          <a:p xmlns:a="http://schemas.openxmlformats.org/drawingml/2006/main">
            <a:r>
              <a:t>Use the public proof links only after the controlled demo; site changes are outside the prototype benchmark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https://www.w3.org/TR/webgpu/</a:t>
            </a:r>
          </a:p>
          <a:p xmlns:a="http://schemas.openxmlformats.org/drawingml/2006/main">
            <a:r>
              <a:t>- https://onnxruntime.ai/docs/tutorials/web/</a:t>
            </a:r>
          </a:p>
          <a:p xmlns:a="http://schemas.openxmlformats.org/drawingml/2006/main">
            <a:r>
              <a:t>- https://huggingface.co/docs/transformers.js/</a:t>
            </a:r>
          </a:p>
          <a:p xmlns:a="http://schemas.openxmlformats.org/drawingml/2006/main">
            <a:r>
              <a:t>- https://arxiv.org/abs/2107.08430</a:t>
            </a:r>
          </a:p>
          <a:p xmlns:a="http://schemas.openxmlformats.org/drawingml/2006/main">
            <a:r>
              <a:t>- https://arxiv.org/abs/2009.09941</a:t>
            </a:r>
          </a:p>
          <a:p xmlns:a="http://schemas.openxmlformats.org/drawingml/2006/main">
            <a:r>
              <a:t>- https://huggingface.co/nationaldesignstudio/rampart</a:t>
            </a:r>
          </a:p>
          <a:p xmlns:a="http://schemas.openxmlformats.org/drawingml/2006/main">
            <a:r>
              <a:t>- https://github.com/QwenLM/Qwen3-VL</a:t>
            </a:r>
          </a:p>
          <a:p xmlns:a="http://schemas.openxmlformats.org/drawingml/2006/main">
            <a:r>
              <a:t>- https://github.com/Arindam636-prog/chr0m1um</a:t>
            </a:r>
          </a:p>
          <a:p xmlns:a="http://schemas.openxmlformats.org/drawingml/2006/main">
            <a:r>
              <a:t>- http://127.0.0.1:4173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d0569f8b949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07aad8ecb48ea" /><Relationship Type="http://schemas.openxmlformats.org/officeDocument/2006/relationships/slideLayout" Target="/ppt/slideLayouts/slideLayout1.xml" Id="Rb1a1563f2c01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a1563f2c01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b39cee0ea4ef6" /><Relationship Type="http://schemas.openxmlformats.org/officeDocument/2006/relationships/image" Target="/ppt/media/image.png" Id="R56c1c3e4ebe4486c" /><Relationship Type="http://schemas.openxmlformats.org/officeDocument/2006/relationships/notesSlide" Target="/ppt/notesSlides/notesSlide1.xml" Id="R06953b71f63949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1b1309af94003" /><Relationship Type="http://schemas.openxmlformats.org/officeDocument/2006/relationships/image" Target="/ppt/media/image2.png" Id="Rbeb4e74704094da5" /><Relationship Type="http://schemas.openxmlformats.org/officeDocument/2006/relationships/image" Target="/ppt/media/image.svg" Id="R2db4be7b738843de" /><Relationship Type="http://schemas.openxmlformats.org/officeDocument/2006/relationships/image" Target="/ppt/media/image3.png" Id="Rac3929bd721d4c8e" /><Relationship Type="http://schemas.openxmlformats.org/officeDocument/2006/relationships/image" Target="/ppt/media/image4.png" Id="Rdfe5ff5ec820476c" /><Relationship Type="http://schemas.openxmlformats.org/officeDocument/2006/relationships/image" Target="/ppt/media/image2.svg" Id="Rcf9677b8852547e7" /><Relationship Type="http://schemas.openxmlformats.org/officeDocument/2006/relationships/image" Target="/ppt/media/image5.png" Id="Rf97eae50faf34215" /><Relationship Type="http://schemas.openxmlformats.org/officeDocument/2006/relationships/image" Target="/ppt/media/image6.png" Id="Rb6e9e3954c9e45a8" /><Relationship Type="http://schemas.openxmlformats.org/officeDocument/2006/relationships/image" Target="/ppt/media/image3.svg" Id="R2ed0c6ec6f444076" /><Relationship Type="http://schemas.openxmlformats.org/officeDocument/2006/relationships/image" Target="/ppt/media/image7.png" Id="R91a17bf98004469d" /><Relationship Type="http://schemas.openxmlformats.org/officeDocument/2006/relationships/image" Target="/ppt/media/image4.svg" Id="R38d350455a284897" /><Relationship Type="http://schemas.openxmlformats.org/officeDocument/2006/relationships/image" Target="/ppt/media/image8.png" Id="Rce1bfb520b884995" /><Relationship Type="http://schemas.openxmlformats.org/officeDocument/2006/relationships/image" Target="/ppt/media/image5.svg" Id="R4bf2041147b24fbf" /><Relationship Type="http://schemas.openxmlformats.org/officeDocument/2006/relationships/hyperlink" Target="http://127.0.0.1:4173/privacy-proof.html" TargetMode="External" Id="Rdfdfaacea25c4393" /><Relationship Type="http://schemas.openxmlformats.org/officeDocument/2006/relationships/notesSlide" Target="/ppt/notesSlides/notesSlide2.xml" Id="R9f7f3990e0dc43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94ad122b4022" /><Relationship Type="http://schemas.openxmlformats.org/officeDocument/2006/relationships/image" Target="/ppt/media/image9.png" Id="R3595542b9c5f4b80" /><Relationship Type="http://schemas.openxmlformats.org/officeDocument/2006/relationships/image" Target="/ppt/media/image6.svg" Id="R107836887a4e41a5" /><Relationship Type="http://schemas.openxmlformats.org/officeDocument/2006/relationships/image" Target="/ppt/media/image10.png" Id="R060509f8994e4909" /><Relationship Type="http://schemas.openxmlformats.org/officeDocument/2006/relationships/image" Target="/ppt/media/image11.png" Id="R1ca5d7f57e754bf4" /><Relationship Type="http://schemas.openxmlformats.org/officeDocument/2006/relationships/image" Target="/ppt/media/image7.svg" Id="Rd3ada1a5f718429b" /><Relationship Type="http://schemas.openxmlformats.org/officeDocument/2006/relationships/image" Target="/ppt/media/image12.png" Id="R03532dc647704d26" /><Relationship Type="http://schemas.openxmlformats.org/officeDocument/2006/relationships/image" Target="/ppt/media/image8.svg" Id="R06fac6b3dd774dde" /><Relationship Type="http://schemas.openxmlformats.org/officeDocument/2006/relationships/image" Target="/ppt/media/image13.png" Id="R1600fc7a6b3b4e49" /><Relationship Type="http://schemas.openxmlformats.org/officeDocument/2006/relationships/image" Target="/ppt/media/image9.svg" Id="R50931da1865644f4" /><Relationship Type="http://schemas.openxmlformats.org/officeDocument/2006/relationships/image" Target="/ppt/media/image14.png" Id="R6d0bf4abbd4a42bc" /><Relationship Type="http://schemas.openxmlformats.org/officeDocument/2006/relationships/image" Target="/ppt/media/image10.svg" Id="R9dc7ea685de64c81" /><Relationship Type="http://schemas.openxmlformats.org/officeDocument/2006/relationships/image" Target="/ppt/media/image15.png" Id="R08fd62b5c6a24f2c" /><Relationship Type="http://schemas.openxmlformats.org/officeDocument/2006/relationships/image" Target="/ppt/media/image11.svg" Id="R4ff34861ff6f4874" /><Relationship Type="http://schemas.openxmlformats.org/officeDocument/2006/relationships/image" Target="/ppt/media/image16.png" Id="R2cfb5df5cb6c463d" /><Relationship Type="http://schemas.openxmlformats.org/officeDocument/2006/relationships/image" Target="/ppt/media/image12.svg" Id="R05ebc6bd90304a3d" /><Relationship Type="http://schemas.openxmlformats.org/officeDocument/2006/relationships/image" Target="/ppt/media/image17.png" Id="R5f7f62dde7574ae9" /><Relationship Type="http://schemas.openxmlformats.org/officeDocument/2006/relationships/image" Target="/ppt/media/image13.svg" Id="R7a26aa215ad74f95" /><Relationship Type="http://schemas.openxmlformats.org/officeDocument/2006/relationships/image" Target="/ppt/media/image18.png" Id="R71665a73ddb94df7" /><Relationship Type="http://schemas.openxmlformats.org/officeDocument/2006/relationships/image" Target="/ppt/media/image14.svg" Id="R0a25985612574048" /><Relationship Type="http://schemas.openxmlformats.org/officeDocument/2006/relationships/image" Target="/ppt/media/image19.png" Id="Rf32eb7ba702a45ab" /><Relationship Type="http://schemas.openxmlformats.org/officeDocument/2006/relationships/image" Target="/ppt/media/image15.svg" Id="Rbf567ed97f0a4384" /><Relationship Type="http://schemas.openxmlformats.org/officeDocument/2006/relationships/image" Target="/ppt/media/image20.png" Id="R2d476dffc9b64ada" /><Relationship Type="http://schemas.openxmlformats.org/officeDocument/2006/relationships/image" Target="/ppt/media/image16.svg" Id="Rd36a00b6a43645a7" /><Relationship Type="http://schemas.openxmlformats.org/officeDocument/2006/relationships/image" Target="/ppt/media/image21.png" Id="R2c75b89743b64e81" /><Relationship Type="http://schemas.openxmlformats.org/officeDocument/2006/relationships/image" Target="/ppt/media/image17.svg" Id="Ra0736200eeb84260" /><Relationship Type="http://schemas.openxmlformats.org/officeDocument/2006/relationships/image" Target="/ppt/media/image22.png" Id="R110f9951000f4db1" /><Relationship Type="http://schemas.openxmlformats.org/officeDocument/2006/relationships/image" Target="/ppt/media/image18.svg" Id="Ra5140f79e9ac4900" /><Relationship Type="http://schemas.openxmlformats.org/officeDocument/2006/relationships/image" Target="/ppt/media/image23.png" Id="R49c33381046b463a" /><Relationship Type="http://schemas.openxmlformats.org/officeDocument/2006/relationships/image" Target="/ppt/media/image19.svg" Id="R6b98477996a7431c" /><Relationship Type="http://schemas.openxmlformats.org/officeDocument/2006/relationships/image" Target="/ppt/media/image24.png" Id="R411c8cbb38c0471a" /><Relationship Type="http://schemas.openxmlformats.org/officeDocument/2006/relationships/image" Target="/ppt/media/image20.svg" Id="R1bf32936b56e4c61" /><Relationship Type="http://schemas.openxmlformats.org/officeDocument/2006/relationships/image" Target="/ppt/media/image25.png" Id="R57be34eeacab44e5" /><Relationship Type="http://schemas.openxmlformats.org/officeDocument/2006/relationships/image" Target="/ppt/media/image21.svg" Id="R23ad3b3a9e85451a" /><Relationship Type="http://schemas.openxmlformats.org/officeDocument/2006/relationships/image" Target="/ppt/media/image26.png" Id="Rdf51c0874a5344dc" /><Relationship Type="http://schemas.openxmlformats.org/officeDocument/2006/relationships/image" Target="/ppt/media/image22.svg" Id="Rae49f76aeaa54297" /><Relationship Type="http://schemas.openxmlformats.org/officeDocument/2006/relationships/notesSlide" Target="/ppt/notesSlides/notesSlide3.xml" Id="R489beba62831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8a4019974e8c" /><Relationship Type="http://schemas.openxmlformats.org/officeDocument/2006/relationships/image" Target="/ppt/media/image27.png" Id="R3afcc3e1831b4d68" /><Relationship Type="http://schemas.openxmlformats.org/officeDocument/2006/relationships/image" Target="/ppt/media/image23.svg" Id="R2252477d6da3429b" /><Relationship Type="http://schemas.openxmlformats.org/officeDocument/2006/relationships/image" Target="/ppt/media/image28.png" Id="Rabe87e07d7314318" /><Relationship Type="http://schemas.openxmlformats.org/officeDocument/2006/relationships/notesSlide" Target="/ppt/notesSlides/notesSlide4.xml" Id="R5fc45472ab6247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5471c7c28484e" /><Relationship Type="http://schemas.openxmlformats.org/officeDocument/2006/relationships/image" Target="/ppt/media/image29.png" Id="Rae1d6cc9fdce45f7" /><Relationship Type="http://schemas.openxmlformats.org/officeDocument/2006/relationships/image" Target="/ppt/media/image24.svg" Id="Rf95f106c2acc4048" /><Relationship Type="http://schemas.openxmlformats.org/officeDocument/2006/relationships/image" Target="/ppt/media/image30.png" Id="Rc913fcf08058443b" /><Relationship Type="http://schemas.openxmlformats.org/officeDocument/2006/relationships/image" Target="/ppt/media/image31.png" Id="R52f64c99fe634f91" /><Relationship Type="http://schemas.openxmlformats.org/officeDocument/2006/relationships/image" Target="/ppt/media/image25.svg" Id="Ra59564d2da0140e1" /><Relationship Type="http://schemas.openxmlformats.org/officeDocument/2006/relationships/image" Target="/ppt/media/image32.png" Id="R450725405f664592" /><Relationship Type="http://schemas.openxmlformats.org/officeDocument/2006/relationships/image" Target="/ppt/media/image26.svg" Id="Rde5b112c5a6042a2" /><Relationship Type="http://schemas.openxmlformats.org/officeDocument/2006/relationships/image" Target="/ppt/media/image33.png" Id="R2dd86d24b6224f69" /><Relationship Type="http://schemas.openxmlformats.org/officeDocument/2006/relationships/image" Target="/ppt/media/image27.svg" Id="Rbba755cac05a4ef1" /><Relationship Type="http://schemas.openxmlformats.org/officeDocument/2006/relationships/notesSlide" Target="/ppt/notesSlides/notesSlide5.xml" Id="R9f8f1006b97c44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11621ce4f434e" /><Relationship Type="http://schemas.openxmlformats.org/officeDocument/2006/relationships/image" Target="/ppt/media/image34.png" Id="Rd56e9ec6041f4268" /><Relationship Type="http://schemas.openxmlformats.org/officeDocument/2006/relationships/image" Target="/ppt/media/image28.svg" Id="Rff06cfbbb13a4c42" /><Relationship Type="http://schemas.openxmlformats.org/officeDocument/2006/relationships/image" Target="/ppt/media/image35.png" Id="Re870f11cc5584075" /><Relationship Type="http://schemas.openxmlformats.org/officeDocument/2006/relationships/hyperlink" Target="https://www.w3.org/TR/webgpu/" TargetMode="External" Id="R3005b8c7c8124499" /><Relationship Type="http://schemas.openxmlformats.org/officeDocument/2006/relationships/hyperlink" Target="https://onnxruntime.ai/docs/tutorials/web/" TargetMode="External" Id="R486321528d684a1d" /><Relationship Type="http://schemas.openxmlformats.org/officeDocument/2006/relationships/hyperlink" Target="https://huggingface.co/docs/transformers.js/" TargetMode="External" Id="R211293624caa47a2" /><Relationship Type="http://schemas.openxmlformats.org/officeDocument/2006/relationships/hyperlink" Target="https://arxiv.org/abs/2107.08430" TargetMode="External" Id="Rebcb5462ebca435b" /><Relationship Type="http://schemas.openxmlformats.org/officeDocument/2006/relationships/hyperlink" Target="https://arxiv.org/abs/2009.09941" TargetMode="External" Id="R3a27b4267d6d44ba" /><Relationship Type="http://schemas.openxmlformats.org/officeDocument/2006/relationships/hyperlink" Target="https://huggingface.co/nationaldesignstudio/rampart" TargetMode="External" Id="R069b99bb83a94ffd" /><Relationship Type="http://schemas.openxmlformats.org/officeDocument/2006/relationships/hyperlink" Target="https://github.com/QwenLM/Qwen3-VL" TargetMode="External" Id="R18dfdc552ccd46c4" /><Relationship Type="http://schemas.openxmlformats.org/officeDocument/2006/relationships/hyperlink" Target="http://127.0.0.1:4173" TargetMode="External" Id="R899b48721b904403" /><Relationship Type="http://schemas.openxmlformats.org/officeDocument/2006/relationships/hyperlink" Target="https://github.com/Arindam636-prog/chr0m1um" TargetMode="External" Id="Rb09abfa56b83451a" /><Relationship Type="http://schemas.openxmlformats.org/officeDocument/2006/relationships/hyperlink" Target="https://github.com/Arindam636-prog/chr0m1um/blob/main/README.md" TargetMode="External" Id="R8f556653d705416f" /><Relationship Type="http://schemas.openxmlformats.org/officeDocument/2006/relationships/hyperlink" Target="https://github.com/Arindam636-prog/chr0m1um/blob/main/docs/judge-demo.md" TargetMode="External" Id="Rca423ea0dc9b4154" /><Relationship Type="http://schemas.openxmlformats.org/officeDocument/2006/relationships/hyperlink" Target="https://github.com/Arindam636-prog/chr0m1um/blob/main/demo/evidence.json" TargetMode="External" Id="Rd9201a9b7a1d4010" /><Relationship Type="http://schemas.openxmlformats.org/officeDocument/2006/relationships/image" Target="/ppt/media/image36.png" Id="Raefd57d4761b4cbd" /><Relationship Type="http://schemas.openxmlformats.org/officeDocument/2006/relationships/hyperlink" Target="http://127.0.0.1:4173" TargetMode="External" Id="R0a8b79d47a02415d" /><Relationship Type="http://schemas.openxmlformats.org/officeDocument/2006/relationships/image" Target="/ppt/media/image37.png" Id="R65a52d02ec444071" /><Relationship Type="http://schemas.openxmlformats.org/officeDocument/2006/relationships/hyperlink" Target="http://127.0.0.1:4173/privacy-proof.html" TargetMode="External" Id="R10ef6df9308846f3" /><Relationship Type="http://schemas.openxmlformats.org/officeDocument/2006/relationships/image" Target="/ppt/media/image38.png" Id="R368ad19423a247a8" /><Relationship Type="http://schemas.openxmlformats.org/officeDocument/2006/relationships/hyperlink" Target="http://127.0.0.1:4173/checkout.html" TargetMode="External" Id="Re28e8b2771be4baa" /><Relationship Type="http://schemas.openxmlformats.org/officeDocument/2006/relationships/hyperlink" Target="https://www.selenium.dev/selenium/web/web-form.html" TargetMode="External" Id="R1c84d70ab85f41b8" /><Relationship Type="http://schemas.openxmlformats.org/officeDocument/2006/relationships/hyperlink" Target="https://the-internet.herokuapp.com/checkboxes" TargetMode="External" Id="R954393dc13c74d72" /><Relationship Type="http://schemas.openxmlformats.org/officeDocument/2006/relationships/hyperlink" Target="https://the-internet.herokuapp.com/dropdown" TargetMode="External" Id="R84560218b65042e8" /><Relationship Type="http://schemas.openxmlformats.org/officeDocument/2006/relationships/notesSlide" Target="/ppt/notesSlides/notesSlide6.xml" Id="R6bf0218af46a42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1c3e4ebe448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50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4e74704094da5">
            <a:extLst>
              <a:ext uri="{96DAC541-7B7A-43D3-8B79-37D633B846F1}">
                <asvg:svgBlip xmlns:asvg="http://schemas.microsoft.com/office/drawing/2016/SVG/main" r:embed="R2db4be7b738843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" y="133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487E8-74A9-49F4-A192-E6A37405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SHIELD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929bd721d4c8e"/>
          <a:stretch xmlns:a="http://schemas.openxmlformats.org/drawingml/2006/main"/>
        </p:blipFill>
        <p:spPr>
          <a:xfrm xmlns:a="http://schemas.openxmlformats.org/drawingml/2006/main">
            <a:off x="10049390" y="47625"/>
            <a:ext cx="178967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A52AE-DDB5-409E-A70D-79DB3C14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rPr>
              <a:t>CONTEXT SHIELD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9DDB0-0D5B-4A58-BBC9-B47E7EE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solidFill>
              <a:srgbClr val="087A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E8CB7-6AEA-4A96-938A-86D82D0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3817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@chr0m1um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B2944-0330-4B24-B066-60210020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3722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7BFA7-5042-4ABE-B4B5-984CD2F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(Privacy-Preserving Context Firewall)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5ff5ec820476c">
            <a:extLst>
              <a:ext uri="{96DAC541-7B7A-43D3-8B79-37D633B846F1}">
                <asvg:svgBlip xmlns:asvg="http://schemas.microsoft.com/office/drawing/2016/SVG/main" r:embed="Rcf9677b8852547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34475" y="714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0E9A3-45FD-4400-9E80-6450E39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04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F31D6-0638-4CC0-B905-52D4F390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71550"/>
            <a:ext cx="83820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E4574F"/>
          </a:solidFill>
          <a:ln xmlns:a="http://schemas.openxmlformats.org/drawingml/2006/main" w="9525">
            <a:solidFill>
              <a:srgbClr val="E4574F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4ABCC-9EB6-437B-B652-E3272FF0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52525"/>
            <a:ext cx="6572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1430">
            <a:solidFill>
              <a:srgbClr val="F2A7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A41B3-9ED7-4296-ADBE-003ADE0B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47775"/>
            <a:ext cx="635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Too much context: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Cloud agents may receive raw pixels, DOM text, cookies and identity the task never needs.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Blanket redaction: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Safer, but it strips labels and structure required to act correctly.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Ungated actions: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Plausible server commands can still target stale or wrong controls.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928E2-B30F-4542-9467-801E926B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57450"/>
            <a:ext cx="1381125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PROPOSED 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E903D-2721-4FFD-9582-6383211B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38425"/>
            <a:ext cx="657225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9CC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80CAC-3160-4186-90EE-817734FC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63531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Read locally: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DOM, ARIA and visible pixels are interpreted inside the browser.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Detect and redact: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YOLOX, PP-OCR and Rampart find faces, visual text and contextual PII before any request.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Reason safely: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Only SanitizedContext and LOCAL_* handles reach Qwen3-VL.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Act locally: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Typed actions are grounded, gated, executed and verified on-device.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9149E-39F1-4712-B375-49893B5D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57675"/>
            <a:ext cx="180975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UNIQUE VALUE PROPOSITION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B4FBB-CBB5-48DB-BD76-B43CF1E7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38650"/>
            <a:ext cx="6572250" cy="1533525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9FD3B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29F2A-67C2-47BE-A58D-580F466E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3425"/>
            <a:ext cx="635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Privacy before AI access: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Sensitive context is removed at the source—not after it reaches the cloud.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Minimum necessary context: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Useful structure crosses the boundary; raw identity stays in a memory-only vault.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Two-sided safety: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Context is protected outbound; actions are validated inbound.</a:t>
            </a:r>
          </a:p>
          <a:p xmlns:a="http://schemas.openxmlformats.org/drawingml/2006/main">
            <a:pPr marL="18" indent="-10" algn="l">
              <a:lnSpc>
                <a:spcPct val="98000"/>
              </a:lnSpc>
              <a:spcAft>
                <a:spcPts val="5"/>
              </a:spcAft>
              <a:buNone/>
              <a:defRPr sz="118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Browser-native: </a:t>
            </a:r>
            <a:r>
              <a:rPr sz="1185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same privacy contract supports Chrome and Firefox builds.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CFEC-1E3C-4B6C-94C0-9BB78B74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057275"/>
            <a:ext cx="4648200" cy="4714875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11430">
            <a:solidFill>
              <a:srgbClr val="98BC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D3B4F-8550-4A41-AFFC-74117C0C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001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WHAT THE JUDGE CAN SEE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3D4C7-5AED-4747-9344-C201F75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42672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eae50faf34215"/>
          <a:srcRect xmlns:a="http://schemas.openxmlformats.org/drawingml/2006/main" l="0" t="1705" r="0" b="1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9975" y="1562100"/>
            <a:ext cx="4133850" cy="2495550"/>
          </a:xfrm>
          <a:prstGeom xmlns:a="http://schemas.openxmlformats.org/drawingml/2006/main" prst="roundRect">
            <a:avLst>
              <a:gd name="adj" fmla="val 305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3CF73-476D-43D3-9F64-98FFF1D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9e3954c9e45a8">
            <a:extLst>
              <a:ext uri="{96DAC541-7B7A-43D3-8B79-37D633B846F1}">
                <asvg:svgBlip xmlns:asvg="http://schemas.microsoft.com/office/drawing/2016/SVG/main" r:embed="R2ed0c6ec6f4440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96175" y="4343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1B436-753F-46DA-AB99-A95073AE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Raw page state stays local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4563A-A2B2-43B7-92DD-B393919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6958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17bf98004469d">
            <a:extLst>
              <a:ext uri="{96DAC541-7B7A-43D3-8B79-37D633B846F1}">
                <asvg:svgBlip xmlns:asvg="http://schemas.microsoft.com/office/drawing/2016/SVG/main" r:embed="R38d350455a2848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96175" y="4752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A9FE4-3F0D-42E3-9D6B-4317835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14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Server receives sanitized structure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DB628-B8D8-44A5-AC5D-91E4BEB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105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bfb520b884995">
            <a:extLst>
              <a:ext uri="{96DAC541-7B7A-43D3-8B79-37D633B846F1}">
                <asvg:svgBlip xmlns:asvg="http://schemas.microsoft.com/office/drawing/2016/SVG/main" r:embed="R4bf2041147b24f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96175" y="5162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F4679-F2B0-46C0-9850-BBF50E3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24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keeps the final say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DC2EC-3C26-4200-BE50-BD86DC60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67350"/>
            <a:ext cx="195262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dfdfaacea25c4393"/>
              </a:rPr>
              <a:t>OPEN PRIVACY PROOF</a:t>
            </a:r>
          </a:p>
        </p:txBody>
      </p:sp>
    </p:spTree>
    <p:extLst>
      <p:ext uri="{BB962C8B-B14F-4D97-AF65-F5344CB8AC3E}">
        <p14:creationId xmlns:p14="http://schemas.microsoft.com/office/powerpoint/2010/main" val="1938642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5542b9c5f4b80">
            <a:extLst>
              <a:ext uri="{96DAC541-7B7A-43D3-8B79-37D633B846F1}">
                <asvg:svgBlip xmlns:asvg="http://schemas.microsoft.com/office/drawing/2016/SVG/main" r:embed="R107836887a4e41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" y="133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EC60C-34B9-473F-BE33-46AC6C4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SHIELD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509f8994e4909"/>
          <a:stretch xmlns:a="http://schemas.openxmlformats.org/drawingml/2006/main"/>
        </p:blipFill>
        <p:spPr>
          <a:xfrm xmlns:a="http://schemas.openxmlformats.org/drawingml/2006/main">
            <a:off x="10049390" y="47625"/>
            <a:ext cx="178967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A2BD8-88E8-4704-BF08-49FDCC6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rPr>
              <a:t>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BFA4E-6C35-44F1-8EA4-08497D5E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solidFill>
              <a:srgbClr val="087A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5FAB1-47F5-464B-B2A0-1FEC63F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3817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@chr0m1um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D8B50-DBB4-430B-B172-1B0C707A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3722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CE430-76EB-413B-BAB2-90FA1D88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14400"/>
            <a:ext cx="1571625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ON-DEVICE TRUST 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1A43D-A645-43F2-AF41-55C10054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914400"/>
            <a:ext cx="165735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SANITIZED SERVER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C9119-59B1-4417-9622-EF26CEA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962025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8A2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59C54-30FC-49F9-BD6E-932E731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2190750" cy="13335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8BC9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4C86-AC40-4611-83EC-554B703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304925"/>
            <a:ext cx="2381250" cy="13335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8BC9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915C7-6DB0-429E-99C3-7A71285D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04925"/>
            <a:ext cx="2476500" cy="13335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8BC9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11DE1-5728-4E97-A3D3-947C0E44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04925"/>
            <a:ext cx="2781300" cy="13335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8CBFDC"/>
            </a:solidFill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5d7f57e754bf4">
            <a:extLst>
              <a:ext uri="{96DAC541-7B7A-43D3-8B79-37D633B846F1}">
                <asvg:svgBlip xmlns:asvg="http://schemas.microsoft.com/office/drawing/2016/SVG/main" r:embed="Rd3ada1a5f71842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1466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5551B-6A6B-45F8-9CDF-4D87191E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38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1  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A38AD-14E8-4353-BD7A-F07C24CB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63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DOM + ARIA + screenshot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Visible controls, labels &amp; state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32dc647704d26">
            <a:extLst>
              <a:ext uri="{96DAC541-7B7A-43D3-8B79-37D633B846F1}">
                <asvg:svgBlip xmlns:asvg="http://schemas.microsoft.com/office/drawing/2016/SVG/main" r:embed="R06fac6b3dd774d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1466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84032-006F-43FB-BACD-DC7E25D2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438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2  PERCEIVE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DE7E4-BEB7-4857-9827-B5DA5A1E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7165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YOLOX → faces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PP-OCR → visual text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Rampart ONNX → contextual PII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0fc7a6b3b4e49">
            <a:extLst>
              <a:ext uri="{96DAC541-7B7A-43D3-8B79-37D633B846F1}">
                <asvg:svgBlip xmlns:asvg="http://schemas.microsoft.com/office/drawing/2016/SVG/main" r:embed="R50931da1865644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91200" y="1466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CB04A-7910-4498-A0AA-F858822C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38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3  PROTECT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FD9ED-5B19-45C6-A158-B504C4E4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165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Mask sensitive pixels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Replace values with LOCAL_* handles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Secrets remain in memory-only vault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bf4abbd4a42bc">
            <a:extLst>
              <a:ext uri="{96DAC541-7B7A-43D3-8B79-37D633B846F1}">
                <asvg:svgBlip xmlns:asvg="http://schemas.microsoft.com/office/drawing/2016/SVG/main" r:embed="R9dc7ea685de64c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1466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39C4E4-2004-437C-BE4B-9BF45225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38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087AB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ABD"/>
                </a:solidFill>
                <a:latin typeface="Arial"/>
                <a:ea typeface="Arial"/>
                <a:cs typeface="Arial"/>
              </a:rPr>
              <a:t>4  REASON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006B3-EE06-4A5F-B73B-E8466D7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71650"/>
            <a:ext cx="2447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Qwen3-VL receives strict SanitizedContext and returns one typed action—never raw DOM, cookies or credentials.</a:t>
            </a:r>
          </a:p>
        </p:txBody>
      </p:sp>
      <p:cxnSp>
        <p:nvCxnSpPr>
          <p:cNvPr id="10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90800" y="19716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964B"/>
            </a:solidFill>
            <a:prstDash val="solid"/>
            <a:tailEnd type="arrow" w="sm" len="sm"/>
          </a:ln>
        </p:spPr>
      </p:cxnSp>
      <p:cxnSp>
        <p:nvCxnSpPr>
          <p:cNvPr id="10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305425" y="19716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964B"/>
            </a:solidFill>
            <a:prstDash val="solid"/>
            <a:tailEnd type="arrow" w="sm" len="sm"/>
          </a:ln>
        </p:spPr>
      </p:cxnSp>
      <p:cxnSp>
        <p:nvCxnSpPr>
          <p:cNvPr id="10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15300" y="19716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ABD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097B0-F9A5-4AA8-8753-8AD23B90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43200"/>
            <a:ext cx="2971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11430">
            <a:solidFill>
              <a:srgbClr val="123B5D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d62b5c6a24f2c">
            <a:extLst>
              <a:ext uri="{96DAC541-7B7A-43D3-8B79-37D633B846F1}">
                <asvg:svgBlip xmlns:asvg="http://schemas.microsoft.com/office/drawing/2016/SVG/main" r:embed="R4ff34861ff6f48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05475" y="2857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FB68E-F0E1-4251-9F72-3FB718A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79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SanitizedContext crosses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D7E42-AD40-4FD2-BF75-93AD352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2766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origin · task · safe elements · handles · redaction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AF1D6-464A-4A1D-A6DC-EA3B221A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76650"/>
            <a:ext cx="27813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1430">
            <a:solidFill>
              <a:srgbClr val="E8BA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6706D-0761-492E-8F99-50209CE3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8BC9A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9E76A-3CD0-44E1-8DCD-C6872205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23812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8BC9A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F75CFA-C796-4A63-8873-53D047D7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21907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8BC9A4"/>
            </a:solidFill>
            <a:prstDash val="solid"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b5df5cb6c463d">
            <a:extLst>
              <a:ext uri="{96DAC541-7B7A-43D3-8B79-37D633B846F1}">
                <asvg:svgBlip xmlns:asvg="http://schemas.microsoft.com/office/drawing/2016/SVG/main" r:embed="R05ebc6bd90304a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39225" y="38481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64922-C911-4689-B90C-66D9C0A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810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9A62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A6200"/>
                </a:solidFill>
                <a:latin typeface="Arial"/>
                <a:ea typeface="Arial"/>
                <a:cs typeface="Arial"/>
              </a:rPr>
              <a:t>5  LOCAL ACTION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0147F3-C45C-4B3D-B76C-491FC56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162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Ground target · enforce policy · request confirmation</a:t>
            </a:r>
          </a:p>
        </p:txBody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62dde7574ae9">
            <a:extLst>
              <a:ext uri="{96DAC541-7B7A-43D3-8B79-37D633B846F1}">
                <asvg:svgBlip xmlns:asvg="http://schemas.microsoft.com/office/drawing/2016/SVG/main" r:embed="R7a26aa215ad74f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00725" y="38481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EDACA-A1F1-4D47-AD72-A14C072E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10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6  EXECUTE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33BD29-918D-4B92-9DC7-6EAA57D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162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Interact with the browser locally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65a73ddb94df7">
            <a:extLst>
              <a:ext uri="{96DAC541-7B7A-43D3-8B79-37D633B846F1}">
                <asvg:svgBlip xmlns:asvg="http://schemas.microsoft.com/office/drawing/2016/SVG/main" r:embed="R0a259856125740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86100" y="38481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CB05DB-0577-437D-8248-C5CBE397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7  VERIFY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BAB0A6-BA55-48C2-8F00-1A4BF764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624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Fresh observation proves the page changed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eb7ba702a45ab">
            <a:extLst>
              <a:ext uri="{96DAC541-7B7A-43D3-8B79-37D633B846F1}">
                <asvg:svgBlip xmlns:asvg="http://schemas.microsoft.com/office/drawing/2016/SVG/main" r:embed="Rbf567ed97f0a43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" y="38481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15A32D-181A-406B-A928-85CB14CD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10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796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964B"/>
                </a:solidFill>
                <a:latin typeface="Arial"/>
                <a:ea typeface="Arial"/>
                <a:cs typeface="Arial"/>
              </a:rPr>
              <a:t>8  CONTINUE / STOP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171696-D66A-479F-B9DF-27FC343C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6242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0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safe step—or fail closed</a:t>
            </a:r>
          </a:p>
        </p:txBody>
      </p:sp>
      <p:cxnSp>
        <p:nvCxnSpPr>
          <p:cNvPr id="126" name=""/>
          <p:cNvCxnSpPr>
            <a:stCxn xmlns:a="http://schemas.openxmlformats.org/drawingml/2006/main" id="14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0267950" y="2638425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ABD"/>
            </a:solidFill>
            <a:prstDash val="solid"/>
            <a:tailEnd type="arrow" w="sm" len="sm"/>
          </a:ln>
        </p:spPr>
      </p:cxnSp>
      <p:cxnSp>
        <p:nvCxnSpPr>
          <p:cNvPr id="127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115300" y="41148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964B"/>
            </a:solidFill>
            <a:prstDash val="solid"/>
            <a:tailEnd type="arrow" w="sm" len="sm"/>
          </a:ln>
        </p:spPr>
      </p:cxnSp>
      <p:cxnSp>
        <p:nvCxnSpPr>
          <p:cNvPr id="128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5305425" y="41148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964B"/>
            </a:solidFill>
            <a:prstDash val="solid"/>
            <a:tailEnd type="arrow" w="sm" len="sm"/>
          </a:ln>
        </p:spPr>
      </p:cxnSp>
      <p:cxnSp>
        <p:nvCxnSpPr>
          <p:cNvPr id="129" name="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2590800" y="41148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964B"/>
            </a:solidFill>
            <a:prstDash val="solid"/>
            <a:tailEnd type="arrow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B6E066-928A-4191-9D2D-8DAEC44A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48225"/>
            <a:ext cx="91440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TECH STACK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034198-AFFB-411D-8C78-0ECAAEA6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029200"/>
            <a:ext cx="1144905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8D2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76dffc9b64ada">
            <a:extLst>
              <a:ext uri="{96DAC541-7B7A-43D3-8B79-37D633B846F1}">
                <asvg:svgBlip xmlns:asvg="http://schemas.microsoft.com/office/drawing/2016/SVG/main" r:embed="Rd36a00b6a43645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C9A188-068E-43A4-B4CB-669C83A9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Chrome + Firefox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5F13DA-A035-434F-81E8-298DE1F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Browser extension</a:t>
            </a:r>
          </a:p>
        </p:txBody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5b89743b64e81">
            <a:extLst>
              <a:ext uri="{96DAC541-7B7A-43D3-8B79-37D633B846F1}">
                <asvg:svgBlip xmlns:asvg="http://schemas.microsoft.com/office/drawing/2016/SVG/main" r:embed="Ra0736200eeb842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24075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C22A07-864B-450C-B6DA-149C9F10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WXT + TypeScript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B145A2-0901-4EF6-8170-2E936A04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UI &amp; content scripts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f9951000f4db1">
            <a:extLst>
              <a:ext uri="{96DAC541-7B7A-43D3-8B79-37D633B846F1}">
                <asvg:svgBlip xmlns:asvg="http://schemas.microsoft.com/office/drawing/2016/SVG/main" r:embed="Ra5140f79e9ac49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3800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1918DF-C8AA-4D91-9333-5B7BCC6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ONNX Runtime Web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4B85FB-8791-47D1-A0FC-0D426B1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 inference</a:t>
            </a:r>
          </a:p>
        </p:txBody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33381046b463a">
            <a:extLst>
              <a:ext uri="{96DAC541-7B7A-43D3-8B79-37D633B846F1}">
                <asvg:svgBlip xmlns:asvg="http://schemas.microsoft.com/office/drawing/2016/SVG/main" r:embed="R6b98477996a743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43525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EF4ED7-EBEA-43CF-8CD3-9F5F8AA7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YOLOX + PP-OCR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427CE2-D7E9-4A3F-B0BE-9B4CC9F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Vision &amp; OCR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c8cbb38c0471a">
            <a:extLst>
              <a:ext uri="{96DAC541-7B7A-43D3-8B79-37D633B846F1}">
                <asvg:svgBlip xmlns:asvg="http://schemas.microsoft.com/office/drawing/2016/SVG/main" r:embed="R1bf32936b56e4c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882879-981C-460E-9FAD-144ADD9F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Rampart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EC72FC-879A-4AA9-834A-32406291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Contextual PII</a:t>
            </a:r>
          </a:p>
        </p:txBody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34eeacab44e5">
            <a:extLst>
              <a:ext uri="{96DAC541-7B7A-43D3-8B79-37D633B846F1}">
                <asvg:svgBlip xmlns:asvg="http://schemas.microsoft.com/office/drawing/2016/SVG/main" r:embed="R23ad3b3a9e8545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62975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93A7F8-360D-4E09-B087-9B41D61F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107356-011A-4E7C-8376-8FFF0D3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Strict gateway API</a:t>
            </a:r>
          </a:p>
        </p:txBody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1c0874a5344dc">
            <a:extLst>
              <a:ext uri="{96DAC541-7B7A-43D3-8B79-37D633B846F1}">
                <asvg:svgBlip xmlns:asvg="http://schemas.microsoft.com/office/drawing/2016/SVG/main" r:embed="Rae49f76aeaa542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72700" y="524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7A26BF-44B7-45AB-B228-6180291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9112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Qwen3-VL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0D2BFB-3159-4625-AF2B-FEAAD41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19725"/>
            <a:ext cx="115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Open-weights planner</a:t>
            </a:r>
          </a:p>
        </p:txBody>
      </p:sp>
    </p:spTree>
    <p:extLst>
      <p:ext uri="{BB962C8B-B14F-4D97-AF65-F5344CB8AC3E}">
        <p14:creationId xmlns:p14="http://schemas.microsoft.com/office/powerpoint/2010/main" val="1987720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cc3e1831b4d68">
            <a:extLst>
              <a:ext uri="{96DAC541-7B7A-43D3-8B79-37D633B846F1}">
                <asvg:svgBlip xmlns:asvg="http://schemas.microsoft.com/office/drawing/2016/SVG/main" r:embed="R2252477d6da342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" y="133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EF9B1-0C70-44ED-906D-3DB7998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SHIELD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87e07d7314318"/>
          <a:stretch xmlns:a="http://schemas.openxmlformats.org/drawingml/2006/main"/>
        </p:blipFill>
        <p:spPr>
          <a:xfrm xmlns:a="http://schemas.openxmlformats.org/drawingml/2006/main">
            <a:off x="10049390" y="47625"/>
            <a:ext cx="178967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4C5BF-95A6-4E9D-8537-F212EA5F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rPr>
              <a:t>FEASIBILITY AND VIABILITY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675B1-85DF-48E9-96C4-6DDE65BB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solidFill>
              <a:srgbClr val="087A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CD0EC-7E37-4B6E-9FA7-C0D2B770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3817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@chr0m1um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D16C4-B77D-4CBA-B264-5CA1A7C3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3722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9E226-37B4-45A4-B2D9-6A46AFB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"/>
            <a:ext cx="99060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FEASIBILITY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22048-B547-4392-8A96-1C5C23D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5543550" cy="2447925"/>
          </a:xfrm>
          <a:prstGeom xmlns:a="http://schemas.openxmlformats.org/drawingml/2006/main" prst="roundRect">
            <a:avLst>
              <a:gd name="adj" fmla="val 544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9CC9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BCE79-8BD0-4200-B977-26FCF264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526732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Proven browser stack: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WXT, TypeScript and Manifest V3 produce loadable Chrome and Firefox builds.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 AI is practical: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Quantized ONNX models run through ONNX Runtime Web; visual work is targeted to visible regions.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Server is replaceable: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FastAPI speaks a strict schema and the planner uses an OpenAI-compatible endpoint for Qwen3-VL.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One-command operation: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START.sh launches the model, API and judge site; STATUS.sh and VERIFY.sh expose failures early.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Current proof: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Controlled privacy, action and fail-closed demos run end to end on the team laptop.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09D2F-B1C0-40DD-9E98-B863048D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62025"/>
            <a:ext cx="83820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VIABILITY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E777A-D92C-47CB-8111-0EDBBA8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52525"/>
            <a:ext cx="5543550" cy="2447925"/>
          </a:xfrm>
          <a:prstGeom xmlns:a="http://schemas.openxmlformats.org/drawingml/2006/main" prst="roundRect">
            <a:avLst>
              <a:gd name="adj" fmla="val 544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9FD3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BC574-5BA3-468E-B8EF-8A9E7383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04925"/>
            <a:ext cx="526732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Adoption path: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Ship as a browser privacy layer that sits between existing users and cloud agent planners.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Deployment model: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Free local extension + self-hosted/community server; managed enterprise policy and audit controls.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Cost control: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Small on-device models reduce server-side vision load; only sanitized structured context is transmitted.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Scalability: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Add domain adapters, policy packs and independently versioned models without changing the privacy contract.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20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Trust and retention: </a:t>
            </a:r>
            <a:r>
              <a:rPr sz="1208">
                <a:solidFill>
                  <a:srgbClr val="334155"/>
                </a:solidFill>
                <a:latin typeface="Arial"/>
                <a:ea typeface="Arial"/>
                <a:cs typeface="Arial"/>
              </a:rPr>
              <a:t>Visible redaction, confirmation gates and safe logs make delegated browser work understandable.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1A150-276B-4DF7-86F7-64865DDA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62375"/>
            <a:ext cx="152400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E4574F"/>
          </a:solidFill>
          <a:ln xmlns:a="http://schemas.openxmlformats.org/drawingml/2006/main" w="9525">
            <a:solidFill>
              <a:srgbClr val="E4574F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TECHNICAL CHALLENGES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88F3F-DD12-4184-98D0-F135B006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5543550" cy="1590675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1430">
            <a:solidFill>
              <a:srgbClr val="F2A7A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3D647-7A25-4918-AC9F-A8D8CFF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6225"/>
            <a:ext cx="52673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Dynamic pages / stale targets: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Re-observe after every action, bind actions to fingerprints and fail closed when state changes.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Cross-site variability: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Use semantic DOM + ARIA first, OCR as fallback, then add measured domain adapters.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Resource pressure: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Load models lazily, crop visual regions, quantize weights and keep a deterministic no-vision fallback.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F122E-F206-4541-B826-E7D9D68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180975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BUSINESS / USER CHALLENGES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D1FA1-1F51-4F3F-9387-8EAE04C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5543550" cy="1590675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1430">
            <a:solidFill>
              <a:srgbClr val="E8B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A79F2-0B25-46CA-8F3B-BE6CDD78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86225"/>
            <a:ext cx="52673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User confidence: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Show exactly what was redacted, what the server saw and why confirmation is requested.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False privacy claims: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Publish benchmark scope and caveats; never equate controlled recall with universal website coverage.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Maintenance: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Version models, schemas and policy packs separately; regression-test real controls before release.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AB708-9B7B-404B-BF1B-35632A7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34050"/>
            <a:ext cx="64770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B7D5E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 i="0">
                <a:solidFill>
                  <a:srgbClr val="123B5D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23B5D"/>
                </a:solidFill>
                <a:latin typeface="Arial Narrow"/>
                <a:ea typeface="Arial Narrow"/>
                <a:cs typeface="Arial Narrow"/>
              </a:rPr>
              <a:t>BUILD → MEASURE → DISCLOSE LIMITS → EXPAND COVERAGE</a:t>
            </a:r>
          </a:p>
        </p:txBody>
      </p:sp>
    </p:spTree>
    <p:extLst>
      <p:ext uri="{BB962C8B-B14F-4D97-AF65-F5344CB8AC3E}">
        <p14:creationId xmlns:p14="http://schemas.microsoft.com/office/powerpoint/2010/main" val="2037357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d6cc9fdce45f7">
            <a:extLst>
              <a:ext uri="{96DAC541-7B7A-43D3-8B79-37D633B846F1}">
                <asvg:svgBlip xmlns:asvg="http://schemas.microsoft.com/office/drawing/2016/SVG/main" r:embed="Rf95f106c2acc40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" y="133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71A21-AD85-4E35-8C64-D6A094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SHIELD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3fcf08058443b"/>
          <a:stretch xmlns:a="http://schemas.openxmlformats.org/drawingml/2006/main"/>
        </p:blipFill>
        <p:spPr>
          <a:xfrm xmlns:a="http://schemas.openxmlformats.org/drawingml/2006/main">
            <a:off x="10049390" y="47625"/>
            <a:ext cx="178967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C71E-E6D5-4B37-915E-802021BD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rPr>
              <a:t>IMPACTS &amp; BENEFITS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B1727-2806-4438-9FC3-461E01A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solidFill>
              <a:srgbClr val="087A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A9BAB-70F2-4085-AFBC-6A9D9EB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3817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@chr0m1um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35E01-3FF5-45C3-925B-8EFBCAC7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3722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2D540-C14E-40E0-8C75-90F997A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7000875" cy="1876425"/>
          </a:xfrm>
          <a:prstGeom xmlns:a="http://schemas.openxmlformats.org/drawingml/2006/main" prst="roundRect">
            <a:avLst>
              <a:gd name="adj" fmla="val 7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6D735-7B84-4B67-8C32-23EDF7F4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6734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3000"/>
              </a:lnSpc>
              <a:spcAft>
                <a:spcPts val="5"/>
              </a:spcAft>
              <a:buNone/>
              <a:defRPr sz="128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Privacy &amp; trust impact: </a:t>
            </a:r>
            <a:r>
              <a:rPr sz="1283">
                <a:solidFill>
                  <a:srgbClr val="334155"/>
                </a:solidFill>
                <a:latin typeface="Arial"/>
                <a:ea typeface="Arial"/>
                <a:cs typeface="Arial"/>
              </a:rPr>
              <a:t>Users can delegate browser work without sending their full screen, raw DOM or secret values to a planner.</a:t>
            </a:r>
          </a:p>
          <a:p xmlns:a="http://schemas.openxmlformats.org/drawingml/2006/main">
            <a:pPr marL="18" indent="-10" algn="l">
              <a:lnSpc>
                <a:spcPct val="103000"/>
              </a:lnSpc>
              <a:spcAft>
                <a:spcPts val="5"/>
              </a:spcAft>
              <a:buNone/>
              <a:defRPr sz="128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Security &amp; responsible automation: </a:t>
            </a:r>
            <a:r>
              <a:rPr sz="1283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 validation, confirmation and post-action verification constrain what server-generated commands can do.</a:t>
            </a:r>
          </a:p>
          <a:p xmlns:a="http://schemas.openxmlformats.org/drawingml/2006/main">
            <a:pPr marL="18" indent="-10" algn="l">
              <a:lnSpc>
                <a:spcPct val="103000"/>
              </a:lnSpc>
              <a:spcAft>
                <a:spcPts val="5"/>
              </a:spcAft>
              <a:buNone/>
              <a:defRPr sz="128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Adoption &amp; ecosystem impact: </a:t>
            </a:r>
            <a:r>
              <a:rPr sz="1283">
                <a:solidFill>
                  <a:srgbClr val="334155"/>
                </a:solidFill>
                <a:latin typeface="Arial"/>
                <a:ea typeface="Arial"/>
                <a:cs typeface="Arial"/>
              </a:rPr>
              <a:t>A reusable privacy boundary helps browsers, enterprises and public services adopt agentic assistance with visible safeguards.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D8D03-68F4-436C-9D40-D00A3E3E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52500"/>
            <a:ext cx="186690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MEASURED PROTOTYPE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81360-9D08-4F4C-88C1-F7AA2755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33475"/>
            <a:ext cx="42100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03B6E-0519-484D-A610-26F3341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25730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D5E4ED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E4ED"/>
                </a:solidFill>
                <a:latin typeface="Arial"/>
                <a:ea typeface="Arial"/>
                <a:cs typeface="Arial"/>
              </a:rPr>
              <a:t>Visual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3A2FC-196E-488E-B9BA-65C07C57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573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 i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FF3C"/>
                </a:solidFill>
                <a:latin typeface="Arial"/>
                <a:ea typeface="Arial"/>
                <a:cs typeface="Arial"/>
              </a:rPr>
              <a:t>167 / 167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A7A30-8CB4-4416-BD64-5D1EEEE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257300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60 controlled screens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39C44-45B6-425D-9DDC-C427E3F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5257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D5E4ED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E4ED"/>
                </a:solidFill>
                <a:latin typeface="Arial"/>
                <a:ea typeface="Arial"/>
                <a:cs typeface="Arial"/>
              </a:rPr>
              <a:t>PII precision /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A9FFE-4E63-4786-AEF9-0279FCD9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5257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 i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FF3C"/>
                </a:solidFill>
                <a:latin typeface="Arial"/>
                <a:ea typeface="Arial"/>
                <a:cs typeface="Arial"/>
              </a:rPr>
              <a:t>100% /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6F4C8-616F-4F81-88E8-1B2B3635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552575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295 synthetic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D85CC-AFE0-4B73-B363-44E1FBF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478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D5E4ED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E4ED"/>
                </a:solidFill>
                <a:latin typeface="Arial"/>
                <a:ea typeface="Arial"/>
                <a:cs typeface="Arial"/>
              </a:rPr>
              <a:t>Redaction precision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1C13B-F83C-4568-B0A6-01F37E0D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 i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FF3C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9E25B-0C04-4002-AC20-4A340DAE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847850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supplied-box masks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28E51-1C40-4BBF-BCB4-90CA78D0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431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D5E4ED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E4ED"/>
                </a:solidFill>
                <a:latin typeface="Arial"/>
                <a:ea typeface="Arial"/>
                <a:cs typeface="Arial"/>
              </a:rPr>
              <a:t>Client resource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69B0A-4990-4C97-9E62-E53C283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431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 i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FF3C"/>
                </a:solidFill>
                <a:latin typeface="Arial"/>
                <a:ea typeface="Arial"/>
                <a:cs typeface="Arial"/>
              </a:rPr>
              <a:t>99.6 MB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A9208-FE08-448A-98DA-BB92219B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143125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packaged Chrome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1F440-7725-486D-9F6C-64B09F25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3840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D5E4ED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E4ED"/>
                </a:solidFill>
                <a:latin typeface="Arial"/>
                <a:ea typeface="Arial"/>
                <a:cs typeface="Arial"/>
              </a:rPr>
              <a:t>End-to-end latency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BA09A-FF06-4D40-B502-CE55935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384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 i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FF3C"/>
                </a:solidFill>
                <a:latin typeface="Arial"/>
                <a:ea typeface="Arial"/>
                <a:cs typeface="Arial"/>
              </a:rPr>
              <a:t>3.67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A1202-96BA-443B-B0C5-0FBC02F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38400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median, 3 / 3 tasks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DAF19-B363-40B7-BC39-E12633F9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1135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HOW CONTEXTSHIELD WORKS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261D32-7534-4179-9C1A-295F312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766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2E9B2-2491-4BED-A4AD-A5144195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57575"/>
            <a:ext cx="3714750" cy="220027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9CC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1DBC2-7EEB-485B-823E-2FE72DD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00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45428-4A7D-4997-ADA3-3D0ABA3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48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64c99fe634f91">
            <a:extLst>
              <a:ext uri="{96DAC541-7B7A-43D3-8B79-37D633B846F1}">
                <asvg:svgBlip xmlns:asvg="http://schemas.microsoft.com/office/drawing/2016/SVG/main" r:embed="Ra59564d2da0140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71875" y="36099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83D0F-E8F6-4CA3-8CB7-AE14539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PRIVATE CONTEXT MODE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F13618-BA4E-4D9D-82FF-2385FA0A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3371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For: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Everyday pages containing identity, credentials or personal details.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Process: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Read locally → detect → redact → send safe structure.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Benefit: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planner receives useful context without raw identity.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4CAC5-5F91-43EE-BF1E-C10AF95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57575"/>
            <a:ext cx="3714750" cy="220027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9FD3B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60BF8-D1B5-4901-9C20-9914E80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0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9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55957-833E-47A0-BC8C-F7335DB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48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725405f664592">
            <a:extLst>
              <a:ext uri="{96DAC541-7B7A-43D3-8B79-37D633B846F1}">
                <asvg:svgBlip xmlns:asvg="http://schemas.microsoft.com/office/drawing/2016/SVG/main" r:embed="Rde5b112c5a6042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6099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B4AA2A-3F1C-439A-A6E1-555475ED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909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TASK-AWARE CONTEXT MODE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FBE6FC-2080-4232-B0C8-930C2E1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76700"/>
            <a:ext cx="3371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For: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Tasks where a private value is genuinely required to complete the workflow.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Process: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Bind a LOCAL_* handle → plan on the handle → resolve only at execution.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Benefit: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Balances privacy with task completion; server never sees the secret.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BF212A-EC4F-4719-82B7-1CA2EC5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57575"/>
            <a:ext cx="3714750" cy="220027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9CC9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642067-2429-4EDD-B221-F92884EC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00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7D3BC9-0CD7-4630-A81A-AB4B33B7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48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6d24b6224f69">
            <a:extLst>
              <a:ext uri="{96DAC541-7B7A-43D3-8B79-37D633B846F1}">
                <asvg:svgBlip xmlns:asvg="http://schemas.microsoft.com/office/drawing/2016/SVG/main" r:embed="Rbba755cac05a4e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87125" y="36099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E109C0-4695-4CCE-B0B2-A597EEC5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909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CONTROLLED EXECUTION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CFC4DC-6072-4E50-991A-4230D42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3371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For: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Navigation, forms and multi-step workflows proposed by a remote planner.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Process: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Typed action → local grounding → policy gate → verify or fail closed.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Benefit: 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Prevents stale, ambiguous or high-risk actions from silently executing.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20F2A6-BA7A-4D79-BB08-0558CA3C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91200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Evidence is controlled prototype proof—not a claim of universal website coverage.</a:t>
            </a:r>
          </a:p>
        </p:txBody>
      </p:sp>
    </p:spTree>
    <p:extLst>
      <p:ext uri="{BB962C8B-B14F-4D97-AF65-F5344CB8AC3E}">
        <p14:creationId xmlns:p14="http://schemas.microsoft.com/office/powerpoint/2010/main" val="1244449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e9ec6041f4268">
            <a:extLst>
              <a:ext uri="{96DAC541-7B7A-43D3-8B79-37D633B846F1}">
                <asvg:svgBlip xmlns:asvg="http://schemas.microsoft.com/office/drawing/2016/SVG/main" r:embed="Rff06cfbbb13a4c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" y="133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097D3-5CE0-44C2-8334-2A6C7F01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111827"/>
                </a:solidFill>
                <a:latin typeface="Arial Narrow"/>
                <a:ea typeface="Arial Narrow"/>
                <a:cs typeface="Arial Narrow"/>
              </a:rPr>
              <a:t>SHIELD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0f11cc5584075"/>
          <a:stretch xmlns:a="http://schemas.openxmlformats.org/drawingml/2006/main"/>
        </p:blipFill>
        <p:spPr>
          <a:xfrm xmlns:a="http://schemas.openxmlformats.org/drawingml/2006/main">
            <a:off x="10049390" y="47625"/>
            <a:ext cx="178967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0A30-CCE8-4175-A3A7-E0E1765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 i="0">
                <a:solidFill>
                  <a:srgbClr val="050505"/>
                </a:solidFill>
                <a:latin typeface="Arial Narrow"/>
                <a:ea typeface="Arial Narrow"/>
                <a:cs typeface="Arial Narrow"/>
              </a:rPr>
              <a:t>RESEARCH AND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5DAEC-E477-4201-B1A6-1EACA07A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BD"/>
          </a:solidFill>
          <a:ln xmlns:a="http://schemas.openxmlformats.org/drawingml/2006/main" w="0">
            <a:solidFill>
              <a:srgbClr val="087A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2D2CA-8BE0-45DC-AE49-0BE01987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3817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@chr0m1um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EE0A2-1ADC-4775-8967-474DBD82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3722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30836-50E1-4DD7-8CAA-AA4328C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42975"/>
            <a:ext cx="11468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A8CF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B7802-576E-4832-B10A-5896D7B7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57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FOUNDATIONAL REFERENCES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C910C-EF85-48B1-AF59-3DD0481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23975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2000"/>
              </a:lnSpc>
              <a:spcAft>
                <a:spcPts val="4"/>
              </a:spcAft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Browser inference: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3005b8c7c8124499"/>
              </a:rPr>
              <a:t>WebGPU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 ·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486321528d684a1d"/>
              </a:rPr>
              <a:t>ONNX Runtime Web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 ·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211293624caa47a2"/>
              </a:rPr>
              <a:t>Transformers.js</a:t>
            </a:r>
          </a:p>
          <a:p xmlns:a="http://schemas.openxmlformats.org/drawingml/2006/main">
            <a:pPr marL="18" indent="-10" algn="l">
              <a:lnSpc>
                <a:spcPct val="102000"/>
              </a:lnSpc>
              <a:spcAft>
                <a:spcPts val="4"/>
              </a:spcAft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 vision and privacy: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ebcb5462ebca435b"/>
              </a:rPr>
              <a:t>YOLOX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 ·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3a27b4267d6d44ba"/>
              </a:rPr>
              <a:t>PP-OCR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 ·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069b99bb83a94ffd"/>
              </a:rPr>
              <a:t>Rampart</a:t>
            </a:r>
          </a:p>
          <a:p xmlns:a="http://schemas.openxmlformats.org/drawingml/2006/main">
            <a:pPr marL="18" indent="-10" algn="l">
              <a:lnSpc>
                <a:spcPct val="102000"/>
              </a:lnSpc>
              <a:buNone/>
              <a:defRPr sz="114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Server reasoning: </a:t>
            </a:r>
            <a:r>
              <a:rPr sz="1148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18dfdc552ccd46c4"/>
              </a:rPr>
              <a:t>Qwen3-VL open-weights VLM</a:t>
            </a:r>
            <a:r>
              <a:rPr sz="1148">
                <a:solidFill>
                  <a:srgbClr val="334155"/>
                </a:solidFill>
                <a:latin typeface="Arial"/>
                <a:ea typeface="Arial"/>
                <a:cs typeface="Arial"/>
              </a:rPr>
              <a:t> behind a strict SanitizedContext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083B2-CB2A-48AB-A0BE-0F08D287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33650"/>
            <a:ext cx="150495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E4574F"/>
          </a:solidFill>
          <a:ln xmlns:a="http://schemas.openxmlformats.org/drawingml/2006/main" w="9525">
            <a:solidFill>
              <a:srgbClr val="E4574F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EXISTING AGENT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BA492-2277-4AFF-96B6-B2895655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14625"/>
            <a:ext cx="546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1430">
            <a:solidFill>
              <a:srgbClr val="F2A7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63F5-596A-44E8-9B51-1C2A0A1C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5191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Cloud-first perception: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Screenshots or raw DOM can leave the device before privacy classification.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Opaque data exposure: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Users cannot easily see which sensitive values were shared.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Planner-led execution: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A remote model may propose actions without a local policy and verification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558A6-C690-436E-8F3D-43067C30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952625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WHY CONTEXTSHIELD STANDS 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6FBD3-43F8-4807-95A0-CBA9A39A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58293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9FD3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CE0BE-3480-4199-8153-7C2283E8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55530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Minimum disclosure: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 models create a safe representation before the planner sees anything.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 secret handles: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LOCAL_* tokens let the plan refer to private data without revealing its value.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spcAft>
                <a:spcPts val="5"/>
              </a:spcAft>
              <a:buNone/>
              <a:defRPr sz="1163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Verifiable control loop: </a:t>
            </a:r>
            <a:r>
              <a:rPr sz="1163">
                <a:solidFill>
                  <a:srgbClr val="334155"/>
                </a:solidFill>
                <a:latin typeface="Arial"/>
                <a:ea typeface="Arial"/>
                <a:cs typeface="Arial"/>
              </a:rPr>
              <a:t>Every action is grounded, gated, executed and checked against a fresh page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48C3C-AA4F-4C37-A53A-05FCCC1E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05275"/>
            <a:ext cx="2190750" cy="2286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PROJECT RESOURCES — CLICK TO 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04064-23D1-4F87-A63B-D3F087E2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86250"/>
            <a:ext cx="114681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8BCFA-AEB2-406F-BEEA-75DDC299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1504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899b48721b904403"/>
              </a:rPr>
              <a:t>LIVE PROTOTYPE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30204-5B08-4FB7-B121-7212CF3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504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b09abfa56b83451a"/>
              </a:rPr>
              <a:t>SOURCE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17CAF-D2F4-4513-84B3-BD55E20A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1504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8f556653d705416f"/>
              </a:rPr>
              <a:t>SETUP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3E49A-DEA1-4898-B226-3F5F695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504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111827"/>
                </a:solidFill>
                <a:latin typeface="Arial"/>
                <a:ea typeface="Arial"/>
                <a:cs typeface="Arial"/>
                <a:hlinkClick xmlns:r="http://schemas.openxmlformats.org/officeDocument/2006/relationships" r:id="Rca423ea0dc9b4154"/>
              </a:rPr>
              <a:t>JUDGE RUNBOOK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A14ED-D4E2-4A86-AFC2-3FA7FCC3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504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4574F"/>
          </a:solidFill>
          <a:ln xmlns:a="http://schemas.openxmlformats.org/drawingml/2006/main" w="9525">
            <a:solidFill>
              <a:srgbClr val="E4574F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d9201a9b7a1d4010"/>
              </a:rPr>
              <a:t>BENCHMARK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60C9F-AF9F-4762-BE7C-6B0EEC8F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29146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d57d4761b4cbd"/>
          <a:srcRect xmlns:a="http://schemas.openxmlformats.org/drawingml/2006/main" l="0" t="21622" r="0" b="21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4575" y="4486275"/>
            <a:ext cx="2819400" cy="1000125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53B7B-E5D2-464D-9A12-2C69DCD7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0225"/>
            <a:ext cx="1885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0a8b79d47a02415d"/>
              </a:rPr>
              <a:t>JUDGE CONTROL ROOM  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8E218-240C-4870-9EDF-205F8C1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38650"/>
            <a:ext cx="29146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52d02ec444071"/>
          <a:srcRect xmlns:a="http://schemas.openxmlformats.org/drawingml/2006/main" l="0" t="21622" r="0" b="21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9725" y="4486275"/>
            <a:ext cx="2819400" cy="1000125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8C270-43DE-4224-9EFF-A0B1F759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10225"/>
            <a:ext cx="1885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7964B"/>
          </a:solidFill>
          <a:ln xmlns:a="http://schemas.openxmlformats.org/drawingml/2006/main" w="9525">
            <a:solidFill>
              <a:srgbClr val="17964B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10ef6df9308846f3"/>
              </a:rPr>
              <a:t>PRIVACY PROOF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167FD-6EF7-4C3D-8646-754369F8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9146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ad19423a247a8"/>
          <a:srcRect xmlns:a="http://schemas.openxmlformats.org/drawingml/2006/main" l="0" t="21622" r="0" b="21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4486275"/>
            <a:ext cx="2819400" cy="1000125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FA4D0B-E2DD-4D1E-8EBA-FAE2AC83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0225"/>
            <a:ext cx="1885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87ABD"/>
          </a:solidFill>
          <a:ln xmlns:a="http://schemas.openxmlformats.org/drawingml/2006/main" w="9525">
            <a:solidFill>
              <a:srgbClr val="087ABD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 u="none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e28e8b2771be4baa"/>
              </a:rPr>
              <a:t>END-TO-END TASK  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0DE746-979D-414F-9FAC-23E8C223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862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Public proofs: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C105C-430F-48D5-AA87-CA6CC041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5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38" b="1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1c84d70ab85f41b8"/>
              </a:rPr>
              <a:t>Selenium</a:t>
            </a:r>
            <a:r>
              <a:rPr sz="938">
                <a:solidFill>
                  <a:srgbClr val="334155"/>
                </a:solidFill>
                <a:latin typeface="Arial"/>
                <a:ea typeface="Arial"/>
                <a:cs typeface="Arial"/>
              </a:rPr>
              <a:t> · </a:t>
            </a:r>
            <a:r>
              <a:rPr sz="938" b="1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954393dc13c74d72"/>
              </a:rPr>
              <a:t>Checkboxes</a:t>
            </a:r>
            <a:r>
              <a:rPr sz="938">
                <a:solidFill>
                  <a:srgbClr val="334155"/>
                </a:solidFill>
                <a:latin typeface="Arial"/>
                <a:ea typeface="Arial"/>
                <a:cs typeface="Arial"/>
              </a:rPr>
              <a:t> · </a:t>
            </a:r>
            <a:r>
              <a:rPr sz="938" b="1" u="sng">
                <a:solidFill>
                  <a:srgbClr val="334155"/>
                </a:solidFill>
                <a:latin typeface="Arial"/>
                <a:ea typeface="Arial"/>
                <a:cs typeface="Arial"/>
                <a:hlinkClick xmlns:r="http://schemas.openxmlformats.org/officeDocument/2006/relationships" r:id="R84560218b65042e8"/>
              </a:rPr>
              <a:t>Dropdown</a:t>
            </a:r>
          </a:p>
        </p:txBody>
      </p:sp>
    </p:spTree>
    <p:extLst>
      <p:ext uri="{BB962C8B-B14F-4D97-AF65-F5344CB8AC3E}">
        <p14:creationId xmlns:p14="http://schemas.microsoft.com/office/powerpoint/2010/main" val="695254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2026-09-03T15:52:30.2900000Z</dcterms:created>
  <dcterms:modified xsi:type="dcterms:W3CDTF">2026-09-03T15:52:30.2900000Z</dcterms:modified>
</coreProperties>
</file>